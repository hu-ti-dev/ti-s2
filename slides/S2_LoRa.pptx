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75" r:id="rId3"/>
    <p:sldId id="276" r:id="rId4"/>
    <p:sldId id="267" r:id="rId5"/>
    <p:sldId id="277" r:id="rId6"/>
    <p:sldId id="278" r:id="rId7"/>
    <p:sldId id="282" r:id="rId8"/>
    <p:sldId id="283" r:id="rId9"/>
    <p:sldId id="302" r:id="rId1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58"/>
  </p:normalViewPr>
  <p:slideViewPr>
    <p:cSldViewPr snapToGrid="0">
      <p:cViewPr varScale="1">
        <p:scale>
          <a:sx n="120" d="100"/>
          <a:sy n="120" d="100"/>
        </p:scale>
        <p:origin x="8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A656B2-ED32-8044-9B2A-829653741135}" type="datetimeFigureOut">
              <a:rPr lang="nl-NL" smtClean="0"/>
              <a:t>18-03-2026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B76DE4-D675-834A-A8C5-F6A601043E90}" type="slidenum">
              <a:rPr lang="nl-NL" smtClean="0"/>
              <a:t>‹nr.›</a:t>
            </a:fld>
            <a:endParaRPr lang="nl-NL"/>
          </a:p>
        </p:txBody>
      </p:sp>
    </p:spTree>
    <p:extLst>
      <p:ext uri="{BB962C8B-B14F-4D97-AF65-F5344CB8AC3E}">
        <p14:creationId xmlns:p14="http://schemas.microsoft.com/office/powerpoint/2010/main" val="3340391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i="0" u="none" strike="noStrike" kern="1200" dirty="0">
                <a:solidFill>
                  <a:schemeClr val="tx1"/>
                </a:solidFill>
                <a:effectLst/>
                <a:latin typeface="+mn-lt"/>
                <a:ea typeface="+mn-ea"/>
                <a:cs typeface="+mn-cs"/>
              </a:rPr>
              <a:t>Weinig data, laag energieverbruik, groot bereik, geschikt voor sensoren en </a:t>
            </a:r>
            <a:r>
              <a:rPr lang="nl-NL" sz="1200" b="0" i="0" u="none" strike="noStrike" kern="1200" dirty="0" err="1">
                <a:solidFill>
                  <a:schemeClr val="tx1"/>
                </a:solidFill>
                <a:effectLst/>
                <a:latin typeface="+mn-lt"/>
                <a:ea typeface="+mn-ea"/>
                <a:cs typeface="+mn-cs"/>
              </a:rPr>
              <a:t>IoT</a:t>
            </a:r>
            <a:r>
              <a:rPr lang="nl-NL" sz="1200" b="0" i="0" u="none" strike="noStrike" kern="1200" dirty="0">
                <a:solidFill>
                  <a:schemeClr val="tx1"/>
                </a:solidFill>
                <a:effectLst/>
                <a:latin typeface="+mn-lt"/>
                <a:ea typeface="+mn-ea"/>
                <a:cs typeface="+mn-cs"/>
              </a:rPr>
              <a:t>-toepassingen zoals milieu-, landbouw- en gebouwmonitoring.</a:t>
            </a:r>
            <a:endParaRPr lang="nl-NL" dirty="0"/>
          </a:p>
        </p:txBody>
      </p:sp>
      <p:sp>
        <p:nvSpPr>
          <p:cNvPr id="4" name="Tijdelijke aanduiding voor dianummer 3"/>
          <p:cNvSpPr>
            <a:spLocks noGrp="1"/>
          </p:cNvSpPr>
          <p:nvPr>
            <p:ph type="sldNum" sz="quarter" idx="5"/>
          </p:nvPr>
        </p:nvSpPr>
        <p:spPr/>
        <p:txBody>
          <a:bodyPr/>
          <a:lstStyle/>
          <a:p>
            <a:fld id="{11B76DE4-D675-834A-A8C5-F6A601043E90}" type="slidenum">
              <a:rPr lang="nl-NL" smtClean="0"/>
              <a:t>4</a:t>
            </a:fld>
            <a:endParaRPr lang="nl-NL"/>
          </a:p>
        </p:txBody>
      </p:sp>
    </p:spTree>
    <p:extLst>
      <p:ext uri="{BB962C8B-B14F-4D97-AF65-F5344CB8AC3E}">
        <p14:creationId xmlns:p14="http://schemas.microsoft.com/office/powerpoint/2010/main" val="1390120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E3ED-C625-D485-B12A-4627693C89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493813A3-15E4-4A82-0C37-C78C974B19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47A6E590-4365-084E-8D86-237438F0C828}"/>
              </a:ext>
            </a:extLst>
          </p:cNvPr>
          <p:cNvSpPr>
            <a:spLocks noGrp="1"/>
          </p:cNvSpPr>
          <p:nvPr>
            <p:ph type="dt" sz="half" idx="10"/>
          </p:nvPr>
        </p:nvSpPr>
        <p:spPr/>
        <p:txBody>
          <a:bodyPr/>
          <a:lstStyle/>
          <a:p>
            <a:fld id="{3A7CBCB4-1EFE-4E3B-9C8A-BCC4F06648F3}" type="datetimeFigureOut">
              <a:rPr lang="en-NL" smtClean="0"/>
              <a:t>3/18/26</a:t>
            </a:fld>
            <a:endParaRPr lang="en-NL"/>
          </a:p>
        </p:txBody>
      </p:sp>
      <p:sp>
        <p:nvSpPr>
          <p:cNvPr id="5" name="Footer Placeholder 4">
            <a:extLst>
              <a:ext uri="{FF2B5EF4-FFF2-40B4-BE49-F238E27FC236}">
                <a16:creationId xmlns:a16="http://schemas.microsoft.com/office/drawing/2014/main" id="{52CEEB0B-35A5-1988-FE4A-A0DDB8F70D1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87DD50D-9B8A-2C13-F773-603CE7251461}"/>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690383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6F7C-FF25-D565-9C9E-71E7FFCE17C5}"/>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BE41D068-0531-E34C-38C3-83FAF0DA15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08655D2-4934-C937-BAAB-C507B90CFE2A}"/>
              </a:ext>
            </a:extLst>
          </p:cNvPr>
          <p:cNvSpPr>
            <a:spLocks noGrp="1"/>
          </p:cNvSpPr>
          <p:nvPr>
            <p:ph type="dt" sz="half" idx="10"/>
          </p:nvPr>
        </p:nvSpPr>
        <p:spPr/>
        <p:txBody>
          <a:bodyPr/>
          <a:lstStyle/>
          <a:p>
            <a:fld id="{3A7CBCB4-1EFE-4E3B-9C8A-BCC4F06648F3}" type="datetimeFigureOut">
              <a:rPr lang="en-NL" smtClean="0"/>
              <a:t>3/18/26</a:t>
            </a:fld>
            <a:endParaRPr lang="en-NL"/>
          </a:p>
        </p:txBody>
      </p:sp>
      <p:sp>
        <p:nvSpPr>
          <p:cNvPr id="5" name="Footer Placeholder 4">
            <a:extLst>
              <a:ext uri="{FF2B5EF4-FFF2-40B4-BE49-F238E27FC236}">
                <a16:creationId xmlns:a16="http://schemas.microsoft.com/office/drawing/2014/main" id="{52428325-A2C4-4220-01EB-BC3F1E7E069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31813D7-0838-4B74-3000-7D335E87AEB1}"/>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36853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E0702-102A-8C84-9AD5-3A72F1DDF1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DF76D655-302F-C236-C59A-709D593517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61EB2C-D550-E4F3-658E-5337580C4F97}"/>
              </a:ext>
            </a:extLst>
          </p:cNvPr>
          <p:cNvSpPr>
            <a:spLocks noGrp="1"/>
          </p:cNvSpPr>
          <p:nvPr>
            <p:ph type="dt" sz="half" idx="10"/>
          </p:nvPr>
        </p:nvSpPr>
        <p:spPr/>
        <p:txBody>
          <a:bodyPr/>
          <a:lstStyle/>
          <a:p>
            <a:fld id="{3A7CBCB4-1EFE-4E3B-9C8A-BCC4F06648F3}" type="datetimeFigureOut">
              <a:rPr lang="en-NL" smtClean="0"/>
              <a:t>3/18/26</a:t>
            </a:fld>
            <a:endParaRPr lang="en-NL"/>
          </a:p>
        </p:txBody>
      </p:sp>
      <p:sp>
        <p:nvSpPr>
          <p:cNvPr id="5" name="Footer Placeholder 4">
            <a:extLst>
              <a:ext uri="{FF2B5EF4-FFF2-40B4-BE49-F238E27FC236}">
                <a16:creationId xmlns:a16="http://schemas.microsoft.com/office/drawing/2014/main" id="{8C68534A-5961-C126-E417-E32FD9F59FD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8B5550C-E667-BD50-8810-F4FAF3573483}"/>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793876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7B925-681D-3003-D861-780F50E289B2}"/>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A044C58C-E09E-4A4A-101C-68C0FDCDEA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D8E2F83C-E752-5EA9-A489-7E22923587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2498F4C9-91AB-3447-5327-4A59F3AC494C}"/>
              </a:ext>
            </a:extLst>
          </p:cNvPr>
          <p:cNvSpPr>
            <a:spLocks noGrp="1"/>
          </p:cNvSpPr>
          <p:nvPr>
            <p:ph type="dt" sz="half" idx="10"/>
          </p:nvPr>
        </p:nvSpPr>
        <p:spPr/>
        <p:txBody>
          <a:bodyPr/>
          <a:lstStyle/>
          <a:p>
            <a:fld id="{3A7CBCB4-1EFE-4E3B-9C8A-BCC4F06648F3}" type="datetimeFigureOut">
              <a:rPr lang="en-NL" smtClean="0"/>
              <a:t>3/18/26</a:t>
            </a:fld>
            <a:endParaRPr lang="en-NL"/>
          </a:p>
        </p:txBody>
      </p:sp>
      <p:sp>
        <p:nvSpPr>
          <p:cNvPr id="6" name="Footer Placeholder 5">
            <a:extLst>
              <a:ext uri="{FF2B5EF4-FFF2-40B4-BE49-F238E27FC236}">
                <a16:creationId xmlns:a16="http://schemas.microsoft.com/office/drawing/2014/main" id="{21C51336-E949-27D1-45C9-22E0C4D7DB5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A613E751-F369-6119-5558-BD23C9E94457}"/>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376588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C6AA-E30B-6FE4-743C-C23ACD6D5B54}"/>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76029350-9138-8D3E-2399-3B022D47AF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DD5964-5452-1FF6-8DFF-F388B8AFBA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D6284646-B8ED-6B3F-FB14-419108A296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632628-4D42-6BE0-59BC-E7BD228EF9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F5E5A1A5-CFE0-868C-12AE-E3C8D4FFDF7A}"/>
              </a:ext>
            </a:extLst>
          </p:cNvPr>
          <p:cNvSpPr>
            <a:spLocks noGrp="1"/>
          </p:cNvSpPr>
          <p:nvPr>
            <p:ph type="dt" sz="half" idx="10"/>
          </p:nvPr>
        </p:nvSpPr>
        <p:spPr/>
        <p:txBody>
          <a:bodyPr/>
          <a:lstStyle/>
          <a:p>
            <a:fld id="{3A7CBCB4-1EFE-4E3B-9C8A-BCC4F06648F3}" type="datetimeFigureOut">
              <a:rPr lang="en-NL" smtClean="0"/>
              <a:t>3/18/26</a:t>
            </a:fld>
            <a:endParaRPr lang="en-NL"/>
          </a:p>
        </p:txBody>
      </p:sp>
      <p:sp>
        <p:nvSpPr>
          <p:cNvPr id="8" name="Footer Placeholder 7">
            <a:extLst>
              <a:ext uri="{FF2B5EF4-FFF2-40B4-BE49-F238E27FC236}">
                <a16:creationId xmlns:a16="http://schemas.microsoft.com/office/drawing/2014/main" id="{071C27F8-D91C-8DE8-B40E-49B4901BFF86}"/>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5AD76DA8-CF6D-9503-8DE4-DE01B8FF7CD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1648695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DDF92-A536-4349-5088-087E39B5E162}"/>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E030E612-A177-8943-0797-D054F20A1857}"/>
              </a:ext>
            </a:extLst>
          </p:cNvPr>
          <p:cNvSpPr>
            <a:spLocks noGrp="1"/>
          </p:cNvSpPr>
          <p:nvPr>
            <p:ph type="dt" sz="half" idx="10"/>
          </p:nvPr>
        </p:nvSpPr>
        <p:spPr/>
        <p:txBody>
          <a:bodyPr/>
          <a:lstStyle/>
          <a:p>
            <a:fld id="{3A7CBCB4-1EFE-4E3B-9C8A-BCC4F06648F3}" type="datetimeFigureOut">
              <a:rPr lang="en-NL" smtClean="0"/>
              <a:t>3/18/26</a:t>
            </a:fld>
            <a:endParaRPr lang="en-NL"/>
          </a:p>
        </p:txBody>
      </p:sp>
      <p:sp>
        <p:nvSpPr>
          <p:cNvPr id="4" name="Footer Placeholder 3">
            <a:extLst>
              <a:ext uri="{FF2B5EF4-FFF2-40B4-BE49-F238E27FC236}">
                <a16:creationId xmlns:a16="http://schemas.microsoft.com/office/drawing/2014/main" id="{7E209C7C-4005-FD5F-933B-6EED46D51E41}"/>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B5DA187B-35A9-37EB-677C-6080EC2256EF}"/>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4065925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D918E3-B18C-8BF7-DCF5-AF18B2B229D7}"/>
              </a:ext>
            </a:extLst>
          </p:cNvPr>
          <p:cNvSpPr>
            <a:spLocks noGrp="1"/>
          </p:cNvSpPr>
          <p:nvPr>
            <p:ph type="dt" sz="half" idx="10"/>
          </p:nvPr>
        </p:nvSpPr>
        <p:spPr/>
        <p:txBody>
          <a:bodyPr/>
          <a:lstStyle/>
          <a:p>
            <a:fld id="{3A7CBCB4-1EFE-4E3B-9C8A-BCC4F06648F3}" type="datetimeFigureOut">
              <a:rPr lang="en-NL" smtClean="0"/>
              <a:t>3/18/26</a:t>
            </a:fld>
            <a:endParaRPr lang="en-NL"/>
          </a:p>
        </p:txBody>
      </p:sp>
      <p:sp>
        <p:nvSpPr>
          <p:cNvPr id="3" name="Footer Placeholder 2">
            <a:extLst>
              <a:ext uri="{FF2B5EF4-FFF2-40B4-BE49-F238E27FC236}">
                <a16:creationId xmlns:a16="http://schemas.microsoft.com/office/drawing/2014/main" id="{49C36FD0-7198-7E13-7D43-A75865FC0511}"/>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61048651-87A7-399D-AE83-B296B3F0A3B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3102596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4BAD-0D16-257B-C318-6127B1262D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B919A3EE-69E9-1AA0-4BE0-B8DB1BDAAD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0B879FBA-CB35-8331-4179-26E6124963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55B652-6D8C-2693-5D51-1D994026BE8E}"/>
              </a:ext>
            </a:extLst>
          </p:cNvPr>
          <p:cNvSpPr>
            <a:spLocks noGrp="1"/>
          </p:cNvSpPr>
          <p:nvPr>
            <p:ph type="dt" sz="half" idx="10"/>
          </p:nvPr>
        </p:nvSpPr>
        <p:spPr/>
        <p:txBody>
          <a:bodyPr/>
          <a:lstStyle/>
          <a:p>
            <a:fld id="{3A7CBCB4-1EFE-4E3B-9C8A-BCC4F06648F3}" type="datetimeFigureOut">
              <a:rPr lang="en-NL" smtClean="0"/>
              <a:t>3/18/26</a:t>
            </a:fld>
            <a:endParaRPr lang="en-NL"/>
          </a:p>
        </p:txBody>
      </p:sp>
      <p:sp>
        <p:nvSpPr>
          <p:cNvPr id="6" name="Footer Placeholder 5">
            <a:extLst>
              <a:ext uri="{FF2B5EF4-FFF2-40B4-BE49-F238E27FC236}">
                <a16:creationId xmlns:a16="http://schemas.microsoft.com/office/drawing/2014/main" id="{1B0E7C48-8518-3489-E429-71C86730DBC3}"/>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5BA01891-7825-107C-26CF-6AE95EC7EC5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2181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453B2-43BF-E87F-E6C7-CC3C3C08C6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1B749BFD-D4F9-30A0-57A5-8F4501A249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2063AD1C-06E0-5910-D0D6-A250C32754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1ED23-4DF4-B4D3-8BE8-8134798F1A6F}"/>
              </a:ext>
            </a:extLst>
          </p:cNvPr>
          <p:cNvSpPr>
            <a:spLocks noGrp="1"/>
          </p:cNvSpPr>
          <p:nvPr>
            <p:ph type="dt" sz="half" idx="10"/>
          </p:nvPr>
        </p:nvSpPr>
        <p:spPr/>
        <p:txBody>
          <a:bodyPr/>
          <a:lstStyle/>
          <a:p>
            <a:fld id="{3A7CBCB4-1EFE-4E3B-9C8A-BCC4F06648F3}" type="datetimeFigureOut">
              <a:rPr lang="en-NL" smtClean="0"/>
              <a:t>3/18/26</a:t>
            </a:fld>
            <a:endParaRPr lang="en-NL"/>
          </a:p>
        </p:txBody>
      </p:sp>
      <p:sp>
        <p:nvSpPr>
          <p:cNvPr id="6" name="Footer Placeholder 5">
            <a:extLst>
              <a:ext uri="{FF2B5EF4-FFF2-40B4-BE49-F238E27FC236}">
                <a16:creationId xmlns:a16="http://schemas.microsoft.com/office/drawing/2014/main" id="{FC2BE3F4-E9D9-572F-4E12-8A9B60C4D8BE}"/>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E25B0C7-99F5-A05C-57DC-C3252AE892A8}"/>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59097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0D1A-88F0-F42E-F7EF-0F52C366833A}"/>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8F13A364-EC46-8102-8276-E565CC1F8D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A2B9DEE-F57A-F098-D1DF-84036CFEF4A4}"/>
              </a:ext>
            </a:extLst>
          </p:cNvPr>
          <p:cNvSpPr>
            <a:spLocks noGrp="1"/>
          </p:cNvSpPr>
          <p:nvPr>
            <p:ph type="dt" sz="half" idx="10"/>
          </p:nvPr>
        </p:nvSpPr>
        <p:spPr/>
        <p:txBody>
          <a:bodyPr/>
          <a:lstStyle/>
          <a:p>
            <a:fld id="{3A7CBCB4-1EFE-4E3B-9C8A-BCC4F06648F3}" type="datetimeFigureOut">
              <a:rPr lang="en-NL" smtClean="0"/>
              <a:t>3/18/26</a:t>
            </a:fld>
            <a:endParaRPr lang="en-NL"/>
          </a:p>
        </p:txBody>
      </p:sp>
      <p:sp>
        <p:nvSpPr>
          <p:cNvPr id="5" name="Footer Placeholder 4">
            <a:extLst>
              <a:ext uri="{FF2B5EF4-FFF2-40B4-BE49-F238E27FC236}">
                <a16:creationId xmlns:a16="http://schemas.microsoft.com/office/drawing/2014/main" id="{0B3B0157-26F8-2329-17B6-5AC3C5C4A30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74E13EF-FE0B-5417-875C-AB7DC777FEAD}"/>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1110640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6C9933-15A1-3AA5-291A-DB28446138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2F5B1711-F16A-3EC8-A11F-6BC4D3FAD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00FAD66-6A57-4C3F-2E66-BA393876838C}"/>
              </a:ext>
            </a:extLst>
          </p:cNvPr>
          <p:cNvSpPr>
            <a:spLocks noGrp="1"/>
          </p:cNvSpPr>
          <p:nvPr>
            <p:ph type="dt" sz="half" idx="10"/>
          </p:nvPr>
        </p:nvSpPr>
        <p:spPr/>
        <p:txBody>
          <a:bodyPr/>
          <a:lstStyle/>
          <a:p>
            <a:fld id="{3A7CBCB4-1EFE-4E3B-9C8A-BCC4F06648F3}" type="datetimeFigureOut">
              <a:rPr lang="en-NL" smtClean="0"/>
              <a:t>3/18/26</a:t>
            </a:fld>
            <a:endParaRPr lang="en-NL"/>
          </a:p>
        </p:txBody>
      </p:sp>
      <p:sp>
        <p:nvSpPr>
          <p:cNvPr id="5" name="Footer Placeholder 4">
            <a:extLst>
              <a:ext uri="{FF2B5EF4-FFF2-40B4-BE49-F238E27FC236}">
                <a16:creationId xmlns:a16="http://schemas.microsoft.com/office/drawing/2014/main" id="{6DB48BDB-FD44-CECE-749B-27D75C34095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3CAAFD5-EF11-A27E-75E3-FEA4EA05D2DB}"/>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50786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9C3377-B71D-78CE-558E-D0DABD0EE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54635D7D-5602-B85D-E8A0-134A1070F2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1C6CB69-D146-73A4-EAFA-EA9EF2D68B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7CBCB4-1EFE-4E3B-9C8A-BCC4F06648F3}" type="datetimeFigureOut">
              <a:rPr lang="en-NL" smtClean="0"/>
              <a:t>3/18/26</a:t>
            </a:fld>
            <a:endParaRPr lang="en-NL"/>
          </a:p>
        </p:txBody>
      </p:sp>
      <p:sp>
        <p:nvSpPr>
          <p:cNvPr id="5" name="Footer Placeholder 4">
            <a:extLst>
              <a:ext uri="{FF2B5EF4-FFF2-40B4-BE49-F238E27FC236}">
                <a16:creationId xmlns:a16="http://schemas.microsoft.com/office/drawing/2014/main" id="{7E7AAAE3-7AA3-10C7-1B3B-5C558D00D0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9F09C6D9-8205-4BC5-6C03-C283B1E989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6345A7-8EB6-4FDF-A52B-7AB511DDD562}" type="slidenum">
              <a:rPr lang="en-NL" smtClean="0"/>
              <a:t>‹nr.›</a:t>
            </a:fld>
            <a:endParaRPr lang="en-NL"/>
          </a:p>
        </p:txBody>
      </p:sp>
    </p:spTree>
    <p:extLst>
      <p:ext uri="{BB962C8B-B14F-4D97-AF65-F5344CB8AC3E}">
        <p14:creationId xmlns:p14="http://schemas.microsoft.com/office/powerpoint/2010/main" val="4044365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appcodelabs.com/using-a-software-defined-radio-to-debug-lora-communication-problem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actility.com/lorawan-architecture-network-server/"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eu1.cloud.thethings.network/console"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F8705-CC52-EDA9-8709-8CEDE5E45DEF}"/>
              </a:ext>
            </a:extLst>
          </p:cNvPr>
          <p:cNvSpPr>
            <a:spLocks noGrp="1"/>
          </p:cNvSpPr>
          <p:nvPr>
            <p:ph type="ctrTitle"/>
          </p:nvPr>
        </p:nvSpPr>
        <p:spPr/>
        <p:txBody>
          <a:bodyPr>
            <a:normAutofit/>
          </a:bodyPr>
          <a:lstStyle/>
          <a:p>
            <a:pPr algn="l"/>
            <a:r>
              <a:rPr lang="en-US" dirty="0"/>
              <a:t>	</a:t>
            </a:r>
            <a:endParaRPr lang="en-NL" dirty="0"/>
          </a:p>
        </p:txBody>
      </p:sp>
      <p:sp>
        <p:nvSpPr>
          <p:cNvPr id="3" name="Subtitle 2">
            <a:extLst>
              <a:ext uri="{FF2B5EF4-FFF2-40B4-BE49-F238E27FC236}">
                <a16:creationId xmlns:a16="http://schemas.microsoft.com/office/drawing/2014/main" id="{4C725AE0-B86C-082B-7562-44B709DAB14C}"/>
              </a:ext>
            </a:extLst>
          </p:cNvPr>
          <p:cNvSpPr>
            <a:spLocks noGrp="1"/>
          </p:cNvSpPr>
          <p:nvPr>
            <p:ph type="subTitle" idx="1"/>
          </p:nvPr>
        </p:nvSpPr>
        <p:spPr/>
        <p:txBody>
          <a:bodyPr/>
          <a:lstStyle/>
          <a:p>
            <a:r>
              <a:rPr lang="en-US" dirty="0"/>
              <a:t>TI-S2 2526</a:t>
            </a:r>
            <a:endParaRPr lang="en-NL" dirty="0"/>
          </a:p>
        </p:txBody>
      </p:sp>
      <p:pic>
        <p:nvPicPr>
          <p:cNvPr id="7" name="Afbeelding 6">
            <a:extLst>
              <a:ext uri="{FF2B5EF4-FFF2-40B4-BE49-F238E27FC236}">
                <a16:creationId xmlns:a16="http://schemas.microsoft.com/office/drawing/2014/main" id="{AC3DE426-7ED8-0F89-0C66-FC07F0CB2EDA}"/>
              </a:ext>
            </a:extLst>
          </p:cNvPr>
          <p:cNvPicPr>
            <a:picLocks noChangeAspect="1"/>
          </p:cNvPicPr>
          <p:nvPr/>
        </p:nvPicPr>
        <p:blipFill>
          <a:blip r:embed="rId2"/>
          <a:stretch>
            <a:fillRect/>
          </a:stretch>
        </p:blipFill>
        <p:spPr>
          <a:xfrm>
            <a:off x="1706880" y="620649"/>
            <a:ext cx="4608576" cy="2889314"/>
          </a:xfrm>
          <a:prstGeom prst="rect">
            <a:avLst/>
          </a:prstGeom>
        </p:spPr>
      </p:pic>
      <p:sp>
        <p:nvSpPr>
          <p:cNvPr id="8" name="Tekstvak 7">
            <a:extLst>
              <a:ext uri="{FF2B5EF4-FFF2-40B4-BE49-F238E27FC236}">
                <a16:creationId xmlns:a16="http://schemas.microsoft.com/office/drawing/2014/main" id="{C256EEBC-F59C-86D3-70E7-E172A72E8AED}"/>
              </a:ext>
            </a:extLst>
          </p:cNvPr>
          <p:cNvSpPr txBox="1"/>
          <p:nvPr/>
        </p:nvSpPr>
        <p:spPr>
          <a:xfrm>
            <a:off x="2250525" y="3140631"/>
            <a:ext cx="3521285" cy="369332"/>
          </a:xfrm>
          <a:prstGeom prst="rect">
            <a:avLst/>
          </a:prstGeom>
          <a:noFill/>
        </p:spPr>
        <p:txBody>
          <a:bodyPr wrap="none" rtlCol="0">
            <a:spAutoFit/>
          </a:bodyPr>
          <a:lstStyle/>
          <a:p>
            <a:r>
              <a:rPr lang="nl-NL" dirty="0" err="1"/>
              <a:t>LoRa</a:t>
            </a:r>
            <a:r>
              <a:rPr lang="nl-NL" dirty="0"/>
              <a:t> logo: Source: </a:t>
            </a:r>
            <a:r>
              <a:rPr lang="nl-NL" dirty="0" err="1"/>
              <a:t>Semtech</a:t>
            </a:r>
            <a:r>
              <a:rPr lang="nl-NL" dirty="0"/>
              <a:t> 2017</a:t>
            </a:r>
          </a:p>
        </p:txBody>
      </p:sp>
    </p:spTree>
    <p:extLst>
      <p:ext uri="{BB962C8B-B14F-4D97-AF65-F5344CB8AC3E}">
        <p14:creationId xmlns:p14="http://schemas.microsoft.com/office/powerpoint/2010/main" val="2735233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8215A-7FB0-4EFA-3DE6-B0F79D1D4735}"/>
              </a:ext>
            </a:extLst>
          </p:cNvPr>
          <p:cNvSpPr>
            <a:spLocks noGrp="1"/>
          </p:cNvSpPr>
          <p:nvPr>
            <p:ph type="title"/>
          </p:nvPr>
        </p:nvSpPr>
        <p:spPr/>
        <p:txBody>
          <a:bodyPr/>
          <a:lstStyle/>
          <a:p>
            <a:r>
              <a:rPr lang="en-US" dirty="0"/>
              <a:t>Disclaimer</a:t>
            </a:r>
            <a:endParaRPr lang="en-NL" dirty="0"/>
          </a:p>
        </p:txBody>
      </p:sp>
      <p:sp>
        <p:nvSpPr>
          <p:cNvPr id="3" name="Text Placeholder 2">
            <a:extLst>
              <a:ext uri="{FF2B5EF4-FFF2-40B4-BE49-F238E27FC236}">
                <a16:creationId xmlns:a16="http://schemas.microsoft.com/office/drawing/2014/main" id="{9BF1A795-79BF-60CD-2CA2-A13398C39E05}"/>
              </a:ext>
            </a:extLst>
          </p:cNvPr>
          <p:cNvSpPr>
            <a:spLocks noGrp="1"/>
          </p:cNvSpPr>
          <p:nvPr>
            <p:ph type="body" idx="1"/>
          </p:nvPr>
        </p:nvSpPr>
        <p:spPr/>
        <p:txBody>
          <a:bodyPr/>
          <a:lstStyle/>
          <a:p>
            <a:r>
              <a:rPr lang="en-US" dirty="0"/>
              <a:t>Alle code in </a:t>
            </a:r>
            <a:r>
              <a:rPr lang="en-US" dirty="0" err="1"/>
              <a:t>deze</a:t>
            </a:r>
            <a:r>
              <a:rPr lang="en-US" dirty="0"/>
              <a:t> slides is wat we ‘slideware’ </a:t>
            </a:r>
            <a:r>
              <a:rPr lang="en-US" dirty="0" err="1"/>
              <a:t>noemen</a:t>
            </a:r>
            <a:r>
              <a:rPr lang="en-US" dirty="0"/>
              <a:t> – </a:t>
            </a:r>
            <a:r>
              <a:rPr lang="en-US" dirty="0" err="1"/>
              <a:t>handig</a:t>
            </a:r>
            <a:r>
              <a:rPr lang="en-US" dirty="0"/>
              <a:t> om </a:t>
            </a:r>
            <a:r>
              <a:rPr lang="en-US" dirty="0" err="1"/>
              <a:t>concepten</a:t>
            </a:r>
            <a:r>
              <a:rPr lang="en-US" dirty="0"/>
              <a:t> </a:t>
            </a:r>
            <a:r>
              <a:rPr lang="en-US" dirty="0" err="1"/>
              <a:t>uit</a:t>
            </a:r>
            <a:r>
              <a:rPr lang="en-US" dirty="0"/>
              <a:t> </a:t>
            </a:r>
            <a:r>
              <a:rPr lang="en-US" dirty="0" err="1"/>
              <a:t>te</a:t>
            </a:r>
            <a:r>
              <a:rPr lang="en-US" dirty="0"/>
              <a:t> </a:t>
            </a:r>
            <a:r>
              <a:rPr lang="en-US" dirty="0" err="1"/>
              <a:t>leggen</a:t>
            </a:r>
            <a:r>
              <a:rPr lang="en-US" dirty="0"/>
              <a:t>, maar </a:t>
            </a:r>
            <a:r>
              <a:rPr lang="en-US" dirty="0" err="1"/>
              <a:t>niet</a:t>
            </a:r>
            <a:r>
              <a:rPr lang="en-US" dirty="0"/>
              <a:t> </a:t>
            </a:r>
            <a:r>
              <a:rPr lang="en-US" dirty="0" err="1"/>
              <a:t>altijd</a:t>
            </a:r>
            <a:r>
              <a:rPr lang="en-US" dirty="0"/>
              <a:t> </a:t>
            </a:r>
            <a:r>
              <a:rPr lang="en-US" dirty="0" err="1"/>
              <a:t>praktisch</a:t>
            </a:r>
            <a:r>
              <a:rPr lang="en-US" dirty="0"/>
              <a:t> in het </a:t>
            </a:r>
            <a:r>
              <a:rPr lang="en-US" dirty="0" err="1"/>
              <a:t>echte</a:t>
            </a:r>
            <a:r>
              <a:rPr lang="en-US" dirty="0"/>
              <a:t> </a:t>
            </a:r>
            <a:r>
              <a:rPr lang="en-US" dirty="0" err="1"/>
              <a:t>leven</a:t>
            </a:r>
            <a:r>
              <a:rPr lang="en-US" dirty="0"/>
              <a:t>. Op GitHub </a:t>
            </a:r>
            <a:r>
              <a:rPr lang="en-US" dirty="0" err="1"/>
              <a:t>vinden</a:t>
            </a:r>
            <a:r>
              <a:rPr lang="en-US" dirty="0"/>
              <a:t> </a:t>
            </a:r>
            <a:r>
              <a:rPr lang="en-US" dirty="0" err="1"/>
              <a:t>jullie</a:t>
            </a:r>
            <a:r>
              <a:rPr lang="en-US" dirty="0"/>
              <a:t> </a:t>
            </a:r>
            <a:r>
              <a:rPr lang="en-US" dirty="0" err="1"/>
              <a:t>relevantere</a:t>
            </a:r>
            <a:r>
              <a:rPr lang="en-US" dirty="0"/>
              <a:t> code </a:t>
            </a:r>
            <a:r>
              <a:rPr lang="en-US" dirty="0" err="1"/>
              <a:t>voorbeelden</a:t>
            </a:r>
            <a:r>
              <a:rPr lang="en-US" dirty="0"/>
              <a:t>, maar die </a:t>
            </a:r>
            <a:r>
              <a:rPr lang="en-US" dirty="0" err="1"/>
              <a:t>passen</a:t>
            </a:r>
            <a:r>
              <a:rPr lang="en-US" dirty="0"/>
              <a:t> (</a:t>
            </a:r>
            <a:r>
              <a:rPr lang="en-US" dirty="0" err="1"/>
              <a:t>vaak</a:t>
            </a:r>
            <a:r>
              <a:rPr lang="en-US" dirty="0"/>
              <a:t>) </a:t>
            </a:r>
            <a:r>
              <a:rPr lang="en-US" dirty="0" err="1"/>
              <a:t>niet</a:t>
            </a:r>
            <a:r>
              <a:rPr lang="en-US" dirty="0"/>
              <a:t> op slides.</a:t>
            </a:r>
            <a:endParaRPr lang="en-NL" dirty="0"/>
          </a:p>
        </p:txBody>
      </p:sp>
    </p:spTree>
    <p:extLst>
      <p:ext uri="{BB962C8B-B14F-4D97-AF65-F5344CB8AC3E}">
        <p14:creationId xmlns:p14="http://schemas.microsoft.com/office/powerpoint/2010/main" val="331473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F2E6-0DFE-CECE-1DE5-ADD5A832C2D7}"/>
              </a:ext>
            </a:extLst>
          </p:cNvPr>
          <p:cNvSpPr>
            <a:spLocks noGrp="1"/>
          </p:cNvSpPr>
          <p:nvPr>
            <p:ph type="title"/>
          </p:nvPr>
        </p:nvSpPr>
        <p:spPr/>
        <p:txBody>
          <a:bodyPr/>
          <a:lstStyle/>
          <a:p>
            <a:r>
              <a:rPr lang="en-US" dirty="0"/>
              <a:t>Planning</a:t>
            </a:r>
            <a:endParaRPr lang="en-NL" dirty="0"/>
          </a:p>
        </p:txBody>
      </p:sp>
      <p:sp>
        <p:nvSpPr>
          <p:cNvPr id="3" name="Content Placeholder 2">
            <a:extLst>
              <a:ext uri="{FF2B5EF4-FFF2-40B4-BE49-F238E27FC236}">
                <a16:creationId xmlns:a16="http://schemas.microsoft.com/office/drawing/2014/main" id="{98693B14-E801-8B4A-6E20-50F836DB6207}"/>
              </a:ext>
            </a:extLst>
          </p:cNvPr>
          <p:cNvSpPr>
            <a:spLocks noGrp="1"/>
          </p:cNvSpPr>
          <p:nvPr>
            <p:ph idx="1"/>
          </p:nvPr>
        </p:nvSpPr>
        <p:spPr/>
        <p:txBody>
          <a:bodyPr/>
          <a:lstStyle/>
          <a:p>
            <a:r>
              <a:rPr lang="en-US" dirty="0"/>
              <a:t>Korte </a:t>
            </a:r>
            <a:r>
              <a:rPr lang="en-US" dirty="0" err="1"/>
              <a:t>toelichting</a:t>
            </a:r>
            <a:r>
              <a:rPr lang="en-US" dirty="0"/>
              <a:t> over LoRa </a:t>
            </a:r>
            <a:r>
              <a:rPr lang="en-US" dirty="0" err="1"/>
              <a:t>en</a:t>
            </a:r>
            <a:r>
              <a:rPr lang="en-US" dirty="0"/>
              <a:t> </a:t>
            </a:r>
            <a:r>
              <a:rPr lang="en-US" dirty="0" err="1"/>
              <a:t>LoRaWAN</a:t>
            </a:r>
            <a:endParaRPr lang="en-US" dirty="0"/>
          </a:p>
          <a:p>
            <a:r>
              <a:rPr lang="en-US" dirty="0"/>
              <a:t>Aan de slag!</a:t>
            </a:r>
          </a:p>
          <a:p>
            <a:endParaRPr lang="en-US" dirty="0"/>
          </a:p>
        </p:txBody>
      </p:sp>
    </p:spTree>
    <p:extLst>
      <p:ext uri="{BB962C8B-B14F-4D97-AF65-F5344CB8AC3E}">
        <p14:creationId xmlns:p14="http://schemas.microsoft.com/office/powerpoint/2010/main" val="3464623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35AC6-37D7-F6F1-0BB7-5738EC11461F}"/>
              </a:ext>
            </a:extLst>
          </p:cNvPr>
          <p:cNvSpPr>
            <a:spLocks noGrp="1"/>
          </p:cNvSpPr>
          <p:nvPr>
            <p:ph type="title"/>
          </p:nvPr>
        </p:nvSpPr>
        <p:spPr/>
        <p:txBody>
          <a:bodyPr/>
          <a:lstStyle/>
          <a:p>
            <a:r>
              <a:rPr lang="nl-NL" dirty="0" err="1"/>
              <a:t>LoRa</a:t>
            </a:r>
            <a:r>
              <a:rPr lang="nl-NL" dirty="0"/>
              <a:t> en </a:t>
            </a:r>
            <a:r>
              <a:rPr lang="nl-NL" dirty="0" err="1"/>
              <a:t>LoRaWAN</a:t>
            </a:r>
            <a:r>
              <a:rPr lang="nl-NL" dirty="0"/>
              <a:t>?</a:t>
            </a:r>
            <a:endParaRPr lang="en-NL" dirty="0"/>
          </a:p>
        </p:txBody>
      </p:sp>
      <p:sp>
        <p:nvSpPr>
          <p:cNvPr id="3" name="Content Placeholder 2">
            <a:extLst>
              <a:ext uri="{FF2B5EF4-FFF2-40B4-BE49-F238E27FC236}">
                <a16:creationId xmlns:a16="http://schemas.microsoft.com/office/drawing/2014/main" id="{123B5F5B-6FED-1F49-76A2-90C21CB229FB}"/>
              </a:ext>
            </a:extLst>
          </p:cNvPr>
          <p:cNvSpPr>
            <a:spLocks noGrp="1"/>
          </p:cNvSpPr>
          <p:nvPr>
            <p:ph idx="1"/>
          </p:nvPr>
        </p:nvSpPr>
        <p:spPr>
          <a:xfrm>
            <a:off x="838201" y="1825625"/>
            <a:ext cx="6211186" cy="4351338"/>
          </a:xfrm>
        </p:spPr>
        <p:txBody>
          <a:bodyPr>
            <a:normAutofit lnSpcReduction="10000"/>
          </a:bodyPr>
          <a:lstStyle/>
          <a:p>
            <a:pPr marL="0" indent="0">
              <a:buNone/>
            </a:pPr>
            <a:r>
              <a:rPr lang="nl-NL" b="1" dirty="0" err="1"/>
              <a:t>LoRa</a:t>
            </a:r>
            <a:r>
              <a:rPr lang="nl-NL" dirty="0"/>
              <a:t> is de radiotechniek: een draadloze modulatie op basis van </a:t>
            </a:r>
            <a:r>
              <a:rPr lang="nl-NL" dirty="0" err="1"/>
              <a:t>Chirp</a:t>
            </a:r>
            <a:r>
              <a:rPr lang="nl-NL" dirty="0"/>
              <a:t> Spread Spectrum (CSS). Daardoor kun je met weinig energie over grote afstand kleine hoeveelheden data versturen. </a:t>
            </a:r>
          </a:p>
          <a:p>
            <a:pPr marL="0" indent="0">
              <a:buNone/>
            </a:pPr>
            <a:r>
              <a:rPr lang="nl-NL" b="1" dirty="0" err="1"/>
              <a:t>LoRaWAN</a:t>
            </a:r>
            <a:r>
              <a:rPr lang="nl-NL" dirty="0"/>
              <a:t> is het netwerkprotocol boven op </a:t>
            </a:r>
            <a:r>
              <a:rPr lang="nl-NL" dirty="0" err="1"/>
              <a:t>LoRa</a:t>
            </a:r>
            <a:r>
              <a:rPr lang="nl-NL" dirty="0"/>
              <a:t>: het regelt hoe apparaten berichten versturen, hoe gateways die ontvangen en hoe de data uiteindelijk bij een applicatie of </a:t>
            </a:r>
            <a:r>
              <a:rPr lang="nl-NL" dirty="0" err="1"/>
              <a:t>cloudplatform</a:t>
            </a:r>
            <a:r>
              <a:rPr lang="nl-NL" dirty="0"/>
              <a:t> terechtkomt.</a:t>
            </a:r>
            <a:endParaRPr lang="en-NL" dirty="0"/>
          </a:p>
        </p:txBody>
      </p:sp>
      <p:pic>
        <p:nvPicPr>
          <p:cNvPr id="8" name="Afbeelding 7">
            <a:extLst>
              <a:ext uri="{FF2B5EF4-FFF2-40B4-BE49-F238E27FC236}">
                <a16:creationId xmlns:a16="http://schemas.microsoft.com/office/drawing/2014/main" id="{9BBC2B52-53C9-EBA2-B7DF-2ABEFB1D0E7C}"/>
              </a:ext>
            </a:extLst>
          </p:cNvPr>
          <p:cNvPicPr>
            <a:picLocks noChangeAspect="1"/>
          </p:cNvPicPr>
          <p:nvPr/>
        </p:nvPicPr>
        <p:blipFill>
          <a:blip r:embed="rId3"/>
          <a:stretch>
            <a:fillRect/>
          </a:stretch>
        </p:blipFill>
        <p:spPr>
          <a:xfrm>
            <a:off x="7450338" y="1144588"/>
            <a:ext cx="4359099" cy="5032375"/>
          </a:xfrm>
          <a:prstGeom prst="rect">
            <a:avLst/>
          </a:prstGeom>
        </p:spPr>
      </p:pic>
      <p:sp>
        <p:nvSpPr>
          <p:cNvPr id="9" name="Tekstvak 8">
            <a:extLst>
              <a:ext uri="{FF2B5EF4-FFF2-40B4-BE49-F238E27FC236}">
                <a16:creationId xmlns:a16="http://schemas.microsoft.com/office/drawing/2014/main" id="{1EB7FC21-82A4-3E36-A8DF-78C40930E53C}"/>
              </a:ext>
            </a:extLst>
          </p:cNvPr>
          <p:cNvSpPr txBox="1"/>
          <p:nvPr/>
        </p:nvSpPr>
        <p:spPr>
          <a:xfrm>
            <a:off x="7592355" y="6123543"/>
            <a:ext cx="3579313" cy="369332"/>
          </a:xfrm>
          <a:prstGeom prst="rect">
            <a:avLst/>
          </a:prstGeom>
          <a:noFill/>
        </p:spPr>
        <p:txBody>
          <a:bodyPr wrap="none" rtlCol="0">
            <a:spAutoFit/>
          </a:bodyPr>
          <a:lstStyle/>
          <a:p>
            <a:r>
              <a:rPr lang="nl-NL" dirty="0"/>
              <a:t>Image: Source: </a:t>
            </a:r>
            <a:r>
              <a:rPr lang="nl-NL" dirty="0">
                <a:hlinkClick r:id="rId4"/>
              </a:rPr>
              <a:t>appcodelabs.com </a:t>
            </a:r>
            <a:endParaRPr lang="nl-NL" dirty="0"/>
          </a:p>
        </p:txBody>
      </p:sp>
    </p:spTree>
    <p:extLst>
      <p:ext uri="{BB962C8B-B14F-4D97-AF65-F5344CB8AC3E}">
        <p14:creationId xmlns:p14="http://schemas.microsoft.com/office/powerpoint/2010/main" val="600601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DAEAF-8550-F140-3391-20314C240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DA149-9DBC-3386-F62A-C35309FA77D3}"/>
              </a:ext>
            </a:extLst>
          </p:cNvPr>
          <p:cNvSpPr>
            <a:spLocks noGrp="1"/>
          </p:cNvSpPr>
          <p:nvPr>
            <p:ph type="title"/>
          </p:nvPr>
        </p:nvSpPr>
        <p:spPr/>
        <p:txBody>
          <a:bodyPr/>
          <a:lstStyle/>
          <a:p>
            <a:r>
              <a:rPr lang="nl-NL" dirty="0"/>
              <a:t>Hoe werkt de technologie?</a:t>
            </a:r>
            <a:endParaRPr lang="en-NL" dirty="0"/>
          </a:p>
        </p:txBody>
      </p:sp>
      <p:sp>
        <p:nvSpPr>
          <p:cNvPr id="3" name="Content Placeholder 2">
            <a:extLst>
              <a:ext uri="{FF2B5EF4-FFF2-40B4-BE49-F238E27FC236}">
                <a16:creationId xmlns:a16="http://schemas.microsoft.com/office/drawing/2014/main" id="{A22E231A-0B73-6595-9418-2324041ABF20}"/>
              </a:ext>
            </a:extLst>
          </p:cNvPr>
          <p:cNvSpPr>
            <a:spLocks noGrp="1"/>
          </p:cNvSpPr>
          <p:nvPr>
            <p:ph idx="1"/>
          </p:nvPr>
        </p:nvSpPr>
        <p:spPr>
          <a:xfrm>
            <a:off x="838199" y="1825625"/>
            <a:ext cx="5652977" cy="4667250"/>
          </a:xfrm>
        </p:spPr>
        <p:txBody>
          <a:bodyPr>
            <a:normAutofit fontScale="92500" lnSpcReduction="10000"/>
          </a:bodyPr>
          <a:lstStyle/>
          <a:p>
            <a:pPr marL="0" indent="0">
              <a:buNone/>
            </a:pPr>
            <a:r>
              <a:rPr lang="nl-NL" dirty="0"/>
              <a:t>Een </a:t>
            </a:r>
            <a:r>
              <a:rPr lang="nl-NL" dirty="0" err="1"/>
              <a:t>LoRaWAN</a:t>
            </a:r>
            <a:r>
              <a:rPr lang="nl-NL" dirty="0"/>
              <a:t>-opstelling bestaat uit vier delen: end device, gateway, </a:t>
            </a:r>
            <a:r>
              <a:rPr lang="nl-NL" dirty="0" err="1"/>
              <a:t>network</a:t>
            </a:r>
            <a:r>
              <a:rPr lang="nl-NL" dirty="0"/>
              <a:t> server en applicatie.</a:t>
            </a:r>
          </a:p>
          <a:p>
            <a:pPr marL="0" indent="0">
              <a:buNone/>
            </a:pPr>
            <a:r>
              <a:rPr lang="nl-NL" dirty="0"/>
              <a:t>Het end device meet bijvoorbeeld temperatuur of vochtigheid en verstuurt een klein bericht via </a:t>
            </a:r>
            <a:r>
              <a:rPr lang="nl-NL" dirty="0" err="1"/>
              <a:t>LoRa</a:t>
            </a:r>
            <a:r>
              <a:rPr lang="nl-NL" dirty="0"/>
              <a:t>. Eén of meerdere gateways in de omgeving ontvangen dat radiosignaal en sturen het via internet door naar een netwerkserver, zoals TTN. Daarna wordt het bericht doorgestuurd naar jouw applicatie, dashboard of database.</a:t>
            </a:r>
            <a:endParaRPr lang="en-NL" dirty="0"/>
          </a:p>
        </p:txBody>
      </p:sp>
      <p:pic>
        <p:nvPicPr>
          <p:cNvPr id="6" name="Afbeelding 5" descr="Afbeelding met diagram, tekst, schets, lijn&#10;&#10;Door AI gegenereerde inhoud is mogelijk onjuist.">
            <a:extLst>
              <a:ext uri="{FF2B5EF4-FFF2-40B4-BE49-F238E27FC236}">
                <a16:creationId xmlns:a16="http://schemas.microsoft.com/office/drawing/2014/main" id="{B46FB12A-7819-079B-7196-ED06FFDD33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1176" y="2946673"/>
            <a:ext cx="5652977" cy="2748760"/>
          </a:xfrm>
          <a:prstGeom prst="rect">
            <a:avLst/>
          </a:prstGeom>
        </p:spPr>
      </p:pic>
      <p:sp>
        <p:nvSpPr>
          <p:cNvPr id="7" name="Tekstvak 6">
            <a:extLst>
              <a:ext uri="{FF2B5EF4-FFF2-40B4-BE49-F238E27FC236}">
                <a16:creationId xmlns:a16="http://schemas.microsoft.com/office/drawing/2014/main" id="{C8A79B56-90C5-F3FA-1221-C6743E3863A0}"/>
              </a:ext>
            </a:extLst>
          </p:cNvPr>
          <p:cNvSpPr txBox="1"/>
          <p:nvPr/>
        </p:nvSpPr>
        <p:spPr>
          <a:xfrm>
            <a:off x="6634716" y="5724822"/>
            <a:ext cx="2464136" cy="369332"/>
          </a:xfrm>
          <a:prstGeom prst="rect">
            <a:avLst/>
          </a:prstGeom>
          <a:noFill/>
        </p:spPr>
        <p:txBody>
          <a:bodyPr wrap="none" rtlCol="0">
            <a:spAutoFit/>
          </a:bodyPr>
          <a:lstStyle/>
          <a:p>
            <a:r>
              <a:rPr lang="nl-NL" dirty="0"/>
              <a:t>Image: Source: </a:t>
            </a:r>
            <a:r>
              <a:rPr lang="nl-NL" dirty="0">
                <a:hlinkClick r:id="rId3"/>
              </a:rPr>
              <a:t>Actillity</a:t>
            </a:r>
            <a:endParaRPr lang="nl-NL" dirty="0"/>
          </a:p>
        </p:txBody>
      </p:sp>
    </p:spTree>
    <p:extLst>
      <p:ext uri="{BB962C8B-B14F-4D97-AF65-F5344CB8AC3E}">
        <p14:creationId xmlns:p14="http://schemas.microsoft.com/office/powerpoint/2010/main" val="3164372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6196B-24C2-7DC9-7C68-CA477815D0DA}"/>
              </a:ext>
            </a:extLst>
          </p:cNvPr>
          <p:cNvSpPr>
            <a:spLocks noGrp="1"/>
          </p:cNvSpPr>
          <p:nvPr>
            <p:ph type="title"/>
          </p:nvPr>
        </p:nvSpPr>
        <p:spPr/>
        <p:txBody>
          <a:bodyPr/>
          <a:lstStyle/>
          <a:p>
            <a:r>
              <a:rPr lang="en-US" dirty="0" err="1"/>
              <a:t>Verbinding</a:t>
            </a:r>
            <a:r>
              <a:rPr lang="en-US" dirty="0"/>
              <a:t> </a:t>
            </a:r>
            <a:r>
              <a:rPr lang="en-US" dirty="0" err="1"/>
              <a:t>maken</a:t>
            </a:r>
            <a:r>
              <a:rPr lang="en-US" dirty="0"/>
              <a:t>?</a:t>
            </a:r>
            <a:endParaRPr lang="en-NL" dirty="0"/>
          </a:p>
        </p:txBody>
      </p:sp>
      <p:sp>
        <p:nvSpPr>
          <p:cNvPr id="4" name="Content Placeholder 3">
            <a:extLst>
              <a:ext uri="{FF2B5EF4-FFF2-40B4-BE49-F238E27FC236}">
                <a16:creationId xmlns:a16="http://schemas.microsoft.com/office/drawing/2014/main" id="{908DABC4-920D-3A9F-350C-0769208BBA8C}"/>
              </a:ext>
            </a:extLst>
          </p:cNvPr>
          <p:cNvSpPr>
            <a:spLocks noGrp="1"/>
          </p:cNvSpPr>
          <p:nvPr>
            <p:ph sz="half" idx="2"/>
          </p:nvPr>
        </p:nvSpPr>
        <p:spPr>
          <a:xfrm>
            <a:off x="839788" y="1690688"/>
            <a:ext cx="9537589" cy="4498975"/>
          </a:xfrm>
        </p:spPr>
        <p:txBody>
          <a:bodyPr>
            <a:normAutofit/>
          </a:bodyPr>
          <a:lstStyle/>
          <a:p>
            <a:pPr marL="0" indent="0">
              <a:buNone/>
            </a:pPr>
            <a:r>
              <a:rPr lang="nl-NL" dirty="0"/>
              <a:t>We maken gebruik van OTAA: Over-The-Air-</a:t>
            </a:r>
            <a:r>
              <a:rPr lang="nl-NL" dirty="0" err="1"/>
              <a:t>Activation</a:t>
            </a:r>
            <a:r>
              <a:rPr lang="nl-NL" dirty="0"/>
              <a:t>. De volgende stappen doorloop je doorgaans om verbinding te maken:</a:t>
            </a:r>
          </a:p>
          <a:p>
            <a:r>
              <a:rPr lang="nl-NL" dirty="0"/>
              <a:t>Registreer het end device in </a:t>
            </a:r>
            <a:r>
              <a:rPr lang="nl-NL" dirty="0">
                <a:hlinkClick r:id="rId2"/>
              </a:rPr>
              <a:t>TTN</a:t>
            </a:r>
            <a:r>
              <a:rPr lang="nl-NL" dirty="0"/>
              <a:t>.</a:t>
            </a:r>
          </a:p>
          <a:p>
            <a:r>
              <a:rPr lang="nl-NL" dirty="0"/>
              <a:t>Kies het juiste frequentieplan in Nederland EU868.</a:t>
            </a:r>
          </a:p>
          <a:p>
            <a:r>
              <a:rPr lang="nl-NL" dirty="0"/>
              <a:t>Vul </a:t>
            </a:r>
            <a:r>
              <a:rPr lang="nl-NL" dirty="0" err="1"/>
              <a:t>identifiers</a:t>
            </a:r>
            <a:r>
              <a:rPr lang="nl-NL" dirty="0"/>
              <a:t> en sleutels in.</a:t>
            </a:r>
          </a:p>
          <a:p>
            <a:r>
              <a:rPr lang="nl-NL" dirty="0"/>
              <a:t>Flash de firmware op het device.</a:t>
            </a:r>
          </a:p>
          <a:p>
            <a:r>
              <a:rPr lang="nl-NL" dirty="0"/>
              <a:t>Laat het device een </a:t>
            </a:r>
            <a:r>
              <a:rPr lang="nl-NL" dirty="0" err="1"/>
              <a:t>join</a:t>
            </a:r>
            <a:r>
              <a:rPr lang="nl-NL" dirty="0"/>
              <a:t> uitvoeren.</a:t>
            </a:r>
          </a:p>
          <a:p>
            <a:r>
              <a:rPr lang="nl-NL" dirty="0"/>
              <a:t>Controleer in TTN of de </a:t>
            </a:r>
            <a:r>
              <a:rPr lang="nl-NL" dirty="0" err="1"/>
              <a:t>join</a:t>
            </a:r>
            <a:r>
              <a:rPr lang="nl-NL" dirty="0"/>
              <a:t> en </a:t>
            </a:r>
            <a:r>
              <a:rPr lang="nl-NL" dirty="0" err="1"/>
              <a:t>uplinks</a:t>
            </a:r>
            <a:r>
              <a:rPr lang="nl-NL" dirty="0"/>
              <a:t> zichtbaar zijn.</a:t>
            </a:r>
            <a:endParaRPr lang="en-NL" dirty="0"/>
          </a:p>
        </p:txBody>
      </p:sp>
    </p:spTree>
    <p:extLst>
      <p:ext uri="{BB962C8B-B14F-4D97-AF65-F5344CB8AC3E}">
        <p14:creationId xmlns:p14="http://schemas.microsoft.com/office/powerpoint/2010/main" val="159245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34F92-CC12-7C6D-A70B-3DDE78DD2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343F3-ACB2-4864-38BD-6802694FFC9B}"/>
              </a:ext>
            </a:extLst>
          </p:cNvPr>
          <p:cNvSpPr>
            <a:spLocks noGrp="1"/>
          </p:cNvSpPr>
          <p:nvPr>
            <p:ph type="title"/>
          </p:nvPr>
        </p:nvSpPr>
        <p:spPr/>
        <p:txBody>
          <a:bodyPr/>
          <a:lstStyle/>
          <a:p>
            <a:r>
              <a:rPr lang="en-US" dirty="0"/>
              <a:t>Keys </a:t>
            </a:r>
            <a:r>
              <a:rPr lang="en-US" dirty="0" err="1"/>
              <a:t>toelichting</a:t>
            </a:r>
            <a:endParaRPr lang="en-NL" dirty="0"/>
          </a:p>
        </p:txBody>
      </p:sp>
      <p:sp>
        <p:nvSpPr>
          <p:cNvPr id="3" name="Content Placeholder 2">
            <a:extLst>
              <a:ext uri="{FF2B5EF4-FFF2-40B4-BE49-F238E27FC236}">
                <a16:creationId xmlns:a16="http://schemas.microsoft.com/office/drawing/2014/main" id="{56761677-057A-B305-D372-73561DC178B2}"/>
              </a:ext>
            </a:extLst>
          </p:cNvPr>
          <p:cNvSpPr>
            <a:spLocks noGrp="1"/>
          </p:cNvSpPr>
          <p:nvPr>
            <p:ph idx="1"/>
          </p:nvPr>
        </p:nvSpPr>
        <p:spPr/>
        <p:txBody>
          <a:bodyPr>
            <a:normAutofit fontScale="77500" lnSpcReduction="20000"/>
          </a:bodyPr>
          <a:lstStyle/>
          <a:p>
            <a:pPr marL="0" indent="0">
              <a:buNone/>
            </a:pPr>
            <a:r>
              <a:rPr lang="nn-NO" sz="2800" dirty="0" err="1">
                <a:highlight>
                  <a:srgbClr val="FFFFFF"/>
                </a:highlight>
              </a:rPr>
              <a:t>Bij</a:t>
            </a:r>
            <a:r>
              <a:rPr lang="nn-NO" sz="2800" dirty="0">
                <a:highlight>
                  <a:srgbClr val="FFFFFF"/>
                </a:highlight>
              </a:rPr>
              <a:t> OTAA kom </a:t>
            </a:r>
            <a:r>
              <a:rPr lang="nn-NO" sz="2800" dirty="0" err="1">
                <a:highlight>
                  <a:srgbClr val="FFFFFF"/>
                </a:highlight>
              </a:rPr>
              <a:t>je</a:t>
            </a:r>
            <a:r>
              <a:rPr lang="nn-NO" sz="2800" dirty="0">
                <a:highlight>
                  <a:srgbClr val="FFFFFF"/>
                </a:highlight>
              </a:rPr>
              <a:t> </a:t>
            </a:r>
            <a:r>
              <a:rPr lang="nn-NO" sz="2800" dirty="0" err="1">
                <a:highlight>
                  <a:srgbClr val="FFFFFF"/>
                </a:highlight>
              </a:rPr>
              <a:t>meestal</a:t>
            </a:r>
            <a:r>
              <a:rPr lang="nn-NO" sz="2800" dirty="0">
                <a:highlight>
                  <a:srgbClr val="FFFFFF"/>
                </a:highlight>
              </a:rPr>
              <a:t> </a:t>
            </a:r>
            <a:r>
              <a:rPr lang="nn-NO" sz="2800" dirty="0" err="1">
                <a:highlight>
                  <a:srgbClr val="FFFFFF"/>
                </a:highlight>
              </a:rPr>
              <a:t>deze</a:t>
            </a:r>
            <a:r>
              <a:rPr lang="nn-NO" sz="2800" dirty="0">
                <a:highlight>
                  <a:srgbClr val="FFFFFF"/>
                </a:highlight>
              </a:rPr>
              <a:t> velden </a:t>
            </a:r>
            <a:r>
              <a:rPr lang="nn-NO" sz="2800" dirty="0" err="1">
                <a:highlight>
                  <a:srgbClr val="FFFFFF"/>
                </a:highlight>
              </a:rPr>
              <a:t>tegen</a:t>
            </a:r>
            <a:r>
              <a:rPr lang="nn-NO" sz="2800" dirty="0">
                <a:highlight>
                  <a:srgbClr val="FFFFFF"/>
                </a:highlight>
              </a:rPr>
              <a:t>:</a:t>
            </a:r>
          </a:p>
          <a:p>
            <a:pPr marL="0" indent="0">
              <a:buNone/>
            </a:pPr>
            <a:r>
              <a:rPr lang="nn-NO" sz="2800" b="1" dirty="0" err="1">
                <a:highlight>
                  <a:srgbClr val="FFFFFF"/>
                </a:highlight>
              </a:rPr>
              <a:t>DevEUI</a:t>
            </a:r>
            <a:r>
              <a:rPr lang="nn-NO" b="1" dirty="0">
                <a:highlight>
                  <a:srgbClr val="FFFFFF"/>
                </a:highlight>
              </a:rPr>
              <a:t>: </a:t>
            </a:r>
            <a:r>
              <a:rPr lang="nn-NO" sz="2800" dirty="0" err="1">
                <a:highlight>
                  <a:srgbClr val="FFFFFF"/>
                </a:highlight>
              </a:rPr>
              <a:t>Unieke</a:t>
            </a:r>
            <a:r>
              <a:rPr lang="nn-NO" sz="2800" dirty="0">
                <a:highlight>
                  <a:srgbClr val="FFFFFF"/>
                </a:highlight>
              </a:rPr>
              <a:t> </a:t>
            </a:r>
            <a:r>
              <a:rPr lang="nn-NO" sz="2800" dirty="0" err="1">
                <a:highlight>
                  <a:srgbClr val="FFFFFF"/>
                </a:highlight>
              </a:rPr>
              <a:t>identiteit</a:t>
            </a:r>
            <a:r>
              <a:rPr lang="nn-NO" sz="2800" dirty="0">
                <a:highlight>
                  <a:srgbClr val="FFFFFF"/>
                </a:highlight>
              </a:rPr>
              <a:t> van het </a:t>
            </a:r>
            <a:r>
              <a:rPr lang="nn-NO" sz="2800" dirty="0" err="1">
                <a:highlight>
                  <a:srgbClr val="FFFFFF"/>
                </a:highlight>
              </a:rPr>
              <a:t>device</a:t>
            </a:r>
            <a:r>
              <a:rPr lang="nn-NO" sz="2800" dirty="0">
                <a:highlight>
                  <a:srgbClr val="FFFFFF"/>
                </a:highlight>
              </a:rPr>
              <a:t>. </a:t>
            </a:r>
            <a:r>
              <a:rPr lang="nn-NO" sz="2800" dirty="0" err="1">
                <a:highlight>
                  <a:srgbClr val="FFFFFF"/>
                </a:highlight>
              </a:rPr>
              <a:t>Vergelijkbaar</a:t>
            </a:r>
            <a:r>
              <a:rPr lang="nn-NO" sz="2800" dirty="0">
                <a:highlight>
                  <a:srgbClr val="FFFFFF"/>
                </a:highlight>
              </a:rPr>
              <a:t> </a:t>
            </a:r>
            <a:r>
              <a:rPr lang="nn-NO" sz="2800" dirty="0" err="1">
                <a:highlight>
                  <a:srgbClr val="FFFFFF"/>
                </a:highlight>
              </a:rPr>
              <a:t>met</a:t>
            </a:r>
            <a:r>
              <a:rPr lang="nn-NO" sz="2800" dirty="0">
                <a:highlight>
                  <a:srgbClr val="FFFFFF"/>
                </a:highlight>
              </a:rPr>
              <a:t> </a:t>
            </a:r>
            <a:r>
              <a:rPr lang="nn-NO" sz="2800" dirty="0" err="1">
                <a:highlight>
                  <a:srgbClr val="FFFFFF"/>
                </a:highlight>
              </a:rPr>
              <a:t>een</a:t>
            </a:r>
            <a:r>
              <a:rPr lang="nn-NO" sz="2800" dirty="0">
                <a:highlight>
                  <a:srgbClr val="FFFFFF"/>
                </a:highlight>
              </a:rPr>
              <a:t> serienummer </a:t>
            </a:r>
            <a:r>
              <a:rPr lang="nn-NO" sz="2800" dirty="0" err="1">
                <a:highlight>
                  <a:srgbClr val="FFFFFF"/>
                </a:highlight>
              </a:rPr>
              <a:t>binnen</a:t>
            </a:r>
            <a:r>
              <a:rPr lang="nn-NO" sz="2800" dirty="0">
                <a:highlight>
                  <a:srgbClr val="FFFFFF"/>
                </a:highlight>
              </a:rPr>
              <a:t> het </a:t>
            </a:r>
            <a:r>
              <a:rPr lang="nn-NO" sz="2800" dirty="0" err="1">
                <a:highlight>
                  <a:srgbClr val="FFFFFF"/>
                </a:highlight>
              </a:rPr>
              <a:t>LoRaWAN-systeem</a:t>
            </a:r>
            <a:r>
              <a:rPr lang="nn-NO" sz="2800" dirty="0">
                <a:highlight>
                  <a:srgbClr val="FFFFFF"/>
                </a:highlight>
              </a:rPr>
              <a:t>.</a:t>
            </a:r>
          </a:p>
          <a:p>
            <a:pPr marL="0" indent="0">
              <a:buNone/>
            </a:pPr>
            <a:r>
              <a:rPr lang="nn-NO" sz="2800" b="1" dirty="0" err="1">
                <a:highlight>
                  <a:srgbClr val="FFFFFF"/>
                </a:highlight>
              </a:rPr>
              <a:t>JoinEUI</a:t>
            </a:r>
            <a:r>
              <a:rPr lang="nn-NO" sz="2800" b="1" dirty="0">
                <a:highlight>
                  <a:srgbClr val="FFFFFF"/>
                </a:highlight>
              </a:rPr>
              <a:t>: </a:t>
            </a:r>
            <a:r>
              <a:rPr lang="nn-NO" sz="2800" dirty="0" err="1">
                <a:highlight>
                  <a:srgbClr val="FFFFFF"/>
                </a:highlight>
              </a:rPr>
              <a:t>Identificeert</a:t>
            </a:r>
            <a:r>
              <a:rPr lang="nn-NO" sz="2800" dirty="0">
                <a:highlight>
                  <a:srgbClr val="FFFFFF"/>
                </a:highlight>
              </a:rPr>
              <a:t> </a:t>
            </a:r>
            <a:r>
              <a:rPr lang="nn-NO" sz="2800" dirty="0" err="1">
                <a:highlight>
                  <a:srgbClr val="FFFFFF"/>
                </a:highlight>
              </a:rPr>
              <a:t>bij</a:t>
            </a:r>
            <a:r>
              <a:rPr lang="nn-NO" sz="2800" dirty="0">
                <a:highlight>
                  <a:srgbClr val="FFFFFF"/>
                </a:highlight>
              </a:rPr>
              <a:t> </a:t>
            </a:r>
            <a:r>
              <a:rPr lang="nn-NO" sz="2800" dirty="0" err="1">
                <a:highlight>
                  <a:srgbClr val="FFFFFF"/>
                </a:highlight>
              </a:rPr>
              <a:t>welke</a:t>
            </a:r>
            <a:r>
              <a:rPr lang="nn-NO" sz="2800" dirty="0">
                <a:highlight>
                  <a:srgbClr val="FFFFFF"/>
                </a:highlight>
              </a:rPr>
              <a:t> join-</a:t>
            </a:r>
            <a:r>
              <a:rPr lang="nn-NO" sz="2800" dirty="0" err="1">
                <a:highlight>
                  <a:srgbClr val="FFFFFF"/>
                </a:highlight>
              </a:rPr>
              <a:t>context</a:t>
            </a:r>
            <a:r>
              <a:rPr lang="nn-NO" sz="2800" dirty="0">
                <a:highlight>
                  <a:srgbClr val="FFFFFF"/>
                </a:highlight>
              </a:rPr>
              <a:t> </a:t>
            </a:r>
            <a:r>
              <a:rPr lang="nn-NO" sz="2800" dirty="0" err="1">
                <a:highlight>
                  <a:srgbClr val="FFFFFF"/>
                </a:highlight>
              </a:rPr>
              <a:t>of</a:t>
            </a:r>
            <a:r>
              <a:rPr lang="nn-NO" sz="2800" dirty="0">
                <a:highlight>
                  <a:srgbClr val="FFFFFF"/>
                </a:highlight>
              </a:rPr>
              <a:t> </a:t>
            </a:r>
            <a:r>
              <a:rPr lang="nn-NO" sz="2800" dirty="0" err="1">
                <a:highlight>
                  <a:srgbClr val="FFFFFF"/>
                </a:highlight>
              </a:rPr>
              <a:t>leverancier</a:t>
            </a:r>
            <a:r>
              <a:rPr lang="nn-NO" sz="2800" dirty="0">
                <a:highlight>
                  <a:srgbClr val="FFFFFF"/>
                </a:highlight>
              </a:rPr>
              <a:t> het </a:t>
            </a:r>
            <a:r>
              <a:rPr lang="nn-NO" sz="2800" dirty="0" err="1">
                <a:highlight>
                  <a:srgbClr val="FFFFFF"/>
                </a:highlight>
              </a:rPr>
              <a:t>device</a:t>
            </a:r>
            <a:r>
              <a:rPr lang="nn-NO" sz="2800" dirty="0">
                <a:highlight>
                  <a:srgbClr val="FFFFFF"/>
                </a:highlight>
              </a:rPr>
              <a:t> </a:t>
            </a:r>
            <a:r>
              <a:rPr lang="nn-NO" sz="2800" dirty="0" err="1">
                <a:highlight>
                  <a:srgbClr val="FFFFFF"/>
                </a:highlight>
              </a:rPr>
              <a:t>hoort</a:t>
            </a:r>
            <a:r>
              <a:rPr lang="nn-NO" sz="2800" dirty="0">
                <a:highlight>
                  <a:srgbClr val="FFFFFF"/>
                </a:highlight>
              </a:rPr>
              <a:t>. </a:t>
            </a:r>
            <a:r>
              <a:rPr lang="nn-NO" sz="2800" dirty="0" err="1">
                <a:highlight>
                  <a:srgbClr val="FFFFFF"/>
                </a:highlight>
              </a:rPr>
              <a:t>Bij</a:t>
            </a:r>
            <a:r>
              <a:rPr lang="nn-NO" sz="2800" dirty="0">
                <a:highlight>
                  <a:srgbClr val="FFFFFF"/>
                </a:highlight>
              </a:rPr>
              <a:t> </a:t>
            </a:r>
            <a:r>
              <a:rPr lang="nn-NO" sz="2800" dirty="0" err="1">
                <a:highlight>
                  <a:srgbClr val="FFFFFF"/>
                </a:highlight>
              </a:rPr>
              <a:t>handmatig</a:t>
            </a:r>
            <a:r>
              <a:rPr lang="nn-NO" sz="2800" dirty="0">
                <a:highlight>
                  <a:srgbClr val="FFFFFF"/>
                </a:highlight>
              </a:rPr>
              <a:t> </a:t>
            </a:r>
            <a:r>
              <a:rPr lang="nn-NO" sz="2800" dirty="0" err="1">
                <a:highlight>
                  <a:srgbClr val="FFFFFF"/>
                </a:highlight>
              </a:rPr>
              <a:t>geregistreerde</a:t>
            </a:r>
            <a:r>
              <a:rPr lang="nn-NO" sz="2800" dirty="0">
                <a:highlight>
                  <a:srgbClr val="FFFFFF"/>
                </a:highlight>
              </a:rPr>
              <a:t> </a:t>
            </a:r>
            <a:r>
              <a:rPr lang="nn-NO" sz="2800" dirty="0" err="1">
                <a:highlight>
                  <a:srgbClr val="FFFFFF"/>
                </a:highlight>
              </a:rPr>
              <a:t>custom</a:t>
            </a:r>
            <a:r>
              <a:rPr lang="nn-NO" sz="2800" dirty="0">
                <a:highlight>
                  <a:srgbClr val="FFFFFF"/>
                </a:highlight>
              </a:rPr>
              <a:t> </a:t>
            </a:r>
            <a:r>
              <a:rPr lang="nn-NO" sz="2800" dirty="0" err="1">
                <a:highlight>
                  <a:srgbClr val="FFFFFF"/>
                </a:highlight>
              </a:rPr>
              <a:t>devices</a:t>
            </a:r>
            <a:r>
              <a:rPr lang="nn-NO" sz="2800" dirty="0">
                <a:highlight>
                  <a:srgbClr val="FFFFFF"/>
                </a:highlight>
              </a:rPr>
              <a:t> </a:t>
            </a:r>
            <a:r>
              <a:rPr lang="nn-NO" sz="2800" dirty="0" err="1">
                <a:highlight>
                  <a:srgbClr val="FFFFFF"/>
                </a:highlight>
              </a:rPr>
              <a:t>wordt</a:t>
            </a:r>
            <a:r>
              <a:rPr lang="nn-NO" sz="2800" dirty="0">
                <a:highlight>
                  <a:srgbClr val="FFFFFF"/>
                </a:highlight>
              </a:rPr>
              <a:t> </a:t>
            </a:r>
            <a:r>
              <a:rPr lang="nn-NO" sz="2800" dirty="0" err="1">
                <a:highlight>
                  <a:srgbClr val="FFFFFF"/>
                </a:highlight>
              </a:rPr>
              <a:t>vaak</a:t>
            </a:r>
            <a:r>
              <a:rPr lang="nn-NO" sz="2800" dirty="0">
                <a:highlight>
                  <a:srgbClr val="FFFFFF"/>
                </a:highlight>
              </a:rPr>
              <a:t> </a:t>
            </a:r>
            <a:r>
              <a:rPr lang="nn-NO" sz="2800" dirty="0" err="1">
                <a:highlight>
                  <a:srgbClr val="FFFFFF"/>
                </a:highlight>
              </a:rPr>
              <a:t>een</a:t>
            </a:r>
            <a:r>
              <a:rPr lang="nn-NO" sz="2800" dirty="0">
                <a:highlight>
                  <a:srgbClr val="FFFFFF"/>
                </a:highlight>
              </a:rPr>
              <a:t> </a:t>
            </a:r>
            <a:r>
              <a:rPr lang="nn-NO" sz="2800" dirty="0" err="1">
                <a:highlight>
                  <a:srgbClr val="FFFFFF"/>
                </a:highlight>
              </a:rPr>
              <a:t>vaste</a:t>
            </a:r>
            <a:r>
              <a:rPr lang="nn-NO" sz="2800" dirty="0">
                <a:highlight>
                  <a:srgbClr val="FFFFFF"/>
                </a:highlight>
              </a:rPr>
              <a:t> </a:t>
            </a:r>
            <a:r>
              <a:rPr lang="nn-NO" sz="2800" dirty="0" err="1">
                <a:highlight>
                  <a:srgbClr val="FFFFFF"/>
                </a:highlight>
              </a:rPr>
              <a:t>waarde</a:t>
            </a:r>
            <a:r>
              <a:rPr lang="nn-NO" sz="2800" dirty="0">
                <a:highlight>
                  <a:srgbClr val="FFFFFF"/>
                </a:highlight>
              </a:rPr>
              <a:t> </a:t>
            </a:r>
            <a:r>
              <a:rPr lang="nn-NO" sz="2800" dirty="0" err="1">
                <a:highlight>
                  <a:srgbClr val="FFFFFF"/>
                </a:highlight>
              </a:rPr>
              <a:t>gebruikt</a:t>
            </a:r>
            <a:r>
              <a:rPr lang="nn-NO" sz="2800" dirty="0">
                <a:highlight>
                  <a:srgbClr val="FFFFFF"/>
                </a:highlight>
              </a:rPr>
              <a:t>, </a:t>
            </a:r>
            <a:r>
              <a:rPr lang="nn-NO" sz="2800" dirty="0" err="1">
                <a:highlight>
                  <a:srgbClr val="FFFFFF"/>
                </a:highlight>
              </a:rPr>
              <a:t>bijvoorbeeld</a:t>
            </a:r>
            <a:r>
              <a:rPr lang="nn-NO" sz="2800" dirty="0">
                <a:highlight>
                  <a:srgbClr val="FFFFFF"/>
                </a:highlight>
              </a:rPr>
              <a:t> </a:t>
            </a:r>
            <a:r>
              <a:rPr lang="nn-NO" sz="2800" dirty="0" err="1">
                <a:highlight>
                  <a:srgbClr val="FFFFFF"/>
                </a:highlight>
              </a:rPr>
              <a:t>allemaal</a:t>
            </a:r>
            <a:r>
              <a:rPr lang="nn-NO" sz="2800" dirty="0">
                <a:highlight>
                  <a:srgbClr val="FFFFFF"/>
                </a:highlight>
              </a:rPr>
              <a:t> nullen, </a:t>
            </a:r>
            <a:r>
              <a:rPr lang="nn-NO" sz="2800" dirty="0" err="1">
                <a:highlight>
                  <a:srgbClr val="FFFFFF"/>
                </a:highlight>
              </a:rPr>
              <a:t>als</a:t>
            </a:r>
            <a:r>
              <a:rPr lang="nn-NO" sz="2800" dirty="0">
                <a:highlight>
                  <a:srgbClr val="FFFFFF"/>
                </a:highlight>
              </a:rPr>
              <a:t> </a:t>
            </a:r>
            <a:r>
              <a:rPr lang="nn-NO" sz="2800" dirty="0" err="1">
                <a:highlight>
                  <a:srgbClr val="FFFFFF"/>
                </a:highlight>
              </a:rPr>
              <a:t>dat</a:t>
            </a:r>
            <a:r>
              <a:rPr lang="nn-NO" sz="2800" dirty="0">
                <a:highlight>
                  <a:srgbClr val="FFFFFF"/>
                </a:highlight>
              </a:rPr>
              <a:t> </a:t>
            </a:r>
            <a:r>
              <a:rPr lang="nn-NO" sz="2800" dirty="0" err="1">
                <a:highlight>
                  <a:srgbClr val="FFFFFF"/>
                </a:highlight>
              </a:rPr>
              <a:t>zo</a:t>
            </a:r>
            <a:r>
              <a:rPr lang="nn-NO" sz="2800" dirty="0">
                <a:highlight>
                  <a:srgbClr val="FFFFFF"/>
                </a:highlight>
              </a:rPr>
              <a:t> in de </a:t>
            </a:r>
            <a:r>
              <a:rPr lang="nn-NO" sz="2800" dirty="0" err="1">
                <a:highlight>
                  <a:srgbClr val="FFFFFF"/>
                </a:highlight>
              </a:rPr>
              <a:t>provisioning</a:t>
            </a:r>
            <a:r>
              <a:rPr lang="nn-NO" sz="2800" dirty="0">
                <a:highlight>
                  <a:srgbClr val="FFFFFF"/>
                </a:highlight>
              </a:rPr>
              <a:t> is </a:t>
            </a:r>
            <a:r>
              <a:rPr lang="nn-NO" sz="2800" dirty="0" err="1">
                <a:highlight>
                  <a:srgbClr val="FFFFFF"/>
                </a:highlight>
              </a:rPr>
              <a:t>gekozen</a:t>
            </a:r>
            <a:r>
              <a:rPr lang="nn-NO" sz="2800" dirty="0">
                <a:highlight>
                  <a:srgbClr val="FFFFFF"/>
                </a:highlight>
              </a:rPr>
              <a:t>.</a:t>
            </a:r>
          </a:p>
          <a:p>
            <a:pPr marL="0" indent="0">
              <a:buNone/>
            </a:pPr>
            <a:r>
              <a:rPr lang="nn-NO" sz="2800" b="1" dirty="0" err="1">
                <a:highlight>
                  <a:srgbClr val="FFFFFF"/>
                </a:highlight>
              </a:rPr>
              <a:t>AppKey</a:t>
            </a:r>
            <a:r>
              <a:rPr lang="nn-NO" b="1" dirty="0">
                <a:highlight>
                  <a:srgbClr val="FFFFFF"/>
                </a:highlight>
              </a:rPr>
              <a:t>: </a:t>
            </a:r>
            <a:r>
              <a:rPr lang="nn-NO" sz="2800" dirty="0" err="1">
                <a:highlight>
                  <a:srgbClr val="FFFFFF"/>
                </a:highlight>
              </a:rPr>
              <a:t>Een</a:t>
            </a:r>
            <a:r>
              <a:rPr lang="nn-NO" sz="2800" dirty="0">
                <a:highlight>
                  <a:srgbClr val="FFFFFF"/>
                </a:highlight>
              </a:rPr>
              <a:t> </a:t>
            </a:r>
            <a:r>
              <a:rPr lang="nn-NO" sz="2800" dirty="0" err="1">
                <a:highlight>
                  <a:srgbClr val="FFFFFF"/>
                </a:highlight>
              </a:rPr>
              <a:t>root</a:t>
            </a:r>
            <a:r>
              <a:rPr lang="nn-NO" sz="2800" dirty="0">
                <a:highlight>
                  <a:srgbClr val="FFFFFF"/>
                </a:highlight>
              </a:rPr>
              <a:t> </a:t>
            </a:r>
            <a:r>
              <a:rPr lang="nn-NO" sz="2800" dirty="0" err="1">
                <a:highlight>
                  <a:srgbClr val="FFFFFF"/>
                </a:highlight>
              </a:rPr>
              <a:t>key</a:t>
            </a:r>
            <a:r>
              <a:rPr lang="nn-NO" sz="2800" dirty="0">
                <a:highlight>
                  <a:srgbClr val="FFFFFF"/>
                </a:highlight>
              </a:rPr>
              <a:t> die </a:t>
            </a:r>
            <a:r>
              <a:rPr lang="nn-NO" sz="2800" dirty="0" err="1">
                <a:highlight>
                  <a:srgbClr val="FFFFFF"/>
                </a:highlight>
              </a:rPr>
              <a:t>gebruikt</a:t>
            </a:r>
            <a:r>
              <a:rPr lang="nn-NO" sz="2800" dirty="0">
                <a:highlight>
                  <a:srgbClr val="FFFFFF"/>
                </a:highlight>
              </a:rPr>
              <a:t> </a:t>
            </a:r>
            <a:r>
              <a:rPr lang="nn-NO" sz="2800" dirty="0" err="1">
                <a:highlight>
                  <a:srgbClr val="FFFFFF"/>
                </a:highlight>
              </a:rPr>
              <a:t>wordt</a:t>
            </a:r>
            <a:r>
              <a:rPr lang="nn-NO" sz="2800" dirty="0">
                <a:highlight>
                  <a:srgbClr val="FFFFFF"/>
                </a:highlight>
              </a:rPr>
              <a:t> </a:t>
            </a:r>
            <a:r>
              <a:rPr lang="nn-NO" sz="2800" dirty="0" err="1">
                <a:highlight>
                  <a:srgbClr val="FFFFFF"/>
                </a:highlight>
              </a:rPr>
              <a:t>tijdens</a:t>
            </a:r>
            <a:r>
              <a:rPr lang="nn-NO" sz="2800" dirty="0">
                <a:highlight>
                  <a:srgbClr val="FFFFFF"/>
                </a:highlight>
              </a:rPr>
              <a:t> het join-</a:t>
            </a:r>
            <a:r>
              <a:rPr lang="nn-NO" sz="2800" dirty="0" err="1">
                <a:highlight>
                  <a:srgbClr val="FFFFFF"/>
                </a:highlight>
              </a:rPr>
              <a:t>proces</a:t>
            </a:r>
            <a:r>
              <a:rPr lang="nn-NO" sz="2800" dirty="0">
                <a:highlight>
                  <a:srgbClr val="FFFFFF"/>
                </a:highlight>
              </a:rPr>
              <a:t> en </a:t>
            </a:r>
            <a:r>
              <a:rPr lang="nn-NO" sz="2800" dirty="0" err="1">
                <a:highlight>
                  <a:srgbClr val="FFFFFF"/>
                </a:highlight>
              </a:rPr>
              <a:t>voor</a:t>
            </a:r>
            <a:r>
              <a:rPr lang="nn-NO" sz="2800" dirty="0">
                <a:highlight>
                  <a:srgbClr val="FFFFFF"/>
                </a:highlight>
              </a:rPr>
              <a:t> </a:t>
            </a:r>
            <a:r>
              <a:rPr lang="nn-NO" sz="2800" dirty="0" err="1">
                <a:highlight>
                  <a:srgbClr val="FFFFFF"/>
                </a:highlight>
              </a:rPr>
              <a:t>beveiliging</a:t>
            </a:r>
            <a:r>
              <a:rPr lang="nn-NO" sz="2800" dirty="0">
                <a:highlight>
                  <a:srgbClr val="FFFFFF"/>
                </a:highlight>
              </a:rPr>
              <a:t> van </a:t>
            </a:r>
            <a:r>
              <a:rPr lang="nn-NO" sz="2800" dirty="0" err="1">
                <a:highlight>
                  <a:srgbClr val="FFFFFF"/>
                </a:highlight>
              </a:rPr>
              <a:t>applicatiedata</a:t>
            </a:r>
            <a:r>
              <a:rPr lang="nn-NO" sz="2800" dirty="0">
                <a:highlight>
                  <a:srgbClr val="FFFFFF"/>
                </a:highlight>
              </a:rPr>
              <a:t>.</a:t>
            </a:r>
          </a:p>
          <a:p>
            <a:pPr marL="0" indent="0">
              <a:buNone/>
            </a:pPr>
            <a:r>
              <a:rPr lang="nn-NO" sz="2800" b="1" dirty="0" err="1">
                <a:highlight>
                  <a:srgbClr val="FFFFFF"/>
                </a:highlight>
              </a:rPr>
              <a:t>NwkKey</a:t>
            </a:r>
            <a:r>
              <a:rPr lang="nn-NO" b="1" dirty="0">
                <a:highlight>
                  <a:srgbClr val="FFFFFF"/>
                </a:highlight>
              </a:rPr>
              <a:t>: </a:t>
            </a:r>
            <a:r>
              <a:rPr lang="nn-NO" sz="2800" dirty="0" err="1">
                <a:highlight>
                  <a:srgbClr val="FFFFFF"/>
                </a:highlight>
              </a:rPr>
              <a:t>Bij</a:t>
            </a:r>
            <a:r>
              <a:rPr lang="nn-NO" sz="2800" dirty="0">
                <a:highlight>
                  <a:srgbClr val="FFFFFF"/>
                </a:highlight>
              </a:rPr>
              <a:t> </a:t>
            </a:r>
            <a:r>
              <a:rPr lang="nn-NO" sz="2800" dirty="0" err="1">
                <a:highlight>
                  <a:srgbClr val="FFFFFF"/>
                </a:highlight>
              </a:rPr>
              <a:t>LoRaWAN</a:t>
            </a:r>
            <a:r>
              <a:rPr lang="nn-NO" sz="2800" dirty="0">
                <a:highlight>
                  <a:srgbClr val="FFFFFF"/>
                </a:highlight>
              </a:rPr>
              <a:t> 1.1 is </a:t>
            </a:r>
            <a:r>
              <a:rPr lang="nn-NO" sz="2800" dirty="0" err="1">
                <a:highlight>
                  <a:srgbClr val="FFFFFF"/>
                </a:highlight>
              </a:rPr>
              <a:t>ook</a:t>
            </a:r>
            <a:r>
              <a:rPr lang="nn-NO" sz="2800" dirty="0">
                <a:highlight>
                  <a:srgbClr val="FFFFFF"/>
                </a:highlight>
              </a:rPr>
              <a:t> </a:t>
            </a:r>
            <a:r>
              <a:rPr lang="nn-NO" sz="2800" dirty="0" err="1">
                <a:highlight>
                  <a:srgbClr val="FFFFFF"/>
                </a:highlight>
              </a:rPr>
              <a:t>een</a:t>
            </a:r>
            <a:r>
              <a:rPr lang="nn-NO" sz="2800" dirty="0">
                <a:highlight>
                  <a:srgbClr val="FFFFFF"/>
                </a:highlight>
              </a:rPr>
              <a:t> </a:t>
            </a:r>
            <a:r>
              <a:rPr lang="nn-NO" sz="2800" dirty="0" err="1">
                <a:highlight>
                  <a:srgbClr val="FFFFFF"/>
                </a:highlight>
              </a:rPr>
              <a:t>NwkKey</a:t>
            </a:r>
            <a:r>
              <a:rPr lang="nn-NO" sz="2800" dirty="0">
                <a:highlight>
                  <a:srgbClr val="FFFFFF"/>
                </a:highlight>
              </a:rPr>
              <a:t> </a:t>
            </a:r>
            <a:r>
              <a:rPr lang="nn-NO" sz="2800" dirty="0" err="1">
                <a:highlight>
                  <a:srgbClr val="FFFFFF"/>
                </a:highlight>
              </a:rPr>
              <a:t>nodig</a:t>
            </a:r>
            <a:r>
              <a:rPr lang="nn-NO" sz="2800" dirty="0">
                <a:highlight>
                  <a:srgbClr val="FFFFFF"/>
                </a:highlight>
              </a:rPr>
              <a:t> </a:t>
            </a:r>
            <a:r>
              <a:rPr lang="nn-NO" sz="2800" dirty="0" err="1">
                <a:highlight>
                  <a:srgbClr val="FFFFFF"/>
                </a:highlight>
              </a:rPr>
              <a:t>voor</a:t>
            </a:r>
            <a:r>
              <a:rPr lang="nn-NO" sz="2800" dirty="0">
                <a:highlight>
                  <a:srgbClr val="FFFFFF"/>
                </a:highlight>
              </a:rPr>
              <a:t> de </a:t>
            </a:r>
            <a:r>
              <a:rPr lang="nn-NO" sz="2800" dirty="0" err="1">
                <a:highlight>
                  <a:srgbClr val="FFFFFF"/>
                </a:highlight>
              </a:rPr>
              <a:t>netwerkbeveiliging</a:t>
            </a:r>
            <a:r>
              <a:rPr lang="nn-NO" sz="2800" dirty="0">
                <a:highlight>
                  <a:srgbClr val="FFFFFF"/>
                </a:highlight>
              </a:rPr>
              <a:t>. </a:t>
            </a:r>
          </a:p>
          <a:p>
            <a:pPr marL="0" indent="0">
              <a:buNone/>
            </a:pPr>
            <a:endParaRPr lang="nn-NO" sz="2800" dirty="0">
              <a:highlight>
                <a:srgbClr val="FFFFFF"/>
              </a:highlight>
            </a:endParaRPr>
          </a:p>
          <a:p>
            <a:pPr marL="0" indent="0">
              <a:buNone/>
            </a:pPr>
            <a:r>
              <a:rPr lang="nn-NO" sz="2800" dirty="0" err="1">
                <a:highlight>
                  <a:srgbClr val="FFFFFF"/>
                </a:highlight>
              </a:rPr>
              <a:t>Waarom</a:t>
            </a:r>
            <a:r>
              <a:rPr lang="nn-NO" sz="2800" dirty="0">
                <a:highlight>
                  <a:srgbClr val="FFFFFF"/>
                </a:highlight>
              </a:rPr>
              <a:t> </a:t>
            </a:r>
            <a:r>
              <a:rPr lang="nn-NO" sz="2800" dirty="0" err="1">
                <a:highlight>
                  <a:srgbClr val="FFFFFF"/>
                </a:highlight>
              </a:rPr>
              <a:t>zijn</a:t>
            </a:r>
            <a:r>
              <a:rPr lang="nn-NO" sz="2800" dirty="0">
                <a:highlight>
                  <a:srgbClr val="FFFFFF"/>
                </a:highlight>
              </a:rPr>
              <a:t> </a:t>
            </a:r>
            <a:r>
              <a:rPr lang="nn-NO" sz="2800" dirty="0" err="1">
                <a:highlight>
                  <a:srgbClr val="FFFFFF"/>
                </a:highlight>
              </a:rPr>
              <a:t>deze</a:t>
            </a:r>
            <a:r>
              <a:rPr lang="nn-NO" sz="2800" dirty="0">
                <a:highlight>
                  <a:srgbClr val="FFFFFF"/>
                </a:highlight>
              </a:rPr>
              <a:t> </a:t>
            </a:r>
            <a:r>
              <a:rPr lang="nn-NO" sz="2800" dirty="0" err="1">
                <a:highlight>
                  <a:srgbClr val="FFFFFF"/>
                </a:highlight>
              </a:rPr>
              <a:t>belangrijk</a:t>
            </a:r>
            <a:r>
              <a:rPr lang="nn-NO" sz="2800" dirty="0">
                <a:highlight>
                  <a:srgbClr val="FFFFFF"/>
                </a:highlight>
              </a:rPr>
              <a:t>?</a:t>
            </a:r>
          </a:p>
          <a:p>
            <a:pPr marL="0" indent="0">
              <a:buNone/>
            </a:pPr>
            <a:r>
              <a:rPr lang="nn-NO" sz="2800" dirty="0">
                <a:highlight>
                  <a:srgbClr val="FFFFFF"/>
                </a:highlight>
              </a:rPr>
              <a:t>Alleen </a:t>
            </a:r>
            <a:r>
              <a:rPr lang="nn-NO" sz="2800" dirty="0" err="1">
                <a:highlight>
                  <a:srgbClr val="FFFFFF"/>
                </a:highlight>
              </a:rPr>
              <a:t>als</a:t>
            </a:r>
            <a:r>
              <a:rPr lang="nn-NO" sz="2800" dirty="0">
                <a:highlight>
                  <a:srgbClr val="FFFFFF"/>
                </a:highlight>
              </a:rPr>
              <a:t> </a:t>
            </a:r>
            <a:r>
              <a:rPr lang="nn-NO" sz="2800" dirty="0" err="1">
                <a:highlight>
                  <a:srgbClr val="FFFFFF"/>
                </a:highlight>
              </a:rPr>
              <a:t>identifiers</a:t>
            </a:r>
            <a:r>
              <a:rPr lang="nn-NO" sz="2800" dirty="0">
                <a:highlight>
                  <a:srgbClr val="FFFFFF"/>
                </a:highlight>
              </a:rPr>
              <a:t>, </a:t>
            </a:r>
            <a:r>
              <a:rPr lang="nn-NO" sz="2800" dirty="0" err="1">
                <a:highlight>
                  <a:srgbClr val="FFFFFF"/>
                </a:highlight>
              </a:rPr>
              <a:t>LoRaWAN-versie</a:t>
            </a:r>
            <a:r>
              <a:rPr lang="nn-NO" sz="2800" dirty="0">
                <a:highlight>
                  <a:srgbClr val="FFFFFF"/>
                </a:highlight>
              </a:rPr>
              <a:t>, regionale parameters en </a:t>
            </a:r>
            <a:r>
              <a:rPr lang="nn-NO" sz="2800" dirty="0" err="1">
                <a:highlight>
                  <a:srgbClr val="FFFFFF"/>
                </a:highlight>
              </a:rPr>
              <a:t>keys</a:t>
            </a:r>
            <a:r>
              <a:rPr lang="nn-NO" sz="2800" dirty="0">
                <a:highlight>
                  <a:srgbClr val="FFFFFF"/>
                </a:highlight>
              </a:rPr>
              <a:t> </a:t>
            </a:r>
            <a:r>
              <a:rPr lang="nn-NO" sz="2800" dirty="0" err="1">
                <a:highlight>
                  <a:srgbClr val="FFFFFF"/>
                </a:highlight>
              </a:rPr>
              <a:t>precies</a:t>
            </a:r>
            <a:r>
              <a:rPr lang="nn-NO" sz="2800" dirty="0">
                <a:highlight>
                  <a:srgbClr val="FFFFFF"/>
                </a:highlight>
              </a:rPr>
              <a:t> </a:t>
            </a:r>
            <a:r>
              <a:rPr lang="nn-NO" sz="2800" dirty="0" err="1">
                <a:highlight>
                  <a:srgbClr val="FFFFFF"/>
                </a:highlight>
              </a:rPr>
              <a:t>overeenkomen</a:t>
            </a:r>
            <a:r>
              <a:rPr lang="nn-NO" sz="2800" dirty="0">
                <a:highlight>
                  <a:srgbClr val="FFFFFF"/>
                </a:highlight>
              </a:rPr>
              <a:t> tussen </a:t>
            </a:r>
            <a:r>
              <a:rPr lang="nn-NO" sz="2800" dirty="0" err="1">
                <a:highlight>
                  <a:srgbClr val="FFFFFF"/>
                </a:highlight>
              </a:rPr>
              <a:t>device</a:t>
            </a:r>
            <a:r>
              <a:rPr lang="nn-NO" sz="2800" dirty="0">
                <a:highlight>
                  <a:srgbClr val="FFFFFF"/>
                </a:highlight>
              </a:rPr>
              <a:t> en TTN, kan </a:t>
            </a:r>
            <a:r>
              <a:rPr lang="nn-NO" sz="2800" dirty="0" err="1">
                <a:highlight>
                  <a:srgbClr val="FFFFFF"/>
                </a:highlight>
              </a:rPr>
              <a:t>een</a:t>
            </a:r>
            <a:r>
              <a:rPr lang="nn-NO" sz="2800" dirty="0">
                <a:highlight>
                  <a:srgbClr val="FFFFFF"/>
                </a:highlight>
              </a:rPr>
              <a:t> </a:t>
            </a:r>
            <a:r>
              <a:rPr lang="nn-NO" sz="2800" dirty="0" err="1">
                <a:highlight>
                  <a:srgbClr val="FFFFFF"/>
                </a:highlight>
              </a:rPr>
              <a:t>device</a:t>
            </a:r>
            <a:r>
              <a:rPr lang="nn-NO" sz="2800" dirty="0">
                <a:highlight>
                  <a:srgbClr val="FFFFFF"/>
                </a:highlight>
              </a:rPr>
              <a:t> </a:t>
            </a:r>
            <a:r>
              <a:rPr lang="nn-NO" sz="2800" dirty="0" err="1">
                <a:highlight>
                  <a:srgbClr val="FFFFFF"/>
                </a:highlight>
              </a:rPr>
              <a:t>succesvol</a:t>
            </a:r>
            <a:r>
              <a:rPr lang="nn-NO" sz="2800" dirty="0">
                <a:highlight>
                  <a:srgbClr val="FFFFFF"/>
                </a:highlight>
              </a:rPr>
              <a:t> </a:t>
            </a:r>
            <a:r>
              <a:rPr lang="nn-NO" sz="2800" dirty="0" err="1">
                <a:highlight>
                  <a:srgbClr val="FFFFFF"/>
                </a:highlight>
              </a:rPr>
              <a:t>joinen</a:t>
            </a:r>
            <a:r>
              <a:rPr lang="nn-NO" sz="2800" dirty="0">
                <a:highlight>
                  <a:srgbClr val="FFFFFF"/>
                </a:highlight>
              </a:rPr>
              <a:t> en data </a:t>
            </a:r>
            <a:r>
              <a:rPr lang="nn-NO" sz="2800" dirty="0" err="1">
                <a:highlight>
                  <a:srgbClr val="FFFFFF"/>
                </a:highlight>
              </a:rPr>
              <a:t>uitwisselen</a:t>
            </a:r>
            <a:r>
              <a:rPr lang="nn-NO" sz="2800" dirty="0">
                <a:highlight>
                  <a:srgbClr val="FFFFFF"/>
                </a:highlight>
              </a:rPr>
              <a:t>.</a:t>
            </a:r>
          </a:p>
        </p:txBody>
      </p:sp>
    </p:spTree>
    <p:extLst>
      <p:ext uri="{BB962C8B-B14F-4D97-AF65-F5344CB8AC3E}">
        <p14:creationId xmlns:p14="http://schemas.microsoft.com/office/powerpoint/2010/main" val="1372879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96D0F-E8D5-9303-3D9A-69282BA7814A}"/>
              </a:ext>
            </a:extLst>
          </p:cNvPr>
          <p:cNvSpPr>
            <a:spLocks noGrp="1"/>
          </p:cNvSpPr>
          <p:nvPr>
            <p:ph type="title"/>
          </p:nvPr>
        </p:nvSpPr>
        <p:spPr/>
        <p:txBody>
          <a:bodyPr/>
          <a:lstStyle/>
          <a:p>
            <a:r>
              <a:rPr lang="en-US" dirty="0"/>
              <a:t>Payload decoder</a:t>
            </a:r>
            <a:endParaRPr lang="en-NL" dirty="0"/>
          </a:p>
        </p:txBody>
      </p:sp>
      <p:sp>
        <p:nvSpPr>
          <p:cNvPr id="9" name="Tijdelijke aanduiding voor inhoud 8">
            <a:extLst>
              <a:ext uri="{FF2B5EF4-FFF2-40B4-BE49-F238E27FC236}">
                <a16:creationId xmlns:a16="http://schemas.microsoft.com/office/drawing/2014/main" id="{CC9C8E59-173E-0620-2CA2-C760AF17CEE5}"/>
              </a:ext>
            </a:extLst>
          </p:cNvPr>
          <p:cNvSpPr>
            <a:spLocks noGrp="1"/>
          </p:cNvSpPr>
          <p:nvPr>
            <p:ph sz="quarter" idx="4"/>
          </p:nvPr>
        </p:nvSpPr>
        <p:spPr>
          <a:xfrm>
            <a:off x="838200" y="1690688"/>
            <a:ext cx="6232451" cy="4658575"/>
          </a:xfrm>
        </p:spPr>
        <p:txBody>
          <a:bodyPr>
            <a:normAutofit/>
          </a:bodyPr>
          <a:lstStyle/>
          <a:p>
            <a:pPr marL="0" indent="0">
              <a:buNone/>
            </a:pPr>
            <a:r>
              <a:rPr lang="nl-NL" dirty="0"/>
              <a:t>Een </a:t>
            </a:r>
            <a:r>
              <a:rPr lang="nl-NL" dirty="0" err="1"/>
              <a:t>LoRaWAN</a:t>
            </a:r>
            <a:r>
              <a:rPr lang="nl-NL" dirty="0"/>
              <a:t>-device verstuurt meestal een compact binair </a:t>
            </a:r>
            <a:r>
              <a:rPr lang="nl-NL" dirty="0" err="1"/>
              <a:t>payload</a:t>
            </a:r>
            <a:r>
              <a:rPr lang="nl-NL" dirty="0"/>
              <a:t>, bijvoorbeeld enkele bytes voor temperatuur, batterijspanning of luchtvochtigheid. Dat is efficiënt op de radioverbinding, maar voor mensen slecht leesbaar. In The </a:t>
            </a:r>
            <a:r>
              <a:rPr lang="nl-NL" dirty="0" err="1"/>
              <a:t>Things</a:t>
            </a:r>
            <a:r>
              <a:rPr lang="nl-NL" dirty="0"/>
              <a:t> Stack kun je daarom een </a:t>
            </a:r>
            <a:r>
              <a:rPr lang="nl-NL" dirty="0" err="1"/>
              <a:t>payload</a:t>
            </a:r>
            <a:r>
              <a:rPr lang="nl-NL" dirty="0"/>
              <a:t> </a:t>
            </a:r>
            <a:r>
              <a:rPr lang="nl-NL" dirty="0" err="1"/>
              <a:t>formatter</a:t>
            </a:r>
            <a:r>
              <a:rPr lang="nl-NL" dirty="0"/>
              <a:t> / decoder instellen. Die zet de ruwe bytes om naar een leesbaar JSON-object, zoals </a:t>
            </a:r>
            <a:r>
              <a:rPr lang="nl-NL" i="1" dirty="0"/>
              <a:t>{ "</a:t>
            </a:r>
            <a:r>
              <a:rPr lang="nl-NL" i="1" dirty="0" err="1"/>
              <a:t>temperature_c</a:t>
            </a:r>
            <a:r>
              <a:rPr lang="nl-NL" i="1" dirty="0"/>
              <a:t>": 21.8 }</a:t>
            </a:r>
            <a:r>
              <a:rPr lang="nl-NL" dirty="0"/>
              <a:t>.</a:t>
            </a:r>
          </a:p>
        </p:txBody>
      </p:sp>
      <p:pic>
        <p:nvPicPr>
          <p:cNvPr id="17" name="Afbeelding 16" descr="Afbeelding met tekst, schermopname, software, Multimediasoftware&#10;&#10;Door AI gegenereerde inhoud is mogelijk onjuist.">
            <a:extLst>
              <a:ext uri="{FF2B5EF4-FFF2-40B4-BE49-F238E27FC236}">
                <a16:creationId xmlns:a16="http://schemas.microsoft.com/office/drawing/2014/main" id="{B9831DC1-68EC-F677-F604-96E22ADFC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0651" y="1690688"/>
            <a:ext cx="4871120" cy="4295442"/>
          </a:xfrm>
          <a:prstGeom prst="rect">
            <a:avLst/>
          </a:prstGeom>
        </p:spPr>
      </p:pic>
    </p:spTree>
    <p:extLst>
      <p:ext uri="{BB962C8B-B14F-4D97-AF65-F5344CB8AC3E}">
        <p14:creationId xmlns:p14="http://schemas.microsoft.com/office/powerpoint/2010/main" val="1358296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6E016-5D62-B09E-AF3C-85136D836E48}"/>
              </a:ext>
            </a:extLst>
          </p:cNvPr>
          <p:cNvSpPr>
            <a:spLocks noGrp="1"/>
          </p:cNvSpPr>
          <p:nvPr>
            <p:ph type="title"/>
          </p:nvPr>
        </p:nvSpPr>
        <p:spPr/>
        <p:txBody>
          <a:bodyPr/>
          <a:lstStyle/>
          <a:p>
            <a:r>
              <a:rPr lang="en-US" dirty="0"/>
              <a:t>En dan nu.. Aan de slag!</a:t>
            </a:r>
            <a:endParaRPr lang="en-NL" dirty="0"/>
          </a:p>
        </p:txBody>
      </p:sp>
      <p:sp>
        <p:nvSpPr>
          <p:cNvPr id="3" name="Content Placeholder 2">
            <a:extLst>
              <a:ext uri="{FF2B5EF4-FFF2-40B4-BE49-F238E27FC236}">
                <a16:creationId xmlns:a16="http://schemas.microsoft.com/office/drawing/2014/main" id="{BDAE17AB-7DC7-DDDA-C33E-2F6219D15F37}"/>
              </a:ext>
            </a:extLst>
          </p:cNvPr>
          <p:cNvSpPr>
            <a:spLocks noGrp="1"/>
          </p:cNvSpPr>
          <p:nvPr>
            <p:ph idx="1"/>
          </p:nvPr>
        </p:nvSpPr>
        <p:spPr/>
        <p:txBody>
          <a:bodyPr/>
          <a:lstStyle/>
          <a:p>
            <a:r>
              <a:rPr lang="en-US" dirty="0" err="1"/>
              <a:t>Configureer</a:t>
            </a:r>
            <a:r>
              <a:rPr lang="en-US" dirty="0"/>
              <a:t> je module op de Raspberry Pi Pico W</a:t>
            </a:r>
          </a:p>
          <a:p>
            <a:endParaRPr lang="en-US" dirty="0"/>
          </a:p>
          <a:p>
            <a:r>
              <a:rPr lang="en-US" dirty="0" err="1"/>
              <a:t>Verstuur</a:t>
            </a:r>
            <a:r>
              <a:rPr lang="en-US" dirty="0"/>
              <a:t> data </a:t>
            </a:r>
            <a:r>
              <a:rPr lang="en-US" dirty="0" err="1"/>
              <a:t>naar</a:t>
            </a:r>
            <a:r>
              <a:rPr lang="en-US" dirty="0"/>
              <a:t> het TTN platform</a:t>
            </a:r>
          </a:p>
        </p:txBody>
      </p:sp>
    </p:spTree>
    <p:extLst>
      <p:ext uri="{BB962C8B-B14F-4D97-AF65-F5344CB8AC3E}">
        <p14:creationId xmlns:p14="http://schemas.microsoft.com/office/powerpoint/2010/main" val="2067029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803</TotalTime>
  <Words>528</Words>
  <Application>Microsoft Macintosh PowerPoint</Application>
  <PresentationFormat>Breedbeeld</PresentationFormat>
  <Paragraphs>41</Paragraphs>
  <Slides>9</Slides>
  <Notes>1</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9</vt:i4>
      </vt:variant>
    </vt:vector>
  </HeadingPairs>
  <TitlesOfParts>
    <vt:vector size="13" baseType="lpstr">
      <vt:lpstr>Aptos</vt:lpstr>
      <vt:lpstr>Aptos Display</vt:lpstr>
      <vt:lpstr>Arial</vt:lpstr>
      <vt:lpstr>Office Theme</vt:lpstr>
      <vt:lpstr> </vt:lpstr>
      <vt:lpstr>Disclaimer</vt:lpstr>
      <vt:lpstr>Planning</vt:lpstr>
      <vt:lpstr>LoRa en LoRaWAN?</vt:lpstr>
      <vt:lpstr>Hoe werkt de technologie?</vt:lpstr>
      <vt:lpstr>Verbinding maken?</vt:lpstr>
      <vt:lpstr>Keys toelichting</vt:lpstr>
      <vt:lpstr>Payload decoder</vt:lpstr>
      <vt:lpstr>En dan nu.. Aan de slag!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Goris</dc:creator>
  <cp:lastModifiedBy>Harm Snippe</cp:lastModifiedBy>
  <cp:revision>22</cp:revision>
  <dcterms:created xsi:type="dcterms:W3CDTF">2026-02-25T08:05:27Z</dcterms:created>
  <dcterms:modified xsi:type="dcterms:W3CDTF">2026-03-18T09:28:41Z</dcterms:modified>
</cp:coreProperties>
</file>