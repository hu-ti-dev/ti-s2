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75" r:id="rId3"/>
    <p:sldId id="276" r:id="rId4"/>
    <p:sldId id="303" r:id="rId5"/>
    <p:sldId id="304" r:id="rId6"/>
    <p:sldId id="283" r:id="rId7"/>
    <p:sldId id="305" r:id="rId8"/>
    <p:sldId id="306" r:id="rId9"/>
    <p:sldId id="307" r:id="rId10"/>
    <p:sldId id="302" r:id="rId11"/>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68493"/>
  </p:normalViewPr>
  <p:slideViewPr>
    <p:cSldViewPr snapToGrid="0">
      <p:cViewPr varScale="1">
        <p:scale>
          <a:sx n="43" d="100"/>
          <a:sy n="43" d="100"/>
        </p:scale>
        <p:origin x="157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A656B2-ED32-8044-9B2A-829653741135}" type="datetimeFigureOut">
              <a:rPr lang="nl-NL" smtClean="0"/>
              <a:t>11-5-2026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B76DE4-D675-834A-A8C5-F6A601043E90}" type="slidenum">
              <a:rPr lang="nl-NL" smtClean="0"/>
              <a:t>‹nr.›</a:t>
            </a:fld>
            <a:endParaRPr lang="nl-NL"/>
          </a:p>
        </p:txBody>
      </p:sp>
    </p:spTree>
    <p:extLst>
      <p:ext uri="{BB962C8B-B14F-4D97-AF65-F5344CB8AC3E}">
        <p14:creationId xmlns:p14="http://schemas.microsoft.com/office/powerpoint/2010/main" val="3340391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Samenhang tussen hardware, opslag, netwerk en software.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p:txBody>
      </p:sp>
      <p:sp>
        <p:nvSpPr>
          <p:cNvPr id="4" name="Tijdelijke aanduiding voor dianummer 3"/>
          <p:cNvSpPr>
            <a:spLocks noGrp="1"/>
          </p:cNvSpPr>
          <p:nvPr>
            <p:ph type="sldNum" sz="quarter" idx="5"/>
          </p:nvPr>
        </p:nvSpPr>
        <p:spPr/>
        <p:txBody>
          <a:bodyPr/>
          <a:lstStyle/>
          <a:p>
            <a:fld id="{11B76DE4-D675-834A-A8C5-F6A601043E90}" type="slidenum">
              <a:rPr lang="nl-NL" smtClean="0"/>
              <a:t>4</a:t>
            </a:fld>
            <a:endParaRPr lang="nl-NL"/>
          </a:p>
        </p:txBody>
      </p:sp>
    </p:spTree>
    <p:extLst>
      <p:ext uri="{BB962C8B-B14F-4D97-AF65-F5344CB8AC3E}">
        <p14:creationId xmlns:p14="http://schemas.microsoft.com/office/powerpoint/2010/main" val="13739141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79EBC-2B04-30CF-5A0C-49FDC743ABD2}"/>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EAC0B5CC-23F1-4D09-72FB-8BA103AAC0DB}"/>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D01218AB-FFD3-EA1A-58AA-5C10AC4A2053}"/>
              </a:ext>
            </a:extLst>
          </p:cNvPr>
          <p:cNvSpPr>
            <a:spLocks noGrp="1"/>
          </p:cNvSpPr>
          <p:nvPr>
            <p:ph type="body" idx="1"/>
          </p:nvPr>
        </p:nvSpPr>
        <p:spPr/>
        <p:txBody>
          <a:bodyPr/>
          <a:lstStyle/>
          <a:p>
            <a:endParaRPr lang="nl-NL" sz="1200" b="0" i="0" kern="1200" dirty="0">
              <a:solidFill>
                <a:schemeClr val="tx1"/>
              </a:solidFill>
              <a:effectLst/>
              <a:latin typeface="+mn-lt"/>
              <a:ea typeface="+mn-ea"/>
              <a:cs typeface="+mn-cs"/>
            </a:endParaRPr>
          </a:p>
        </p:txBody>
      </p:sp>
      <p:sp>
        <p:nvSpPr>
          <p:cNvPr id="4" name="Tijdelijke aanduiding voor dianummer 3">
            <a:extLst>
              <a:ext uri="{FF2B5EF4-FFF2-40B4-BE49-F238E27FC236}">
                <a16:creationId xmlns:a16="http://schemas.microsoft.com/office/drawing/2014/main" id="{FA0309A3-1623-5309-07DD-14D5A4C6D306}"/>
              </a:ext>
            </a:extLst>
          </p:cNvPr>
          <p:cNvSpPr>
            <a:spLocks noGrp="1"/>
          </p:cNvSpPr>
          <p:nvPr>
            <p:ph type="sldNum" sz="quarter" idx="5"/>
          </p:nvPr>
        </p:nvSpPr>
        <p:spPr/>
        <p:txBody>
          <a:bodyPr/>
          <a:lstStyle/>
          <a:p>
            <a:fld id="{11B76DE4-D675-834A-A8C5-F6A601043E90}" type="slidenum">
              <a:rPr lang="nl-NL" smtClean="0"/>
              <a:t>5</a:t>
            </a:fld>
            <a:endParaRPr lang="nl-NL"/>
          </a:p>
        </p:txBody>
      </p:sp>
    </p:spTree>
    <p:extLst>
      <p:ext uri="{BB962C8B-B14F-4D97-AF65-F5344CB8AC3E}">
        <p14:creationId xmlns:p14="http://schemas.microsoft.com/office/powerpoint/2010/main" val="7447604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11B76DE4-D675-834A-A8C5-F6A601043E90}" type="slidenum">
              <a:rPr lang="nl-NL" smtClean="0"/>
              <a:t>6</a:t>
            </a:fld>
            <a:endParaRPr lang="nl-NL"/>
          </a:p>
        </p:txBody>
      </p:sp>
    </p:spTree>
    <p:extLst>
      <p:ext uri="{BB962C8B-B14F-4D97-AF65-F5344CB8AC3E}">
        <p14:creationId xmlns:p14="http://schemas.microsoft.com/office/powerpoint/2010/main" val="1496910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EE3ED-C625-D485-B12A-4627693C89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493813A3-15E4-4A82-0C37-C78C974B19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47A6E590-4365-084E-8D86-237438F0C828}"/>
              </a:ext>
            </a:extLst>
          </p:cNvPr>
          <p:cNvSpPr>
            <a:spLocks noGrp="1"/>
          </p:cNvSpPr>
          <p:nvPr>
            <p:ph type="dt" sz="half" idx="10"/>
          </p:nvPr>
        </p:nvSpPr>
        <p:spPr/>
        <p:txBody>
          <a:bodyPr/>
          <a:lstStyle/>
          <a:p>
            <a:fld id="{3A7CBCB4-1EFE-4E3B-9C8A-BCC4F06648F3}" type="datetimeFigureOut">
              <a:rPr lang="en-NL" smtClean="0"/>
              <a:t>05/11/2026</a:t>
            </a:fld>
            <a:endParaRPr lang="en-NL"/>
          </a:p>
        </p:txBody>
      </p:sp>
      <p:sp>
        <p:nvSpPr>
          <p:cNvPr id="5" name="Footer Placeholder 4">
            <a:extLst>
              <a:ext uri="{FF2B5EF4-FFF2-40B4-BE49-F238E27FC236}">
                <a16:creationId xmlns:a16="http://schemas.microsoft.com/office/drawing/2014/main" id="{52CEEB0B-35A5-1988-FE4A-A0DDB8F70D1B}"/>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87DD50D-9B8A-2C13-F773-603CE7251461}"/>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690383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86F7C-FF25-D565-9C9E-71E7FFCE17C5}"/>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BE41D068-0531-E34C-38C3-83FAF0DA15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308655D2-4934-C937-BAAB-C507B90CFE2A}"/>
              </a:ext>
            </a:extLst>
          </p:cNvPr>
          <p:cNvSpPr>
            <a:spLocks noGrp="1"/>
          </p:cNvSpPr>
          <p:nvPr>
            <p:ph type="dt" sz="half" idx="10"/>
          </p:nvPr>
        </p:nvSpPr>
        <p:spPr/>
        <p:txBody>
          <a:bodyPr/>
          <a:lstStyle/>
          <a:p>
            <a:fld id="{3A7CBCB4-1EFE-4E3B-9C8A-BCC4F06648F3}" type="datetimeFigureOut">
              <a:rPr lang="en-NL" smtClean="0"/>
              <a:t>05/11/2026</a:t>
            </a:fld>
            <a:endParaRPr lang="en-NL"/>
          </a:p>
        </p:txBody>
      </p:sp>
      <p:sp>
        <p:nvSpPr>
          <p:cNvPr id="5" name="Footer Placeholder 4">
            <a:extLst>
              <a:ext uri="{FF2B5EF4-FFF2-40B4-BE49-F238E27FC236}">
                <a16:creationId xmlns:a16="http://schemas.microsoft.com/office/drawing/2014/main" id="{52428325-A2C4-4220-01EB-BC3F1E7E0693}"/>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31813D7-0838-4B74-3000-7D335E87AEB1}"/>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2436853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E0702-102A-8C84-9AD5-3A72F1DDF1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DF76D655-302F-C236-C59A-709D593517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61EB2C-D550-E4F3-658E-5337580C4F97}"/>
              </a:ext>
            </a:extLst>
          </p:cNvPr>
          <p:cNvSpPr>
            <a:spLocks noGrp="1"/>
          </p:cNvSpPr>
          <p:nvPr>
            <p:ph type="dt" sz="half" idx="10"/>
          </p:nvPr>
        </p:nvSpPr>
        <p:spPr/>
        <p:txBody>
          <a:bodyPr/>
          <a:lstStyle/>
          <a:p>
            <a:fld id="{3A7CBCB4-1EFE-4E3B-9C8A-BCC4F06648F3}" type="datetimeFigureOut">
              <a:rPr lang="en-NL" smtClean="0"/>
              <a:t>05/11/2026</a:t>
            </a:fld>
            <a:endParaRPr lang="en-NL"/>
          </a:p>
        </p:txBody>
      </p:sp>
      <p:sp>
        <p:nvSpPr>
          <p:cNvPr id="5" name="Footer Placeholder 4">
            <a:extLst>
              <a:ext uri="{FF2B5EF4-FFF2-40B4-BE49-F238E27FC236}">
                <a16:creationId xmlns:a16="http://schemas.microsoft.com/office/drawing/2014/main" id="{8C68534A-5961-C126-E417-E32FD9F59FD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8B5550C-E667-BD50-8810-F4FAF3573483}"/>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793876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7B925-681D-3003-D861-780F50E289B2}"/>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A044C58C-E09E-4A4A-101C-68C0FDCDEA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D8E2F83C-E752-5EA9-A489-7E22923587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2498F4C9-91AB-3447-5327-4A59F3AC494C}"/>
              </a:ext>
            </a:extLst>
          </p:cNvPr>
          <p:cNvSpPr>
            <a:spLocks noGrp="1"/>
          </p:cNvSpPr>
          <p:nvPr>
            <p:ph type="dt" sz="half" idx="10"/>
          </p:nvPr>
        </p:nvSpPr>
        <p:spPr/>
        <p:txBody>
          <a:bodyPr/>
          <a:lstStyle/>
          <a:p>
            <a:fld id="{3A7CBCB4-1EFE-4E3B-9C8A-BCC4F06648F3}" type="datetimeFigureOut">
              <a:rPr lang="en-NL" smtClean="0"/>
              <a:t>05/11/2026</a:t>
            </a:fld>
            <a:endParaRPr lang="en-NL"/>
          </a:p>
        </p:txBody>
      </p:sp>
      <p:sp>
        <p:nvSpPr>
          <p:cNvPr id="6" name="Footer Placeholder 5">
            <a:extLst>
              <a:ext uri="{FF2B5EF4-FFF2-40B4-BE49-F238E27FC236}">
                <a16:creationId xmlns:a16="http://schemas.microsoft.com/office/drawing/2014/main" id="{21C51336-E949-27D1-45C9-22E0C4D7DB5B}"/>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A613E751-F369-6119-5558-BD23C9E94457}"/>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2376588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7C6AA-E30B-6FE4-743C-C23ACD6D5B54}"/>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76029350-9138-8D3E-2399-3B022D47AF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DD5964-5452-1FF6-8DFF-F388B8AFBA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D6284646-B8ED-6B3F-FB14-419108A296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632628-4D42-6BE0-59BC-E7BD228EF9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F5E5A1A5-CFE0-868C-12AE-E3C8D4FFDF7A}"/>
              </a:ext>
            </a:extLst>
          </p:cNvPr>
          <p:cNvSpPr>
            <a:spLocks noGrp="1"/>
          </p:cNvSpPr>
          <p:nvPr>
            <p:ph type="dt" sz="half" idx="10"/>
          </p:nvPr>
        </p:nvSpPr>
        <p:spPr/>
        <p:txBody>
          <a:bodyPr/>
          <a:lstStyle/>
          <a:p>
            <a:fld id="{3A7CBCB4-1EFE-4E3B-9C8A-BCC4F06648F3}" type="datetimeFigureOut">
              <a:rPr lang="en-NL" smtClean="0"/>
              <a:t>05/11/2026</a:t>
            </a:fld>
            <a:endParaRPr lang="en-NL"/>
          </a:p>
        </p:txBody>
      </p:sp>
      <p:sp>
        <p:nvSpPr>
          <p:cNvPr id="8" name="Footer Placeholder 7">
            <a:extLst>
              <a:ext uri="{FF2B5EF4-FFF2-40B4-BE49-F238E27FC236}">
                <a16:creationId xmlns:a16="http://schemas.microsoft.com/office/drawing/2014/main" id="{071C27F8-D91C-8DE8-B40E-49B4901BFF86}"/>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5AD76DA8-CF6D-9503-8DE4-DE01B8FF7CD5}"/>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1648695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DDF92-A536-4349-5088-087E39B5E162}"/>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E030E612-A177-8943-0797-D054F20A1857}"/>
              </a:ext>
            </a:extLst>
          </p:cNvPr>
          <p:cNvSpPr>
            <a:spLocks noGrp="1"/>
          </p:cNvSpPr>
          <p:nvPr>
            <p:ph type="dt" sz="half" idx="10"/>
          </p:nvPr>
        </p:nvSpPr>
        <p:spPr/>
        <p:txBody>
          <a:bodyPr/>
          <a:lstStyle/>
          <a:p>
            <a:fld id="{3A7CBCB4-1EFE-4E3B-9C8A-BCC4F06648F3}" type="datetimeFigureOut">
              <a:rPr lang="en-NL" smtClean="0"/>
              <a:t>05/11/2026</a:t>
            </a:fld>
            <a:endParaRPr lang="en-NL"/>
          </a:p>
        </p:txBody>
      </p:sp>
      <p:sp>
        <p:nvSpPr>
          <p:cNvPr id="4" name="Footer Placeholder 3">
            <a:extLst>
              <a:ext uri="{FF2B5EF4-FFF2-40B4-BE49-F238E27FC236}">
                <a16:creationId xmlns:a16="http://schemas.microsoft.com/office/drawing/2014/main" id="{7E209C7C-4005-FD5F-933B-6EED46D51E41}"/>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B5DA187B-35A9-37EB-677C-6080EC2256EF}"/>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4065925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D918E3-B18C-8BF7-DCF5-AF18B2B229D7}"/>
              </a:ext>
            </a:extLst>
          </p:cNvPr>
          <p:cNvSpPr>
            <a:spLocks noGrp="1"/>
          </p:cNvSpPr>
          <p:nvPr>
            <p:ph type="dt" sz="half" idx="10"/>
          </p:nvPr>
        </p:nvSpPr>
        <p:spPr/>
        <p:txBody>
          <a:bodyPr/>
          <a:lstStyle/>
          <a:p>
            <a:fld id="{3A7CBCB4-1EFE-4E3B-9C8A-BCC4F06648F3}" type="datetimeFigureOut">
              <a:rPr lang="en-NL" smtClean="0"/>
              <a:t>05/11/2026</a:t>
            </a:fld>
            <a:endParaRPr lang="en-NL"/>
          </a:p>
        </p:txBody>
      </p:sp>
      <p:sp>
        <p:nvSpPr>
          <p:cNvPr id="3" name="Footer Placeholder 2">
            <a:extLst>
              <a:ext uri="{FF2B5EF4-FFF2-40B4-BE49-F238E27FC236}">
                <a16:creationId xmlns:a16="http://schemas.microsoft.com/office/drawing/2014/main" id="{49C36FD0-7198-7E13-7D43-A75865FC0511}"/>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61048651-87A7-399D-AE83-B296B3F0A3B5}"/>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3102596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4BAD-0D16-257B-C318-6127B1262D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B919A3EE-69E9-1AA0-4BE0-B8DB1BDAAD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0B879FBA-CB35-8331-4179-26E6124963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55B652-6D8C-2693-5D51-1D994026BE8E}"/>
              </a:ext>
            </a:extLst>
          </p:cNvPr>
          <p:cNvSpPr>
            <a:spLocks noGrp="1"/>
          </p:cNvSpPr>
          <p:nvPr>
            <p:ph type="dt" sz="half" idx="10"/>
          </p:nvPr>
        </p:nvSpPr>
        <p:spPr/>
        <p:txBody>
          <a:bodyPr/>
          <a:lstStyle/>
          <a:p>
            <a:fld id="{3A7CBCB4-1EFE-4E3B-9C8A-BCC4F06648F3}" type="datetimeFigureOut">
              <a:rPr lang="en-NL" smtClean="0"/>
              <a:t>05/11/2026</a:t>
            </a:fld>
            <a:endParaRPr lang="en-NL"/>
          </a:p>
        </p:txBody>
      </p:sp>
      <p:sp>
        <p:nvSpPr>
          <p:cNvPr id="6" name="Footer Placeholder 5">
            <a:extLst>
              <a:ext uri="{FF2B5EF4-FFF2-40B4-BE49-F238E27FC236}">
                <a16:creationId xmlns:a16="http://schemas.microsoft.com/office/drawing/2014/main" id="{1B0E7C48-8518-3489-E429-71C86730DBC3}"/>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5BA01891-7825-107C-26CF-6AE95EC7EC55}"/>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2421816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453B2-43BF-E87F-E6C7-CC3C3C08C6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1B749BFD-D4F9-30A0-57A5-8F4501A249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2063AD1C-06E0-5910-D0D6-A250C32754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B1ED23-4DF4-B4D3-8BE8-8134798F1A6F}"/>
              </a:ext>
            </a:extLst>
          </p:cNvPr>
          <p:cNvSpPr>
            <a:spLocks noGrp="1"/>
          </p:cNvSpPr>
          <p:nvPr>
            <p:ph type="dt" sz="half" idx="10"/>
          </p:nvPr>
        </p:nvSpPr>
        <p:spPr/>
        <p:txBody>
          <a:bodyPr/>
          <a:lstStyle/>
          <a:p>
            <a:fld id="{3A7CBCB4-1EFE-4E3B-9C8A-BCC4F06648F3}" type="datetimeFigureOut">
              <a:rPr lang="en-NL" smtClean="0"/>
              <a:t>05/11/2026</a:t>
            </a:fld>
            <a:endParaRPr lang="en-NL"/>
          </a:p>
        </p:txBody>
      </p:sp>
      <p:sp>
        <p:nvSpPr>
          <p:cNvPr id="6" name="Footer Placeholder 5">
            <a:extLst>
              <a:ext uri="{FF2B5EF4-FFF2-40B4-BE49-F238E27FC236}">
                <a16:creationId xmlns:a16="http://schemas.microsoft.com/office/drawing/2014/main" id="{FC2BE3F4-E9D9-572F-4E12-8A9B60C4D8BE}"/>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0E25B0C7-99F5-A05C-57DC-C3252AE892A8}"/>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2459097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C0D1A-88F0-F42E-F7EF-0F52C366833A}"/>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8F13A364-EC46-8102-8276-E565CC1F8D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9A2B9DEE-F57A-F098-D1DF-84036CFEF4A4}"/>
              </a:ext>
            </a:extLst>
          </p:cNvPr>
          <p:cNvSpPr>
            <a:spLocks noGrp="1"/>
          </p:cNvSpPr>
          <p:nvPr>
            <p:ph type="dt" sz="half" idx="10"/>
          </p:nvPr>
        </p:nvSpPr>
        <p:spPr/>
        <p:txBody>
          <a:bodyPr/>
          <a:lstStyle/>
          <a:p>
            <a:fld id="{3A7CBCB4-1EFE-4E3B-9C8A-BCC4F06648F3}" type="datetimeFigureOut">
              <a:rPr lang="en-NL" smtClean="0"/>
              <a:t>05/11/2026</a:t>
            </a:fld>
            <a:endParaRPr lang="en-NL"/>
          </a:p>
        </p:txBody>
      </p:sp>
      <p:sp>
        <p:nvSpPr>
          <p:cNvPr id="5" name="Footer Placeholder 4">
            <a:extLst>
              <a:ext uri="{FF2B5EF4-FFF2-40B4-BE49-F238E27FC236}">
                <a16:creationId xmlns:a16="http://schemas.microsoft.com/office/drawing/2014/main" id="{0B3B0157-26F8-2329-17B6-5AC3C5C4A306}"/>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674E13EF-FE0B-5417-875C-AB7DC777FEAD}"/>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1110640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6C9933-15A1-3AA5-291A-DB28446138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2F5B1711-F16A-3EC8-A11F-6BC4D3FAD9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700FAD66-6A57-4C3F-2E66-BA393876838C}"/>
              </a:ext>
            </a:extLst>
          </p:cNvPr>
          <p:cNvSpPr>
            <a:spLocks noGrp="1"/>
          </p:cNvSpPr>
          <p:nvPr>
            <p:ph type="dt" sz="half" idx="10"/>
          </p:nvPr>
        </p:nvSpPr>
        <p:spPr/>
        <p:txBody>
          <a:bodyPr/>
          <a:lstStyle/>
          <a:p>
            <a:fld id="{3A7CBCB4-1EFE-4E3B-9C8A-BCC4F06648F3}" type="datetimeFigureOut">
              <a:rPr lang="en-NL" smtClean="0"/>
              <a:t>05/11/2026</a:t>
            </a:fld>
            <a:endParaRPr lang="en-NL"/>
          </a:p>
        </p:txBody>
      </p:sp>
      <p:sp>
        <p:nvSpPr>
          <p:cNvPr id="5" name="Footer Placeholder 4">
            <a:extLst>
              <a:ext uri="{FF2B5EF4-FFF2-40B4-BE49-F238E27FC236}">
                <a16:creationId xmlns:a16="http://schemas.microsoft.com/office/drawing/2014/main" id="{6DB48BDB-FD44-CECE-749B-27D75C34095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3CAAFD5-EF11-A27E-75E3-FEA4EA05D2DB}"/>
              </a:ext>
            </a:extLst>
          </p:cNvPr>
          <p:cNvSpPr>
            <a:spLocks noGrp="1"/>
          </p:cNvSpPr>
          <p:nvPr>
            <p:ph type="sldNum" sz="quarter" idx="12"/>
          </p:nvPr>
        </p:nvSpPr>
        <p:spPr/>
        <p:txBody>
          <a:bodyPr/>
          <a:lstStyle/>
          <a:p>
            <a:fld id="{E76345A7-8EB6-4FDF-A52B-7AB511DDD562}" type="slidenum">
              <a:rPr lang="en-NL" smtClean="0"/>
              <a:t>‹nr.›</a:t>
            </a:fld>
            <a:endParaRPr lang="en-NL"/>
          </a:p>
        </p:txBody>
      </p:sp>
    </p:spTree>
    <p:extLst>
      <p:ext uri="{BB962C8B-B14F-4D97-AF65-F5344CB8AC3E}">
        <p14:creationId xmlns:p14="http://schemas.microsoft.com/office/powerpoint/2010/main" val="507869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9C3377-B71D-78CE-558E-D0DABD0EE2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54635D7D-5602-B85D-E8A0-134A1070F2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71C6CB69-D146-73A4-EAFA-EA9EF2D68B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7CBCB4-1EFE-4E3B-9C8A-BCC4F06648F3}" type="datetimeFigureOut">
              <a:rPr lang="en-NL" smtClean="0"/>
              <a:t>05/11/2026</a:t>
            </a:fld>
            <a:endParaRPr lang="en-NL"/>
          </a:p>
        </p:txBody>
      </p:sp>
      <p:sp>
        <p:nvSpPr>
          <p:cNvPr id="5" name="Footer Placeholder 4">
            <a:extLst>
              <a:ext uri="{FF2B5EF4-FFF2-40B4-BE49-F238E27FC236}">
                <a16:creationId xmlns:a16="http://schemas.microsoft.com/office/drawing/2014/main" id="{7E7AAAE3-7AA3-10C7-1B3B-5C558D00D0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9F09C6D9-8205-4BC5-6C03-C283B1E989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6345A7-8EB6-4FDF-A52B-7AB511DDD562}" type="slidenum">
              <a:rPr lang="en-NL" smtClean="0"/>
              <a:t>‹nr.›</a:t>
            </a:fld>
            <a:endParaRPr lang="en-NL"/>
          </a:p>
        </p:txBody>
      </p:sp>
    </p:spTree>
    <p:extLst>
      <p:ext uri="{BB962C8B-B14F-4D97-AF65-F5344CB8AC3E}">
        <p14:creationId xmlns:p14="http://schemas.microsoft.com/office/powerpoint/2010/main" val="4044365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www.actility.com/lorawan-architecture-network-server/"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F8705-CC52-EDA9-8709-8CEDE5E45DEF}"/>
              </a:ext>
            </a:extLst>
          </p:cNvPr>
          <p:cNvSpPr>
            <a:spLocks noGrp="1"/>
          </p:cNvSpPr>
          <p:nvPr>
            <p:ph type="ctrTitle"/>
          </p:nvPr>
        </p:nvSpPr>
        <p:spPr/>
        <p:txBody>
          <a:bodyPr>
            <a:normAutofit/>
          </a:bodyPr>
          <a:lstStyle/>
          <a:p>
            <a:pPr algn="l"/>
            <a:r>
              <a:rPr lang="en-US" dirty="0"/>
              <a:t>	</a:t>
            </a:r>
            <a:endParaRPr lang="en-NL" dirty="0"/>
          </a:p>
        </p:txBody>
      </p:sp>
      <p:sp>
        <p:nvSpPr>
          <p:cNvPr id="3" name="Subtitle 2">
            <a:extLst>
              <a:ext uri="{FF2B5EF4-FFF2-40B4-BE49-F238E27FC236}">
                <a16:creationId xmlns:a16="http://schemas.microsoft.com/office/drawing/2014/main" id="{4C725AE0-B86C-082B-7562-44B709DAB14C}"/>
              </a:ext>
            </a:extLst>
          </p:cNvPr>
          <p:cNvSpPr>
            <a:spLocks noGrp="1"/>
          </p:cNvSpPr>
          <p:nvPr>
            <p:ph type="subTitle" idx="1"/>
          </p:nvPr>
        </p:nvSpPr>
        <p:spPr/>
        <p:txBody>
          <a:bodyPr/>
          <a:lstStyle/>
          <a:p>
            <a:r>
              <a:rPr lang="en-US" dirty="0"/>
              <a:t>TI-S2 2526</a:t>
            </a:r>
            <a:endParaRPr lang="en-NL" dirty="0"/>
          </a:p>
        </p:txBody>
      </p:sp>
      <p:sp>
        <p:nvSpPr>
          <p:cNvPr id="9" name="Tekstvak 8">
            <a:extLst>
              <a:ext uri="{FF2B5EF4-FFF2-40B4-BE49-F238E27FC236}">
                <a16:creationId xmlns:a16="http://schemas.microsoft.com/office/drawing/2014/main" id="{6804C375-4FAC-A429-5882-B174397D2102}"/>
              </a:ext>
            </a:extLst>
          </p:cNvPr>
          <p:cNvSpPr txBox="1"/>
          <p:nvPr/>
        </p:nvSpPr>
        <p:spPr>
          <a:xfrm>
            <a:off x="534907" y="6043300"/>
            <a:ext cx="4149213" cy="369332"/>
          </a:xfrm>
          <a:prstGeom prst="rect">
            <a:avLst/>
          </a:prstGeom>
          <a:noFill/>
        </p:spPr>
        <p:txBody>
          <a:bodyPr wrap="none" rtlCol="0">
            <a:spAutoFit/>
          </a:bodyPr>
          <a:lstStyle/>
          <a:p>
            <a:r>
              <a:rPr lang="nl-NL" dirty="0"/>
              <a:t>Image: Source: https://en.wikipedia.org/</a:t>
            </a:r>
          </a:p>
        </p:txBody>
      </p:sp>
      <p:pic>
        <p:nvPicPr>
          <p:cNvPr id="4" name="Afbeelding 3" descr="Ubuntu logo with text: Ubuntu">
            <a:extLst>
              <a:ext uri="{FF2B5EF4-FFF2-40B4-BE49-F238E27FC236}">
                <a16:creationId xmlns:a16="http://schemas.microsoft.com/office/drawing/2014/main" id="{74F03F7F-E94B-956D-F202-02E0E6C54A9A}"/>
              </a:ext>
            </a:extLst>
          </p:cNvPr>
          <p:cNvPicPr>
            <a:picLocks noChangeAspect="1"/>
          </p:cNvPicPr>
          <p:nvPr/>
        </p:nvPicPr>
        <p:blipFill>
          <a:blip r:embed="rId2"/>
          <a:stretch>
            <a:fillRect/>
          </a:stretch>
        </p:blipFill>
        <p:spPr>
          <a:xfrm>
            <a:off x="712212" y="740516"/>
            <a:ext cx="4325889" cy="1522713"/>
          </a:xfrm>
          <a:prstGeom prst="rect">
            <a:avLst/>
          </a:prstGeom>
        </p:spPr>
      </p:pic>
      <p:pic>
        <p:nvPicPr>
          <p:cNvPr id="1026" name="Picture 2">
            <a:extLst>
              <a:ext uri="{FF2B5EF4-FFF2-40B4-BE49-F238E27FC236}">
                <a16:creationId xmlns:a16="http://schemas.microsoft.com/office/drawing/2014/main" id="{890D3130-502F-3EBC-1DCD-D72D6CE6D5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2553" y="740516"/>
            <a:ext cx="4987235" cy="1655762"/>
          </a:xfrm>
          <a:prstGeom prst="rect">
            <a:avLst/>
          </a:prstGeom>
          <a:noFill/>
          <a:extLst>
            <a:ext uri="{909E8E84-426E-40DD-AFC4-6F175D3DCCD1}">
              <a14:hiddenFill xmlns:a14="http://schemas.microsoft.com/office/drawing/2010/main">
                <a:solidFill>
                  <a:srgbClr val="FFFFFF"/>
                </a:solidFill>
              </a14:hiddenFill>
            </a:ext>
          </a:extLst>
        </p:spPr>
      </p:pic>
      <p:sp>
        <p:nvSpPr>
          <p:cNvPr id="10" name="Tekstvak 9">
            <a:extLst>
              <a:ext uri="{FF2B5EF4-FFF2-40B4-BE49-F238E27FC236}">
                <a16:creationId xmlns:a16="http://schemas.microsoft.com/office/drawing/2014/main" id="{083FE318-22E5-33AE-DCBB-2A02E17BA2A2}"/>
              </a:ext>
            </a:extLst>
          </p:cNvPr>
          <p:cNvSpPr txBox="1"/>
          <p:nvPr/>
        </p:nvSpPr>
        <p:spPr>
          <a:xfrm>
            <a:off x="3879175" y="2721114"/>
            <a:ext cx="3208314" cy="707886"/>
          </a:xfrm>
          <a:prstGeom prst="rect">
            <a:avLst/>
          </a:prstGeom>
          <a:noFill/>
        </p:spPr>
        <p:txBody>
          <a:bodyPr wrap="none" rtlCol="0">
            <a:spAutoFit/>
          </a:bodyPr>
          <a:lstStyle/>
          <a:p>
            <a:r>
              <a:rPr lang="nl-NL" sz="4000" dirty="0" err="1"/>
              <a:t>Infrastructure</a:t>
            </a:r>
            <a:endParaRPr lang="nl-NL" sz="4000" dirty="0"/>
          </a:p>
        </p:txBody>
      </p:sp>
    </p:spTree>
    <p:extLst>
      <p:ext uri="{BB962C8B-B14F-4D97-AF65-F5344CB8AC3E}">
        <p14:creationId xmlns:p14="http://schemas.microsoft.com/office/powerpoint/2010/main" val="2735233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8215A-7FB0-4EFA-3DE6-B0F79D1D4735}"/>
              </a:ext>
            </a:extLst>
          </p:cNvPr>
          <p:cNvSpPr>
            <a:spLocks noGrp="1"/>
          </p:cNvSpPr>
          <p:nvPr>
            <p:ph type="title"/>
          </p:nvPr>
        </p:nvSpPr>
        <p:spPr/>
        <p:txBody>
          <a:bodyPr/>
          <a:lstStyle/>
          <a:p>
            <a:r>
              <a:rPr lang="en-US" dirty="0"/>
              <a:t>Disclaimer</a:t>
            </a:r>
            <a:endParaRPr lang="en-NL" dirty="0"/>
          </a:p>
        </p:txBody>
      </p:sp>
      <p:sp>
        <p:nvSpPr>
          <p:cNvPr id="3" name="Text Placeholder 2">
            <a:extLst>
              <a:ext uri="{FF2B5EF4-FFF2-40B4-BE49-F238E27FC236}">
                <a16:creationId xmlns:a16="http://schemas.microsoft.com/office/drawing/2014/main" id="{9BF1A795-79BF-60CD-2CA2-A13398C39E05}"/>
              </a:ext>
            </a:extLst>
          </p:cNvPr>
          <p:cNvSpPr>
            <a:spLocks noGrp="1"/>
          </p:cNvSpPr>
          <p:nvPr>
            <p:ph type="body" idx="1"/>
          </p:nvPr>
        </p:nvSpPr>
        <p:spPr/>
        <p:txBody>
          <a:bodyPr/>
          <a:lstStyle/>
          <a:p>
            <a:r>
              <a:rPr lang="en-US" dirty="0"/>
              <a:t>Alle code in </a:t>
            </a:r>
            <a:r>
              <a:rPr lang="en-US" dirty="0" err="1"/>
              <a:t>deze</a:t>
            </a:r>
            <a:r>
              <a:rPr lang="en-US" dirty="0"/>
              <a:t> slides is wat we ‘slideware’ </a:t>
            </a:r>
            <a:r>
              <a:rPr lang="en-US" dirty="0" err="1"/>
              <a:t>noemen</a:t>
            </a:r>
            <a:r>
              <a:rPr lang="en-US" dirty="0"/>
              <a:t> – </a:t>
            </a:r>
            <a:r>
              <a:rPr lang="en-US" dirty="0" err="1"/>
              <a:t>handig</a:t>
            </a:r>
            <a:r>
              <a:rPr lang="en-US" dirty="0"/>
              <a:t> om </a:t>
            </a:r>
            <a:r>
              <a:rPr lang="en-US" dirty="0" err="1"/>
              <a:t>concepten</a:t>
            </a:r>
            <a:r>
              <a:rPr lang="en-US" dirty="0"/>
              <a:t> </a:t>
            </a:r>
            <a:r>
              <a:rPr lang="en-US" dirty="0" err="1"/>
              <a:t>uit</a:t>
            </a:r>
            <a:r>
              <a:rPr lang="en-US" dirty="0"/>
              <a:t> </a:t>
            </a:r>
            <a:r>
              <a:rPr lang="en-US" dirty="0" err="1"/>
              <a:t>te</a:t>
            </a:r>
            <a:r>
              <a:rPr lang="en-US" dirty="0"/>
              <a:t> </a:t>
            </a:r>
            <a:r>
              <a:rPr lang="en-US" dirty="0" err="1"/>
              <a:t>leggen</a:t>
            </a:r>
            <a:r>
              <a:rPr lang="en-US" dirty="0"/>
              <a:t>, maar </a:t>
            </a:r>
            <a:r>
              <a:rPr lang="en-US" dirty="0" err="1"/>
              <a:t>niet</a:t>
            </a:r>
            <a:r>
              <a:rPr lang="en-US" dirty="0"/>
              <a:t> </a:t>
            </a:r>
            <a:r>
              <a:rPr lang="en-US" dirty="0" err="1"/>
              <a:t>altijd</a:t>
            </a:r>
            <a:r>
              <a:rPr lang="en-US" dirty="0"/>
              <a:t> </a:t>
            </a:r>
            <a:r>
              <a:rPr lang="en-US" dirty="0" err="1"/>
              <a:t>praktisch</a:t>
            </a:r>
            <a:r>
              <a:rPr lang="en-US" dirty="0"/>
              <a:t> in het </a:t>
            </a:r>
            <a:r>
              <a:rPr lang="en-US" dirty="0" err="1"/>
              <a:t>echte</a:t>
            </a:r>
            <a:r>
              <a:rPr lang="en-US" dirty="0"/>
              <a:t> </a:t>
            </a:r>
            <a:r>
              <a:rPr lang="en-US" dirty="0" err="1"/>
              <a:t>leven</a:t>
            </a:r>
            <a:r>
              <a:rPr lang="en-US" dirty="0"/>
              <a:t>. Op GitHub </a:t>
            </a:r>
            <a:r>
              <a:rPr lang="en-US" dirty="0" err="1"/>
              <a:t>vinden</a:t>
            </a:r>
            <a:r>
              <a:rPr lang="en-US" dirty="0"/>
              <a:t> </a:t>
            </a:r>
            <a:r>
              <a:rPr lang="en-US" dirty="0" err="1"/>
              <a:t>jullie</a:t>
            </a:r>
            <a:r>
              <a:rPr lang="en-US" dirty="0"/>
              <a:t> </a:t>
            </a:r>
            <a:r>
              <a:rPr lang="en-US" dirty="0" err="1"/>
              <a:t>relevantere</a:t>
            </a:r>
            <a:r>
              <a:rPr lang="en-US" dirty="0"/>
              <a:t> code </a:t>
            </a:r>
            <a:r>
              <a:rPr lang="en-US" dirty="0" err="1"/>
              <a:t>voorbeelden</a:t>
            </a:r>
            <a:r>
              <a:rPr lang="en-US" dirty="0"/>
              <a:t>, maar die </a:t>
            </a:r>
            <a:r>
              <a:rPr lang="en-US" dirty="0" err="1"/>
              <a:t>passen</a:t>
            </a:r>
            <a:r>
              <a:rPr lang="en-US" dirty="0"/>
              <a:t> (</a:t>
            </a:r>
            <a:r>
              <a:rPr lang="en-US" dirty="0" err="1"/>
              <a:t>vaak</a:t>
            </a:r>
            <a:r>
              <a:rPr lang="en-US" dirty="0"/>
              <a:t>) </a:t>
            </a:r>
            <a:r>
              <a:rPr lang="en-US" dirty="0" err="1"/>
              <a:t>niet</a:t>
            </a:r>
            <a:r>
              <a:rPr lang="en-US" dirty="0"/>
              <a:t> op slides.</a:t>
            </a:r>
            <a:endParaRPr lang="en-NL" dirty="0"/>
          </a:p>
        </p:txBody>
      </p:sp>
    </p:spTree>
    <p:extLst>
      <p:ext uri="{BB962C8B-B14F-4D97-AF65-F5344CB8AC3E}">
        <p14:creationId xmlns:p14="http://schemas.microsoft.com/office/powerpoint/2010/main" val="3314731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DF2E6-0DFE-CECE-1DE5-ADD5A832C2D7}"/>
              </a:ext>
            </a:extLst>
          </p:cNvPr>
          <p:cNvSpPr>
            <a:spLocks noGrp="1"/>
          </p:cNvSpPr>
          <p:nvPr>
            <p:ph type="title"/>
          </p:nvPr>
        </p:nvSpPr>
        <p:spPr/>
        <p:txBody>
          <a:bodyPr/>
          <a:lstStyle/>
          <a:p>
            <a:r>
              <a:rPr lang="en-US" dirty="0"/>
              <a:t>Planning</a:t>
            </a:r>
            <a:endParaRPr lang="en-NL" dirty="0"/>
          </a:p>
        </p:txBody>
      </p:sp>
      <p:sp>
        <p:nvSpPr>
          <p:cNvPr id="3" name="Content Placeholder 2">
            <a:extLst>
              <a:ext uri="{FF2B5EF4-FFF2-40B4-BE49-F238E27FC236}">
                <a16:creationId xmlns:a16="http://schemas.microsoft.com/office/drawing/2014/main" id="{98693B14-E801-8B4A-6E20-50F836DB6207}"/>
              </a:ext>
            </a:extLst>
          </p:cNvPr>
          <p:cNvSpPr>
            <a:spLocks noGrp="1"/>
          </p:cNvSpPr>
          <p:nvPr>
            <p:ph idx="1"/>
          </p:nvPr>
        </p:nvSpPr>
        <p:spPr/>
        <p:txBody>
          <a:bodyPr/>
          <a:lstStyle/>
          <a:p>
            <a:r>
              <a:rPr lang="en-US" dirty="0"/>
              <a:t>Korte </a:t>
            </a:r>
            <a:r>
              <a:rPr lang="en-US" dirty="0" err="1"/>
              <a:t>toelichting</a:t>
            </a:r>
            <a:r>
              <a:rPr lang="en-US" dirty="0"/>
              <a:t> over Infrastructure </a:t>
            </a:r>
            <a:r>
              <a:rPr lang="en-US" dirty="0" err="1"/>
              <a:t>groepsopdracht</a:t>
            </a:r>
            <a:endParaRPr lang="en-US" dirty="0"/>
          </a:p>
          <a:p>
            <a:r>
              <a:rPr lang="en-US" dirty="0"/>
              <a:t>Node-Red</a:t>
            </a:r>
          </a:p>
          <a:p>
            <a:r>
              <a:rPr lang="en-US" dirty="0"/>
              <a:t>Flask</a:t>
            </a:r>
          </a:p>
          <a:p>
            <a:r>
              <a:rPr lang="en-US" dirty="0"/>
              <a:t>Aan de slag!</a:t>
            </a:r>
          </a:p>
          <a:p>
            <a:endParaRPr lang="en-US" dirty="0"/>
          </a:p>
        </p:txBody>
      </p:sp>
    </p:spTree>
    <p:extLst>
      <p:ext uri="{BB962C8B-B14F-4D97-AF65-F5344CB8AC3E}">
        <p14:creationId xmlns:p14="http://schemas.microsoft.com/office/powerpoint/2010/main" val="3464623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E4285-9E74-A236-8DDA-513CB654D0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B05D05-EF81-FEEF-4D20-8556CD7A902E}"/>
              </a:ext>
            </a:extLst>
          </p:cNvPr>
          <p:cNvSpPr>
            <a:spLocks noGrp="1"/>
          </p:cNvSpPr>
          <p:nvPr>
            <p:ph type="title"/>
          </p:nvPr>
        </p:nvSpPr>
        <p:spPr/>
        <p:txBody>
          <a:bodyPr/>
          <a:lstStyle/>
          <a:p>
            <a:r>
              <a:rPr lang="en-US" dirty="0"/>
              <a:t>Applications</a:t>
            </a:r>
            <a:endParaRPr lang="en-NL" dirty="0"/>
          </a:p>
        </p:txBody>
      </p:sp>
      <p:pic>
        <p:nvPicPr>
          <p:cNvPr id="5" name="Afbeelding 4" descr="Afbeelding met diagram, tekst, schets, lijn&#10;&#10;Door AI gegenereerde inhoud is mogelijk onjuist.">
            <a:extLst>
              <a:ext uri="{FF2B5EF4-FFF2-40B4-BE49-F238E27FC236}">
                <a16:creationId xmlns:a16="http://schemas.microsoft.com/office/drawing/2014/main" id="{4943005D-1A11-1B38-09E3-0E36D74E8B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054620"/>
            <a:ext cx="5652977" cy="2748760"/>
          </a:xfrm>
          <a:prstGeom prst="rect">
            <a:avLst/>
          </a:prstGeom>
        </p:spPr>
      </p:pic>
      <p:sp>
        <p:nvSpPr>
          <p:cNvPr id="6" name="Tekstvak 5">
            <a:extLst>
              <a:ext uri="{FF2B5EF4-FFF2-40B4-BE49-F238E27FC236}">
                <a16:creationId xmlns:a16="http://schemas.microsoft.com/office/drawing/2014/main" id="{23FAA8D9-1D00-D26C-BEC3-40818C78CB63}"/>
              </a:ext>
            </a:extLst>
          </p:cNvPr>
          <p:cNvSpPr txBox="1"/>
          <p:nvPr/>
        </p:nvSpPr>
        <p:spPr>
          <a:xfrm>
            <a:off x="981740" y="4832769"/>
            <a:ext cx="2464136" cy="369332"/>
          </a:xfrm>
          <a:prstGeom prst="rect">
            <a:avLst/>
          </a:prstGeom>
          <a:noFill/>
        </p:spPr>
        <p:txBody>
          <a:bodyPr wrap="none" rtlCol="0">
            <a:spAutoFit/>
          </a:bodyPr>
          <a:lstStyle/>
          <a:p>
            <a:r>
              <a:rPr lang="nl-NL" dirty="0"/>
              <a:t>Image: Source: </a:t>
            </a:r>
            <a:r>
              <a:rPr lang="nl-NL" dirty="0">
                <a:hlinkClick r:id="rId4"/>
              </a:rPr>
              <a:t>Actillity</a:t>
            </a:r>
            <a:endParaRPr lang="nl-NL" dirty="0"/>
          </a:p>
        </p:txBody>
      </p:sp>
      <p:sp>
        <p:nvSpPr>
          <p:cNvPr id="7" name="Tekstvak 6">
            <a:extLst>
              <a:ext uri="{FF2B5EF4-FFF2-40B4-BE49-F238E27FC236}">
                <a16:creationId xmlns:a16="http://schemas.microsoft.com/office/drawing/2014/main" id="{512493F1-01F2-9991-EF7D-836F37E2C416}"/>
              </a:ext>
            </a:extLst>
          </p:cNvPr>
          <p:cNvSpPr txBox="1"/>
          <p:nvPr/>
        </p:nvSpPr>
        <p:spPr>
          <a:xfrm>
            <a:off x="7151426" y="2054620"/>
            <a:ext cx="4708478" cy="1815882"/>
          </a:xfrm>
          <a:prstGeom prst="rect">
            <a:avLst/>
          </a:prstGeom>
          <a:noFill/>
        </p:spPr>
        <p:txBody>
          <a:bodyPr wrap="square" rtlCol="0">
            <a:spAutoFit/>
          </a:bodyPr>
          <a:lstStyle/>
          <a:p>
            <a:r>
              <a:rPr lang="nl-NL" sz="2800" dirty="0"/>
              <a:t>Begrijpen, tonen en gebruiken van data in een eenvoudige applicatie of dashboard.</a:t>
            </a:r>
          </a:p>
        </p:txBody>
      </p:sp>
    </p:spTree>
    <p:extLst>
      <p:ext uri="{BB962C8B-B14F-4D97-AF65-F5344CB8AC3E}">
        <p14:creationId xmlns:p14="http://schemas.microsoft.com/office/powerpoint/2010/main" val="2383492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E5A98-6E8E-F8F4-3445-5E096FEAB6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BD9CD5-47C7-2725-C3A3-7732D7611E8B}"/>
              </a:ext>
            </a:extLst>
          </p:cNvPr>
          <p:cNvSpPr>
            <a:spLocks noGrp="1"/>
          </p:cNvSpPr>
          <p:nvPr>
            <p:ph type="title"/>
          </p:nvPr>
        </p:nvSpPr>
        <p:spPr/>
        <p:txBody>
          <a:bodyPr/>
          <a:lstStyle/>
          <a:p>
            <a:r>
              <a:rPr lang="nl-NL" dirty="0"/>
              <a:t>Wat hebben we al gedaan?</a:t>
            </a:r>
            <a:endParaRPr lang="en-NL" dirty="0"/>
          </a:p>
        </p:txBody>
      </p:sp>
      <p:sp>
        <p:nvSpPr>
          <p:cNvPr id="5" name="Content Placeholder 2">
            <a:extLst>
              <a:ext uri="{FF2B5EF4-FFF2-40B4-BE49-F238E27FC236}">
                <a16:creationId xmlns:a16="http://schemas.microsoft.com/office/drawing/2014/main" id="{3A5B8046-6352-79EC-93C1-DF36E0407FF5}"/>
              </a:ext>
            </a:extLst>
          </p:cNvPr>
          <p:cNvSpPr>
            <a:spLocks noGrp="1"/>
          </p:cNvSpPr>
          <p:nvPr>
            <p:ph idx="1"/>
          </p:nvPr>
        </p:nvSpPr>
        <p:spPr>
          <a:xfrm>
            <a:off x="838200" y="1825625"/>
            <a:ext cx="10653215" cy="4351338"/>
          </a:xfrm>
        </p:spPr>
        <p:txBody>
          <a:bodyPr>
            <a:normAutofit/>
          </a:bodyPr>
          <a:lstStyle/>
          <a:p>
            <a:pPr marL="0" indent="0">
              <a:buNone/>
            </a:pPr>
            <a:r>
              <a:rPr lang="nl-NL" dirty="0"/>
              <a:t>Jullie hebben een </a:t>
            </a:r>
            <a:r>
              <a:rPr lang="nl-NL" dirty="0" err="1"/>
              <a:t>Raspberry</a:t>
            </a:r>
            <a:r>
              <a:rPr lang="nl-NL" dirty="0"/>
              <a:t> Pi ingericht met een besturingssysteem en Docker. In Docker draaien onder andere Postgres, MQTT, Node-RED en </a:t>
            </a:r>
            <a:r>
              <a:rPr lang="nl-NL" dirty="0" err="1"/>
              <a:t>Flask</a:t>
            </a:r>
            <a:r>
              <a:rPr lang="nl-NL" dirty="0"/>
              <a:t>. Daarnaast is er een Python bridge gemaakt tussen The </a:t>
            </a:r>
            <a:r>
              <a:rPr lang="nl-NL" dirty="0" err="1"/>
              <a:t>Things</a:t>
            </a:r>
            <a:r>
              <a:rPr lang="nl-NL" dirty="0"/>
              <a:t> Network en jullie eigen MQTT broker. Daarmee komt de data van jullie </a:t>
            </a:r>
            <a:r>
              <a:rPr lang="nl-NL" dirty="0" err="1"/>
              <a:t>LoRaWAN</a:t>
            </a:r>
            <a:r>
              <a:rPr lang="nl-NL" dirty="0"/>
              <a:t>-node in jullie eigen systeem terecht.</a:t>
            </a:r>
          </a:p>
        </p:txBody>
      </p:sp>
    </p:spTree>
    <p:extLst>
      <p:ext uri="{BB962C8B-B14F-4D97-AF65-F5344CB8AC3E}">
        <p14:creationId xmlns:p14="http://schemas.microsoft.com/office/powerpoint/2010/main" val="4168891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96D0F-E8D5-9303-3D9A-69282BA7814A}"/>
              </a:ext>
            </a:extLst>
          </p:cNvPr>
          <p:cNvSpPr>
            <a:spLocks noGrp="1"/>
          </p:cNvSpPr>
          <p:nvPr>
            <p:ph type="title"/>
          </p:nvPr>
        </p:nvSpPr>
        <p:spPr/>
        <p:txBody>
          <a:bodyPr/>
          <a:lstStyle/>
          <a:p>
            <a:r>
              <a:rPr lang="nl-NL" dirty="0"/>
              <a:t>Doel van deze opdracht</a:t>
            </a:r>
            <a:endParaRPr lang="en-NL" dirty="0"/>
          </a:p>
        </p:txBody>
      </p:sp>
      <p:sp>
        <p:nvSpPr>
          <p:cNvPr id="3" name="Tekstvak 2">
            <a:extLst>
              <a:ext uri="{FF2B5EF4-FFF2-40B4-BE49-F238E27FC236}">
                <a16:creationId xmlns:a16="http://schemas.microsoft.com/office/drawing/2014/main" id="{423811C6-2E95-4741-FD34-1765D403ED0A}"/>
              </a:ext>
            </a:extLst>
          </p:cNvPr>
          <p:cNvSpPr txBox="1"/>
          <p:nvPr/>
        </p:nvSpPr>
        <p:spPr>
          <a:xfrm>
            <a:off x="838200" y="1690688"/>
            <a:ext cx="10515600" cy="2246769"/>
          </a:xfrm>
          <a:prstGeom prst="rect">
            <a:avLst/>
          </a:prstGeom>
          <a:noFill/>
        </p:spPr>
        <p:txBody>
          <a:bodyPr wrap="square" rtlCol="0">
            <a:spAutoFit/>
          </a:bodyPr>
          <a:lstStyle/>
          <a:p>
            <a:r>
              <a:rPr lang="nl-NL" sz="2800" dirty="0"/>
              <a:t>Visualiseer de data van een sensor node. Gebruik bijvoorbeeld de 1-Wire temperatuursensor of een BME280. De laatste sensorwaarde moet via MQTT beschikbaar zijn. Daarna maak je een eenvoudige weergave, bijvoorbeeld met een Node-RED dashboard of een kleine </a:t>
            </a:r>
            <a:r>
              <a:rPr lang="nl-NL" sz="2800" dirty="0" err="1"/>
              <a:t>Flask</a:t>
            </a:r>
            <a:r>
              <a:rPr lang="nl-NL" sz="2800" dirty="0"/>
              <a:t>-webpagina.</a:t>
            </a:r>
          </a:p>
        </p:txBody>
      </p:sp>
    </p:spTree>
    <p:extLst>
      <p:ext uri="{BB962C8B-B14F-4D97-AF65-F5344CB8AC3E}">
        <p14:creationId xmlns:p14="http://schemas.microsoft.com/office/powerpoint/2010/main" val="1358296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F6EF0-DC44-2242-F5DF-88629CA632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9A882B-2972-2489-C99D-A91549CE14FC}"/>
              </a:ext>
            </a:extLst>
          </p:cNvPr>
          <p:cNvSpPr>
            <a:spLocks noGrp="1"/>
          </p:cNvSpPr>
          <p:nvPr>
            <p:ph type="title"/>
          </p:nvPr>
        </p:nvSpPr>
        <p:spPr/>
        <p:txBody>
          <a:bodyPr/>
          <a:lstStyle/>
          <a:p>
            <a:r>
              <a:rPr lang="nl-NL" dirty="0"/>
              <a:t>Visualiseren met Node-RED</a:t>
            </a:r>
            <a:endParaRPr lang="en-NL" dirty="0"/>
          </a:p>
        </p:txBody>
      </p:sp>
      <p:sp>
        <p:nvSpPr>
          <p:cNvPr id="9" name="Tijdelijke aanduiding voor inhoud 8">
            <a:extLst>
              <a:ext uri="{FF2B5EF4-FFF2-40B4-BE49-F238E27FC236}">
                <a16:creationId xmlns:a16="http://schemas.microsoft.com/office/drawing/2014/main" id="{3AF2C2DD-704C-AB71-E0D5-F2F6BB65138B}"/>
              </a:ext>
            </a:extLst>
          </p:cNvPr>
          <p:cNvSpPr>
            <a:spLocks noGrp="1"/>
          </p:cNvSpPr>
          <p:nvPr>
            <p:ph sz="quarter" idx="4"/>
          </p:nvPr>
        </p:nvSpPr>
        <p:spPr>
          <a:xfrm>
            <a:off x="838200" y="1690689"/>
            <a:ext cx="7376410" cy="4500250"/>
          </a:xfrm>
        </p:spPr>
        <p:txBody>
          <a:bodyPr>
            <a:normAutofit/>
          </a:bodyPr>
          <a:lstStyle/>
          <a:p>
            <a:pPr marL="0" indent="0">
              <a:buNone/>
            </a:pPr>
            <a:r>
              <a:rPr lang="nl-NL" dirty="0"/>
              <a:t>Node-RED is geschikt om snel datastromen te bouwen zonder veel programmeercode. Je kunt MQTT-berichten ontvangen, data omzetten, waarden filteren en deze tonen in een dashboard. Denk aan een actuele temperatuurwaarde, een grafiek over tijd of een statusmelding wanneer een waarde te hoog of te laag wordt.</a:t>
            </a:r>
          </a:p>
        </p:txBody>
      </p:sp>
      <p:pic>
        <p:nvPicPr>
          <p:cNvPr id="3" name="Picture 4" descr="Node-RED logo">
            <a:extLst>
              <a:ext uri="{FF2B5EF4-FFF2-40B4-BE49-F238E27FC236}">
                <a16:creationId xmlns:a16="http://schemas.microsoft.com/office/drawing/2014/main" id="{9FBE0462-5722-4D29-B257-1E25C5B625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01101" y="1630186"/>
            <a:ext cx="2772130" cy="2772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7408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23BC7-35BC-AD12-7601-5428E2CD47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A70989-2F75-9CF5-FC9D-FCEE3E8A3AE9}"/>
              </a:ext>
            </a:extLst>
          </p:cNvPr>
          <p:cNvSpPr>
            <a:spLocks noGrp="1"/>
          </p:cNvSpPr>
          <p:nvPr>
            <p:ph type="title"/>
          </p:nvPr>
        </p:nvSpPr>
        <p:spPr/>
        <p:txBody>
          <a:bodyPr/>
          <a:lstStyle/>
          <a:p>
            <a:r>
              <a:rPr lang="nl-NL" dirty="0"/>
              <a:t>Webapplicatie met </a:t>
            </a:r>
            <a:r>
              <a:rPr lang="nl-NL" dirty="0" err="1"/>
              <a:t>Flask</a:t>
            </a:r>
            <a:endParaRPr lang="en-NL" dirty="0"/>
          </a:p>
        </p:txBody>
      </p:sp>
      <p:sp>
        <p:nvSpPr>
          <p:cNvPr id="9" name="Tijdelijke aanduiding voor inhoud 8">
            <a:extLst>
              <a:ext uri="{FF2B5EF4-FFF2-40B4-BE49-F238E27FC236}">
                <a16:creationId xmlns:a16="http://schemas.microsoft.com/office/drawing/2014/main" id="{0F23F7B5-7806-A8B6-78BA-A1D74A1C4353}"/>
              </a:ext>
            </a:extLst>
          </p:cNvPr>
          <p:cNvSpPr>
            <a:spLocks noGrp="1"/>
          </p:cNvSpPr>
          <p:nvPr>
            <p:ph sz="quarter" idx="4"/>
          </p:nvPr>
        </p:nvSpPr>
        <p:spPr>
          <a:xfrm>
            <a:off x="838200" y="1690689"/>
            <a:ext cx="6545264" cy="4500250"/>
          </a:xfrm>
        </p:spPr>
        <p:txBody>
          <a:bodyPr>
            <a:normAutofit/>
          </a:bodyPr>
          <a:lstStyle/>
          <a:p>
            <a:pPr marL="0" indent="0">
              <a:buNone/>
            </a:pPr>
            <a:r>
              <a:rPr lang="nl-NL" dirty="0" err="1"/>
              <a:t>Flask</a:t>
            </a:r>
            <a:r>
              <a:rPr lang="nl-NL" dirty="0"/>
              <a:t> kan gebruikt worden om zelf een kleine webapplicatie te maken. Bijvoorbeeld een pagina die de laatste sensorwaarde toont of data uit Postgres leest. Hiermee leer je hoe een backend werkt, hoe routes worden gemaakt en hoe data vanuit Python aan een webpagina wordt doorgegeven.</a:t>
            </a:r>
          </a:p>
        </p:txBody>
      </p:sp>
      <p:pic>
        <p:nvPicPr>
          <p:cNvPr id="4" name="Graphic 3">
            <a:extLst>
              <a:ext uri="{FF2B5EF4-FFF2-40B4-BE49-F238E27FC236}">
                <a16:creationId xmlns:a16="http://schemas.microsoft.com/office/drawing/2014/main" id="{E364462D-26A7-E7D0-8292-7823C223122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709096" y="556797"/>
            <a:ext cx="3971924" cy="1687787"/>
          </a:xfrm>
          <a:prstGeom prst="rect">
            <a:avLst/>
          </a:prstGeom>
        </p:spPr>
      </p:pic>
    </p:spTree>
    <p:extLst>
      <p:ext uri="{BB962C8B-B14F-4D97-AF65-F5344CB8AC3E}">
        <p14:creationId xmlns:p14="http://schemas.microsoft.com/office/powerpoint/2010/main" val="3365347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59FDA-B82A-98CC-0756-102240D4E6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4A2B0-B2B8-98CB-FEC9-EED4F654FFF7}"/>
              </a:ext>
            </a:extLst>
          </p:cNvPr>
          <p:cNvSpPr>
            <a:spLocks noGrp="1"/>
          </p:cNvSpPr>
          <p:nvPr>
            <p:ph type="title"/>
          </p:nvPr>
        </p:nvSpPr>
        <p:spPr/>
        <p:txBody>
          <a:bodyPr/>
          <a:lstStyle/>
          <a:p>
            <a:r>
              <a:rPr lang="nl-NL" dirty="0"/>
              <a:t>Samenwerken en portfolio</a:t>
            </a:r>
            <a:endParaRPr lang="en-NL" dirty="0"/>
          </a:p>
        </p:txBody>
      </p:sp>
      <p:sp>
        <p:nvSpPr>
          <p:cNvPr id="9" name="Tijdelijke aanduiding voor inhoud 8">
            <a:extLst>
              <a:ext uri="{FF2B5EF4-FFF2-40B4-BE49-F238E27FC236}">
                <a16:creationId xmlns:a16="http://schemas.microsoft.com/office/drawing/2014/main" id="{8974314D-B42F-AD59-E4D4-A2A39BC88E81}"/>
              </a:ext>
            </a:extLst>
          </p:cNvPr>
          <p:cNvSpPr>
            <a:spLocks noGrp="1"/>
          </p:cNvSpPr>
          <p:nvPr>
            <p:ph sz="quarter" idx="4"/>
          </p:nvPr>
        </p:nvSpPr>
        <p:spPr>
          <a:xfrm>
            <a:off x="839788" y="1690689"/>
            <a:ext cx="10659256" cy="4245416"/>
          </a:xfrm>
        </p:spPr>
        <p:txBody>
          <a:bodyPr>
            <a:normAutofit/>
          </a:bodyPr>
          <a:lstStyle/>
          <a:p>
            <a:pPr marL="0" indent="0">
              <a:buNone/>
            </a:pPr>
            <a:r>
              <a:rPr lang="nl-NL" dirty="0"/>
              <a:t>Dit is een teamopdracht met meerdere technische onderdelen. Verdeel het werk duidelijk: sensor, MQTT, bridge, dashboard, database en documentatie. Leg vast welke keuzes jullie maken en waarom.</a:t>
            </a:r>
          </a:p>
          <a:p>
            <a:r>
              <a:rPr lang="nl-NL" dirty="0"/>
              <a:t>Er zijn drie praktijkdagen</a:t>
            </a:r>
          </a:p>
          <a:p>
            <a:r>
              <a:rPr lang="nl-NL" dirty="0"/>
              <a:t>Op maandag presenteer je als team kort de oplossing die jullie hebben gemaakt</a:t>
            </a:r>
          </a:p>
        </p:txBody>
      </p:sp>
    </p:spTree>
    <p:extLst>
      <p:ext uri="{BB962C8B-B14F-4D97-AF65-F5344CB8AC3E}">
        <p14:creationId xmlns:p14="http://schemas.microsoft.com/office/powerpoint/2010/main" val="139417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6E016-5D62-B09E-AF3C-85136D836E48}"/>
              </a:ext>
            </a:extLst>
          </p:cNvPr>
          <p:cNvSpPr>
            <a:spLocks noGrp="1"/>
          </p:cNvSpPr>
          <p:nvPr>
            <p:ph type="title"/>
          </p:nvPr>
        </p:nvSpPr>
        <p:spPr/>
        <p:txBody>
          <a:bodyPr/>
          <a:lstStyle/>
          <a:p>
            <a:r>
              <a:rPr lang="en-US" dirty="0"/>
              <a:t>En dan nu.. Aan de slag!</a:t>
            </a:r>
            <a:endParaRPr lang="en-NL" dirty="0"/>
          </a:p>
        </p:txBody>
      </p:sp>
      <p:sp>
        <p:nvSpPr>
          <p:cNvPr id="3" name="Content Placeholder 2">
            <a:extLst>
              <a:ext uri="{FF2B5EF4-FFF2-40B4-BE49-F238E27FC236}">
                <a16:creationId xmlns:a16="http://schemas.microsoft.com/office/drawing/2014/main" id="{BDAE17AB-7DC7-DDDA-C33E-2F6219D15F37}"/>
              </a:ext>
            </a:extLst>
          </p:cNvPr>
          <p:cNvSpPr>
            <a:spLocks noGrp="1"/>
          </p:cNvSpPr>
          <p:nvPr>
            <p:ph idx="1"/>
          </p:nvPr>
        </p:nvSpPr>
        <p:spPr/>
        <p:txBody>
          <a:bodyPr/>
          <a:lstStyle/>
          <a:p>
            <a:pPr marL="0" indent="0">
              <a:buNone/>
            </a:pPr>
            <a:r>
              <a:rPr lang="nl-NL" noProof="0" dirty="0"/>
              <a:t>Tips:</a:t>
            </a:r>
          </a:p>
          <a:p>
            <a:r>
              <a:rPr lang="nl-NL" dirty="0"/>
              <a:t>Maak een eenvoudig blokdiagram. </a:t>
            </a:r>
          </a:p>
          <a:p>
            <a:r>
              <a:rPr lang="nl-NL" dirty="0"/>
              <a:t>Documenteer alles wat jullie gemaakt hebben in de groeps-</a:t>
            </a:r>
            <a:r>
              <a:rPr lang="nl-NL" dirty="0" err="1"/>
              <a:t>repo</a:t>
            </a:r>
            <a:r>
              <a:rPr lang="nl-NL" dirty="0"/>
              <a:t>.</a:t>
            </a:r>
          </a:p>
          <a:p>
            <a:r>
              <a:rPr lang="nl-NL"/>
              <a:t>Demo op dag 3</a:t>
            </a:r>
            <a:endParaRPr lang="nl-NL" dirty="0"/>
          </a:p>
          <a:p>
            <a:endParaRPr lang="nl-NL" noProof="0" dirty="0"/>
          </a:p>
          <a:p>
            <a:r>
              <a:rPr lang="nl-NL" noProof="0" dirty="0"/>
              <a:t>Geen wachtwoord voor </a:t>
            </a:r>
            <a:r>
              <a:rPr lang="nl-NL" noProof="0" dirty="0" err="1"/>
              <a:t>iotroam</a:t>
            </a:r>
            <a:r>
              <a:rPr lang="nl-NL" noProof="0" dirty="0"/>
              <a:t>? Teams je device </a:t>
            </a:r>
            <a:r>
              <a:rPr lang="nl-NL" noProof="0" dirty="0" err="1"/>
              <a:t>id</a:t>
            </a:r>
            <a:r>
              <a:rPr lang="nl-NL" noProof="0" dirty="0"/>
              <a:t> of LAN MAC adres naar mij.</a:t>
            </a:r>
          </a:p>
        </p:txBody>
      </p:sp>
    </p:spTree>
    <p:extLst>
      <p:ext uri="{BB962C8B-B14F-4D97-AF65-F5344CB8AC3E}">
        <p14:creationId xmlns:p14="http://schemas.microsoft.com/office/powerpoint/2010/main" val="20670299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1086</TotalTime>
  <Words>424</Words>
  <Application>Microsoft Office PowerPoint</Application>
  <PresentationFormat>Breedbeeld</PresentationFormat>
  <Paragraphs>37</Paragraphs>
  <Slides>10</Slides>
  <Notes>3</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10</vt:i4>
      </vt:variant>
    </vt:vector>
  </HeadingPairs>
  <TitlesOfParts>
    <vt:vector size="14" baseType="lpstr">
      <vt:lpstr>Aptos</vt:lpstr>
      <vt:lpstr>Aptos Display</vt:lpstr>
      <vt:lpstr>Arial</vt:lpstr>
      <vt:lpstr>Office Theme</vt:lpstr>
      <vt:lpstr> </vt:lpstr>
      <vt:lpstr>Disclaimer</vt:lpstr>
      <vt:lpstr>Planning</vt:lpstr>
      <vt:lpstr>Applications</vt:lpstr>
      <vt:lpstr>Wat hebben we al gedaan?</vt:lpstr>
      <vt:lpstr>Doel van deze opdracht</vt:lpstr>
      <vt:lpstr>Visualiseren met Node-RED</vt:lpstr>
      <vt:lpstr>Webapplicatie met Flask</vt:lpstr>
      <vt:lpstr>Samenwerken en portfolio</vt:lpstr>
      <vt:lpstr>En dan nu.. Aan de slag!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Nick Goris</dc:creator>
  <cp:lastModifiedBy>Harm Snippe</cp:lastModifiedBy>
  <cp:revision>33</cp:revision>
  <dcterms:created xsi:type="dcterms:W3CDTF">2026-02-25T08:05:27Z</dcterms:created>
  <dcterms:modified xsi:type="dcterms:W3CDTF">2026-05-11T12:46:05Z</dcterms:modified>
</cp:coreProperties>
</file>