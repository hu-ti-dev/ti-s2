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5" r:id="rId3"/>
    <p:sldId id="276" r:id="rId4"/>
    <p:sldId id="267" r:id="rId5"/>
    <p:sldId id="303" r:id="rId6"/>
    <p:sldId id="304" r:id="rId7"/>
    <p:sldId id="283" r:id="rId8"/>
    <p:sldId id="305" r:id="rId9"/>
    <p:sldId id="302" r:id="rId1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68493"/>
  </p:normalViewPr>
  <p:slideViewPr>
    <p:cSldViewPr snapToGrid="0">
      <p:cViewPr varScale="1">
        <p:scale>
          <a:sx n="85" d="100"/>
          <a:sy n="85" d="100"/>
        </p:scale>
        <p:origin x="21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656B2-ED32-8044-9B2A-829653741135}" type="datetimeFigureOut">
              <a:rPr lang="nl-NL" smtClean="0"/>
              <a:t>08-04-2026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76DE4-D675-834A-A8C5-F6A601043E90}" type="slidenum">
              <a:rPr lang="nl-NL" smtClean="0"/>
              <a:t>‹nr.›</a:t>
            </a:fld>
            <a:endParaRPr lang="nl-NL"/>
          </a:p>
        </p:txBody>
      </p:sp>
    </p:spTree>
    <p:extLst>
      <p:ext uri="{BB962C8B-B14F-4D97-AF65-F5344CB8AC3E}">
        <p14:creationId xmlns:p14="http://schemas.microsoft.com/office/powerpoint/2010/main" val="334039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docker.com/get-started/docker-overview/"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4</a:t>
            </a:fld>
            <a:endParaRPr lang="nl-NL"/>
          </a:p>
        </p:txBody>
      </p:sp>
    </p:spTree>
    <p:extLst>
      <p:ext uri="{BB962C8B-B14F-4D97-AF65-F5344CB8AC3E}">
        <p14:creationId xmlns:p14="http://schemas.microsoft.com/office/powerpoint/2010/main" val="139012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Samenhang tussen hardware, opslag, netwerk en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5</a:t>
            </a:fld>
            <a:endParaRPr lang="nl-NL"/>
          </a:p>
        </p:txBody>
      </p:sp>
    </p:spTree>
    <p:extLst>
      <p:ext uri="{BB962C8B-B14F-4D97-AF65-F5344CB8AC3E}">
        <p14:creationId xmlns:p14="http://schemas.microsoft.com/office/powerpoint/2010/main" val="1373914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9EBC-2B04-30CF-5A0C-49FDC743AB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AC0B5CC-23F1-4D09-72FB-8BA103AAC0D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01218AB-FFD3-EA1A-58AA-5C10AC4A205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Docker uses a client-server architecture. The Docker client talks to the Docker daemon, which does the heavy lifting of building, running, and distributing your Docker containers. The Docker client and daemon can run on the same system, or you can connect a Docker client to a remote Docker daemon. The Docker client and daemon communicate using a REST API, over UNIX sockets or a network interface. Another Docker client is Docker Compose, that lets you work with applications consisting of a set of containers. </a:t>
            </a:r>
            <a:r>
              <a:rPr lang="nl-NL" dirty="0" err="1">
                <a:hlinkClick r:id="rId3"/>
              </a:rPr>
              <a:t>What</a:t>
            </a:r>
            <a:r>
              <a:rPr lang="nl-NL" dirty="0">
                <a:hlinkClick r:id="rId3"/>
              </a:rPr>
              <a:t> is Docker? | Docker </a:t>
            </a:r>
            <a:r>
              <a:rPr lang="nl-NL" dirty="0" err="1">
                <a:hlinkClick r:id="rId3"/>
              </a:rPr>
              <a:t>Docs</a:t>
            </a:r>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FA0309A3-1623-5309-07DD-14D5A4C6D306}"/>
              </a:ext>
            </a:extLst>
          </p:cNvPr>
          <p:cNvSpPr>
            <a:spLocks noGrp="1"/>
          </p:cNvSpPr>
          <p:nvPr>
            <p:ph type="sldNum" sz="quarter" idx="5"/>
          </p:nvPr>
        </p:nvSpPr>
        <p:spPr/>
        <p:txBody>
          <a:bodyPr/>
          <a:lstStyle/>
          <a:p>
            <a:fld id="{11B76DE4-D675-834A-A8C5-F6A601043E90}" type="slidenum">
              <a:rPr lang="nl-NL" smtClean="0"/>
              <a:t>6</a:t>
            </a:fld>
            <a:endParaRPr lang="nl-NL"/>
          </a:p>
        </p:txBody>
      </p:sp>
    </p:spTree>
    <p:extLst>
      <p:ext uri="{BB962C8B-B14F-4D97-AF65-F5344CB8AC3E}">
        <p14:creationId xmlns:p14="http://schemas.microsoft.com/office/powerpoint/2010/main" val="744760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7</a:t>
            </a:fld>
            <a:endParaRPr lang="nl-NL"/>
          </a:p>
        </p:txBody>
      </p:sp>
    </p:spTree>
    <p:extLst>
      <p:ext uri="{BB962C8B-B14F-4D97-AF65-F5344CB8AC3E}">
        <p14:creationId xmlns:p14="http://schemas.microsoft.com/office/powerpoint/2010/main" val="149691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E3ED-C625-D485-B12A-4627693C8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93813A3-15E4-4A82-0C37-C78C974B1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47A6E590-4365-084E-8D86-237438F0C828}"/>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52CEEB0B-35A5-1988-FE4A-A0DDB8F70D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7DD50D-9B8A-2C13-F773-603CE725146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69038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6F7C-FF25-D565-9C9E-71E7FFCE17C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E41D068-0531-E34C-38C3-83FAF0DA15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08655D2-4934-C937-BAAB-C507B90CFE2A}"/>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52428325-A2C4-4220-01EB-BC3F1E7E069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1813D7-0838-4B74-3000-7D335E87AEB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3685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0702-102A-8C84-9AD5-3A72F1DDF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F76D655-302F-C236-C59A-709D59351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1EB2C-D550-E4F3-658E-5337580C4F97}"/>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8C68534A-5961-C126-E417-E32FD9F59FD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B5550C-E667-BD50-8810-F4FAF3573483}"/>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79387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B925-681D-3003-D861-780F50E289B2}"/>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A044C58C-E09E-4A4A-101C-68C0FDCDE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8E2F83C-E752-5EA9-A489-7E22923587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498F4C9-91AB-3447-5327-4A59F3AC494C}"/>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6" name="Footer Placeholder 5">
            <a:extLst>
              <a:ext uri="{FF2B5EF4-FFF2-40B4-BE49-F238E27FC236}">
                <a16:creationId xmlns:a16="http://schemas.microsoft.com/office/drawing/2014/main" id="{21C51336-E949-27D1-45C9-22E0C4D7DB5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613E751-F369-6119-5558-BD23C9E94457}"/>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3765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C6AA-E30B-6FE4-743C-C23ACD6D5B5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6029350-9138-8D3E-2399-3B022D47A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D5964-5452-1FF6-8DFF-F388B8AFBA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D6284646-B8ED-6B3F-FB14-419108A29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32628-4D42-6BE0-59BC-E7BD228EF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5E5A1A5-CFE0-868C-12AE-E3C8D4FFDF7A}"/>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8" name="Footer Placeholder 7">
            <a:extLst>
              <a:ext uri="{FF2B5EF4-FFF2-40B4-BE49-F238E27FC236}">
                <a16:creationId xmlns:a16="http://schemas.microsoft.com/office/drawing/2014/main" id="{071C27F8-D91C-8DE8-B40E-49B4901BFF86}"/>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5AD76DA8-CF6D-9503-8DE4-DE01B8FF7CD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64869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DF92-A536-4349-5088-087E39B5E16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030E612-A177-8943-0797-D054F20A1857}"/>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4" name="Footer Placeholder 3">
            <a:extLst>
              <a:ext uri="{FF2B5EF4-FFF2-40B4-BE49-F238E27FC236}">
                <a16:creationId xmlns:a16="http://schemas.microsoft.com/office/drawing/2014/main" id="{7E209C7C-4005-FD5F-933B-6EED46D51E41}"/>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5DA187B-35A9-37EB-677C-6080EC2256EF}"/>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406592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D918E3-B18C-8BF7-DCF5-AF18B2B229D7}"/>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3" name="Footer Placeholder 2">
            <a:extLst>
              <a:ext uri="{FF2B5EF4-FFF2-40B4-BE49-F238E27FC236}">
                <a16:creationId xmlns:a16="http://schemas.microsoft.com/office/drawing/2014/main" id="{49C36FD0-7198-7E13-7D43-A75865FC0511}"/>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61048651-87A7-399D-AE83-B296B3F0A3B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310259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4BAD-0D16-257B-C318-6127B1262D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B919A3EE-69E9-1AA0-4BE0-B8DB1BDAA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0B879FBA-CB35-8331-4179-26E612496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5B652-6D8C-2693-5D51-1D994026BE8E}"/>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6" name="Footer Placeholder 5">
            <a:extLst>
              <a:ext uri="{FF2B5EF4-FFF2-40B4-BE49-F238E27FC236}">
                <a16:creationId xmlns:a16="http://schemas.microsoft.com/office/drawing/2014/main" id="{1B0E7C48-8518-3489-E429-71C86730DBC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BA01891-7825-107C-26CF-6AE95EC7EC5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2181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53B2-43BF-E87F-E6C7-CC3C3C08C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B749BFD-D4F9-30A0-57A5-8F4501A249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2063AD1C-06E0-5910-D0D6-A250C3275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1ED23-4DF4-B4D3-8BE8-8134798F1A6F}"/>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6" name="Footer Placeholder 5">
            <a:extLst>
              <a:ext uri="{FF2B5EF4-FFF2-40B4-BE49-F238E27FC236}">
                <a16:creationId xmlns:a16="http://schemas.microsoft.com/office/drawing/2014/main" id="{FC2BE3F4-E9D9-572F-4E12-8A9B60C4D8B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25B0C7-99F5-A05C-57DC-C3252AE892A8}"/>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5909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0D1A-88F0-F42E-F7EF-0F52C366833A}"/>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F13A364-EC46-8102-8276-E565CC1F8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A2B9DEE-F57A-F098-D1DF-84036CFEF4A4}"/>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0B3B0157-26F8-2329-17B6-5AC3C5C4A30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4E13EF-FE0B-5417-875C-AB7DC777FEAD}"/>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11064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6C9933-15A1-3AA5-291A-DB2844613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F5B1711-F16A-3EC8-A11F-6BC4D3FAD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00FAD66-6A57-4C3F-2E66-BA393876838C}"/>
              </a:ext>
            </a:extLst>
          </p:cNvPr>
          <p:cNvSpPr>
            <a:spLocks noGrp="1"/>
          </p:cNvSpPr>
          <p:nvPr>
            <p:ph type="dt" sz="half" idx="10"/>
          </p:nvPr>
        </p:nvSpPr>
        <p:spPr/>
        <p:txBody>
          <a:body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6DB48BDB-FD44-CECE-749B-27D75C3409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CAAFD5-EF11-A27E-75E3-FEA4EA05D2DB}"/>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50786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C3377-B71D-78CE-558E-D0DABD0EE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4635D7D-5602-B85D-E8A0-134A1070F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1C6CB69-D146-73A4-EAFA-EA9EF2D68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7CBCB4-1EFE-4E3B-9C8A-BCC4F06648F3}" type="datetimeFigureOut">
              <a:rPr lang="en-NL" smtClean="0"/>
              <a:t>4/8/26</a:t>
            </a:fld>
            <a:endParaRPr lang="en-NL"/>
          </a:p>
        </p:txBody>
      </p:sp>
      <p:sp>
        <p:nvSpPr>
          <p:cNvPr id="5" name="Footer Placeholder 4">
            <a:extLst>
              <a:ext uri="{FF2B5EF4-FFF2-40B4-BE49-F238E27FC236}">
                <a16:creationId xmlns:a16="http://schemas.microsoft.com/office/drawing/2014/main" id="{7E7AAAE3-7AA3-10C7-1B3B-5C558D00D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9F09C6D9-8205-4BC5-6C03-C283B1E989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6345A7-8EB6-4FDF-A52B-7AB511DDD562}" type="slidenum">
              <a:rPr lang="en-NL" smtClean="0"/>
              <a:t>‹nr.›</a:t>
            </a:fld>
            <a:endParaRPr lang="en-NL"/>
          </a:p>
        </p:txBody>
      </p:sp>
    </p:spTree>
    <p:extLst>
      <p:ext uri="{BB962C8B-B14F-4D97-AF65-F5344CB8AC3E}">
        <p14:creationId xmlns:p14="http://schemas.microsoft.com/office/powerpoint/2010/main" val="4044365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actility.com/lorawan-architecture-network-serv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docs.docker.com/get-started/docker-overview/"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8705-CC52-EDA9-8709-8CEDE5E45DEF}"/>
              </a:ext>
            </a:extLst>
          </p:cNvPr>
          <p:cNvSpPr>
            <a:spLocks noGrp="1"/>
          </p:cNvSpPr>
          <p:nvPr>
            <p:ph type="ctrTitle"/>
          </p:nvPr>
        </p:nvSpPr>
        <p:spPr/>
        <p:txBody>
          <a:bodyPr>
            <a:normAutofit/>
          </a:bodyPr>
          <a:lstStyle/>
          <a:p>
            <a:pPr algn="l"/>
            <a:r>
              <a:rPr lang="en-US" dirty="0"/>
              <a:t>	</a:t>
            </a:r>
            <a:endParaRPr lang="en-NL" dirty="0"/>
          </a:p>
        </p:txBody>
      </p:sp>
      <p:sp>
        <p:nvSpPr>
          <p:cNvPr id="3" name="Subtitle 2">
            <a:extLst>
              <a:ext uri="{FF2B5EF4-FFF2-40B4-BE49-F238E27FC236}">
                <a16:creationId xmlns:a16="http://schemas.microsoft.com/office/drawing/2014/main" id="{4C725AE0-B86C-082B-7562-44B709DAB14C}"/>
              </a:ext>
            </a:extLst>
          </p:cNvPr>
          <p:cNvSpPr>
            <a:spLocks noGrp="1"/>
          </p:cNvSpPr>
          <p:nvPr>
            <p:ph type="subTitle" idx="1"/>
          </p:nvPr>
        </p:nvSpPr>
        <p:spPr/>
        <p:txBody>
          <a:bodyPr/>
          <a:lstStyle/>
          <a:p>
            <a:r>
              <a:rPr lang="en-US" dirty="0"/>
              <a:t>TI-S2 2526</a:t>
            </a:r>
            <a:endParaRPr lang="en-NL" dirty="0"/>
          </a:p>
        </p:txBody>
      </p:sp>
      <p:sp>
        <p:nvSpPr>
          <p:cNvPr id="9" name="Tekstvak 8">
            <a:extLst>
              <a:ext uri="{FF2B5EF4-FFF2-40B4-BE49-F238E27FC236}">
                <a16:creationId xmlns:a16="http://schemas.microsoft.com/office/drawing/2014/main" id="{6804C375-4FAC-A429-5882-B174397D2102}"/>
              </a:ext>
            </a:extLst>
          </p:cNvPr>
          <p:cNvSpPr txBox="1"/>
          <p:nvPr/>
        </p:nvSpPr>
        <p:spPr>
          <a:xfrm>
            <a:off x="534907" y="6043300"/>
            <a:ext cx="4149213" cy="369332"/>
          </a:xfrm>
          <a:prstGeom prst="rect">
            <a:avLst/>
          </a:prstGeom>
          <a:noFill/>
        </p:spPr>
        <p:txBody>
          <a:bodyPr wrap="none" rtlCol="0">
            <a:spAutoFit/>
          </a:bodyPr>
          <a:lstStyle/>
          <a:p>
            <a:r>
              <a:rPr lang="nl-NL" dirty="0"/>
              <a:t>Image: Source: https://en.wikipedia.org/</a:t>
            </a:r>
          </a:p>
        </p:txBody>
      </p:sp>
      <p:pic>
        <p:nvPicPr>
          <p:cNvPr id="4" name="Afbeelding 3" descr="Ubuntu logo with text: Ubuntu">
            <a:extLst>
              <a:ext uri="{FF2B5EF4-FFF2-40B4-BE49-F238E27FC236}">
                <a16:creationId xmlns:a16="http://schemas.microsoft.com/office/drawing/2014/main" id="{74F03F7F-E94B-956D-F202-02E0E6C54A9A}"/>
              </a:ext>
            </a:extLst>
          </p:cNvPr>
          <p:cNvPicPr>
            <a:picLocks noChangeAspect="1"/>
          </p:cNvPicPr>
          <p:nvPr/>
        </p:nvPicPr>
        <p:blipFill>
          <a:blip r:embed="rId2"/>
          <a:stretch>
            <a:fillRect/>
          </a:stretch>
        </p:blipFill>
        <p:spPr>
          <a:xfrm>
            <a:off x="712212" y="740516"/>
            <a:ext cx="4325889" cy="1522713"/>
          </a:xfrm>
          <a:prstGeom prst="rect">
            <a:avLst/>
          </a:prstGeom>
        </p:spPr>
      </p:pic>
      <p:pic>
        <p:nvPicPr>
          <p:cNvPr id="1026" name="Picture 2">
            <a:extLst>
              <a:ext uri="{FF2B5EF4-FFF2-40B4-BE49-F238E27FC236}">
                <a16:creationId xmlns:a16="http://schemas.microsoft.com/office/drawing/2014/main" id="{890D3130-502F-3EBC-1DCD-D72D6CE6D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553" y="740516"/>
            <a:ext cx="4987235" cy="1655762"/>
          </a:xfrm>
          <a:prstGeom prst="rect">
            <a:avLst/>
          </a:prstGeom>
          <a:noFill/>
          <a:extLst>
            <a:ext uri="{909E8E84-426E-40DD-AFC4-6F175D3DCCD1}">
              <a14:hiddenFill xmlns:a14="http://schemas.microsoft.com/office/drawing/2010/main">
                <a:solidFill>
                  <a:srgbClr val="FFFFFF"/>
                </a:solidFill>
              </a14:hiddenFill>
            </a:ext>
          </a:extLst>
        </p:spPr>
      </p:pic>
      <p:sp>
        <p:nvSpPr>
          <p:cNvPr id="10" name="Tekstvak 9">
            <a:extLst>
              <a:ext uri="{FF2B5EF4-FFF2-40B4-BE49-F238E27FC236}">
                <a16:creationId xmlns:a16="http://schemas.microsoft.com/office/drawing/2014/main" id="{083FE318-22E5-33AE-DCBB-2A02E17BA2A2}"/>
              </a:ext>
            </a:extLst>
          </p:cNvPr>
          <p:cNvSpPr txBox="1"/>
          <p:nvPr/>
        </p:nvSpPr>
        <p:spPr>
          <a:xfrm>
            <a:off x="3879175" y="2721114"/>
            <a:ext cx="4676088" cy="707886"/>
          </a:xfrm>
          <a:prstGeom prst="rect">
            <a:avLst/>
          </a:prstGeom>
          <a:noFill/>
        </p:spPr>
        <p:txBody>
          <a:bodyPr wrap="none" rtlCol="0">
            <a:spAutoFit/>
          </a:bodyPr>
          <a:lstStyle/>
          <a:p>
            <a:r>
              <a:rPr lang="nl-NL" sz="4000" dirty="0"/>
              <a:t>Besturingssystemen</a:t>
            </a:r>
          </a:p>
        </p:txBody>
      </p:sp>
    </p:spTree>
    <p:extLst>
      <p:ext uri="{BB962C8B-B14F-4D97-AF65-F5344CB8AC3E}">
        <p14:creationId xmlns:p14="http://schemas.microsoft.com/office/powerpoint/2010/main" val="273523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215A-7FB0-4EFA-3DE6-B0F79D1D4735}"/>
              </a:ext>
            </a:extLst>
          </p:cNvPr>
          <p:cNvSpPr>
            <a:spLocks noGrp="1"/>
          </p:cNvSpPr>
          <p:nvPr>
            <p:ph type="title"/>
          </p:nvPr>
        </p:nvSpPr>
        <p:spPr/>
        <p:txBody>
          <a:bodyPr/>
          <a:lstStyle/>
          <a:p>
            <a:r>
              <a:rPr lang="en-US" dirty="0"/>
              <a:t>Disclaimer</a:t>
            </a:r>
            <a:endParaRPr lang="en-NL" dirty="0"/>
          </a:p>
        </p:txBody>
      </p:sp>
      <p:sp>
        <p:nvSpPr>
          <p:cNvPr id="3" name="Text Placeholder 2">
            <a:extLst>
              <a:ext uri="{FF2B5EF4-FFF2-40B4-BE49-F238E27FC236}">
                <a16:creationId xmlns:a16="http://schemas.microsoft.com/office/drawing/2014/main" id="{9BF1A795-79BF-60CD-2CA2-A13398C39E05}"/>
              </a:ext>
            </a:extLst>
          </p:cNvPr>
          <p:cNvSpPr>
            <a:spLocks noGrp="1"/>
          </p:cNvSpPr>
          <p:nvPr>
            <p:ph type="body" idx="1"/>
          </p:nvPr>
        </p:nvSpPr>
        <p:spPr/>
        <p:txBody>
          <a:bodyPr/>
          <a:lstStyle/>
          <a:p>
            <a:r>
              <a:rPr lang="en-US" dirty="0"/>
              <a:t>Alle code in </a:t>
            </a:r>
            <a:r>
              <a:rPr lang="en-US" dirty="0" err="1"/>
              <a:t>deze</a:t>
            </a:r>
            <a:r>
              <a:rPr lang="en-US" dirty="0"/>
              <a:t> slides is wat we ‘slideware’ </a:t>
            </a:r>
            <a:r>
              <a:rPr lang="en-US" dirty="0" err="1"/>
              <a:t>noemen</a:t>
            </a:r>
            <a:r>
              <a:rPr lang="en-US" dirty="0"/>
              <a:t> – </a:t>
            </a:r>
            <a:r>
              <a:rPr lang="en-US" dirty="0" err="1"/>
              <a:t>handig</a:t>
            </a:r>
            <a:r>
              <a:rPr lang="en-US" dirty="0"/>
              <a:t> om </a:t>
            </a:r>
            <a:r>
              <a:rPr lang="en-US" dirty="0" err="1"/>
              <a:t>concepten</a:t>
            </a:r>
            <a:r>
              <a:rPr lang="en-US" dirty="0"/>
              <a:t> </a:t>
            </a:r>
            <a:r>
              <a:rPr lang="en-US" dirty="0" err="1"/>
              <a:t>uit</a:t>
            </a:r>
            <a:r>
              <a:rPr lang="en-US" dirty="0"/>
              <a:t> </a:t>
            </a:r>
            <a:r>
              <a:rPr lang="en-US" dirty="0" err="1"/>
              <a:t>te</a:t>
            </a:r>
            <a:r>
              <a:rPr lang="en-US" dirty="0"/>
              <a:t> </a:t>
            </a:r>
            <a:r>
              <a:rPr lang="en-US" dirty="0" err="1"/>
              <a:t>leggen</a:t>
            </a:r>
            <a:r>
              <a:rPr lang="en-US" dirty="0"/>
              <a:t>, maar </a:t>
            </a:r>
            <a:r>
              <a:rPr lang="en-US" dirty="0" err="1"/>
              <a:t>niet</a:t>
            </a:r>
            <a:r>
              <a:rPr lang="en-US" dirty="0"/>
              <a:t> </a:t>
            </a:r>
            <a:r>
              <a:rPr lang="en-US" dirty="0" err="1"/>
              <a:t>altijd</a:t>
            </a:r>
            <a:r>
              <a:rPr lang="en-US" dirty="0"/>
              <a:t> </a:t>
            </a:r>
            <a:r>
              <a:rPr lang="en-US" dirty="0" err="1"/>
              <a:t>praktisch</a:t>
            </a:r>
            <a:r>
              <a:rPr lang="en-US" dirty="0"/>
              <a:t> in het </a:t>
            </a:r>
            <a:r>
              <a:rPr lang="en-US" dirty="0" err="1"/>
              <a:t>echte</a:t>
            </a:r>
            <a:r>
              <a:rPr lang="en-US" dirty="0"/>
              <a:t> </a:t>
            </a:r>
            <a:r>
              <a:rPr lang="en-US" dirty="0" err="1"/>
              <a:t>leven</a:t>
            </a:r>
            <a:r>
              <a:rPr lang="en-US" dirty="0"/>
              <a:t>. Op GitHub </a:t>
            </a:r>
            <a:r>
              <a:rPr lang="en-US" dirty="0" err="1"/>
              <a:t>vinden</a:t>
            </a:r>
            <a:r>
              <a:rPr lang="en-US" dirty="0"/>
              <a:t> </a:t>
            </a:r>
            <a:r>
              <a:rPr lang="en-US" dirty="0" err="1"/>
              <a:t>jullie</a:t>
            </a:r>
            <a:r>
              <a:rPr lang="en-US" dirty="0"/>
              <a:t> </a:t>
            </a:r>
            <a:r>
              <a:rPr lang="en-US" dirty="0" err="1"/>
              <a:t>relevantere</a:t>
            </a:r>
            <a:r>
              <a:rPr lang="en-US" dirty="0"/>
              <a:t> code </a:t>
            </a:r>
            <a:r>
              <a:rPr lang="en-US" dirty="0" err="1"/>
              <a:t>voorbeelden</a:t>
            </a:r>
            <a:r>
              <a:rPr lang="en-US" dirty="0"/>
              <a:t>, maar die </a:t>
            </a:r>
            <a:r>
              <a:rPr lang="en-US" dirty="0" err="1"/>
              <a:t>passen</a:t>
            </a:r>
            <a:r>
              <a:rPr lang="en-US" dirty="0"/>
              <a:t> (</a:t>
            </a:r>
            <a:r>
              <a:rPr lang="en-US" dirty="0" err="1"/>
              <a:t>vaak</a:t>
            </a:r>
            <a:r>
              <a:rPr lang="en-US" dirty="0"/>
              <a:t>) </a:t>
            </a:r>
            <a:r>
              <a:rPr lang="en-US" dirty="0" err="1"/>
              <a:t>niet</a:t>
            </a:r>
            <a:r>
              <a:rPr lang="en-US" dirty="0"/>
              <a:t> op slides.</a:t>
            </a:r>
            <a:endParaRPr lang="en-NL" dirty="0"/>
          </a:p>
        </p:txBody>
      </p:sp>
    </p:spTree>
    <p:extLst>
      <p:ext uri="{BB962C8B-B14F-4D97-AF65-F5344CB8AC3E}">
        <p14:creationId xmlns:p14="http://schemas.microsoft.com/office/powerpoint/2010/main" val="331473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F2E6-0DFE-CECE-1DE5-ADD5A832C2D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98693B14-E801-8B4A-6E20-50F836DB6207}"/>
              </a:ext>
            </a:extLst>
          </p:cNvPr>
          <p:cNvSpPr>
            <a:spLocks noGrp="1"/>
          </p:cNvSpPr>
          <p:nvPr>
            <p:ph idx="1"/>
          </p:nvPr>
        </p:nvSpPr>
        <p:spPr/>
        <p:txBody>
          <a:bodyPr/>
          <a:lstStyle/>
          <a:p>
            <a:r>
              <a:rPr lang="en-US" dirty="0"/>
              <a:t>Korte </a:t>
            </a:r>
            <a:r>
              <a:rPr lang="en-US" dirty="0" err="1"/>
              <a:t>toelichting</a:t>
            </a:r>
            <a:r>
              <a:rPr lang="en-US" dirty="0"/>
              <a:t> over </a:t>
            </a:r>
            <a:r>
              <a:rPr lang="en-US" dirty="0" err="1"/>
              <a:t>Besturingssystemen</a:t>
            </a:r>
            <a:endParaRPr lang="en-US" dirty="0"/>
          </a:p>
          <a:p>
            <a:r>
              <a:rPr lang="en-US" dirty="0"/>
              <a:t>Docker</a:t>
            </a:r>
          </a:p>
          <a:p>
            <a:r>
              <a:rPr lang="en-US" dirty="0"/>
              <a:t>Docker containers</a:t>
            </a:r>
          </a:p>
          <a:p>
            <a:r>
              <a:rPr lang="en-US" dirty="0"/>
              <a:t>Aan de slag!</a:t>
            </a:r>
          </a:p>
          <a:p>
            <a:endParaRPr lang="en-US" dirty="0"/>
          </a:p>
        </p:txBody>
      </p:sp>
    </p:spTree>
    <p:extLst>
      <p:ext uri="{BB962C8B-B14F-4D97-AF65-F5344CB8AC3E}">
        <p14:creationId xmlns:p14="http://schemas.microsoft.com/office/powerpoint/2010/main" val="346462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5AC6-37D7-F6F1-0BB7-5738EC11461F}"/>
              </a:ext>
            </a:extLst>
          </p:cNvPr>
          <p:cNvSpPr>
            <a:spLocks noGrp="1"/>
          </p:cNvSpPr>
          <p:nvPr>
            <p:ph type="title"/>
          </p:nvPr>
        </p:nvSpPr>
        <p:spPr/>
        <p:txBody>
          <a:bodyPr/>
          <a:lstStyle/>
          <a:p>
            <a:r>
              <a:rPr lang="nl-NL" dirty="0"/>
              <a:t>Waarom een besturingssysteem?</a:t>
            </a:r>
            <a:endParaRPr lang="en-NL" dirty="0"/>
          </a:p>
        </p:txBody>
      </p:sp>
      <p:sp>
        <p:nvSpPr>
          <p:cNvPr id="3" name="Content Placeholder 2">
            <a:extLst>
              <a:ext uri="{FF2B5EF4-FFF2-40B4-BE49-F238E27FC236}">
                <a16:creationId xmlns:a16="http://schemas.microsoft.com/office/drawing/2014/main" id="{123B5F5B-6FED-1F49-76A2-90C21CB229FB}"/>
              </a:ext>
            </a:extLst>
          </p:cNvPr>
          <p:cNvSpPr>
            <a:spLocks noGrp="1"/>
          </p:cNvSpPr>
          <p:nvPr>
            <p:ph idx="1"/>
          </p:nvPr>
        </p:nvSpPr>
        <p:spPr>
          <a:xfrm>
            <a:off x="838200" y="1825625"/>
            <a:ext cx="9984698" cy="4351338"/>
          </a:xfrm>
        </p:spPr>
        <p:txBody>
          <a:bodyPr>
            <a:normAutofit/>
          </a:bodyPr>
          <a:lstStyle/>
          <a:p>
            <a:r>
              <a:rPr lang="nl-NL" dirty="0"/>
              <a:t>Een besturingssysteem is de basis van bijna elk computersysteem. Zonder een goed werkend besturingssysteem kun je geen software installeren, geen netwerk instellen en geen services beheren. Voor een </a:t>
            </a:r>
            <a:r>
              <a:rPr lang="nl-NL" dirty="0" err="1"/>
              <a:t>TIer</a:t>
            </a:r>
            <a:r>
              <a:rPr lang="nl-NL" dirty="0"/>
              <a:t> is het daarom belangrijk dat jullie leren om zelf een systeem te kunnen opzetten.</a:t>
            </a:r>
          </a:p>
          <a:p>
            <a:pPr marL="0" indent="0">
              <a:buNone/>
            </a:pPr>
            <a:r>
              <a:rPr lang="nl-NL" dirty="0"/>
              <a:t>Met het team installeren jullie óf </a:t>
            </a:r>
            <a:r>
              <a:rPr lang="nl-NL" b="1" dirty="0" err="1"/>
              <a:t>Raspberry</a:t>
            </a:r>
            <a:r>
              <a:rPr lang="nl-NL" b="1" dirty="0"/>
              <a:t> Pi OS op een </a:t>
            </a:r>
            <a:r>
              <a:rPr lang="nl-NL" b="1" dirty="0" err="1"/>
              <a:t>Raspberry</a:t>
            </a:r>
            <a:r>
              <a:rPr lang="nl-NL" b="1" dirty="0"/>
              <a:t> Pi 4</a:t>
            </a:r>
            <a:r>
              <a:rPr lang="nl-NL" dirty="0"/>
              <a:t>, óf maken jullie een </a:t>
            </a:r>
            <a:r>
              <a:rPr lang="nl-NL" b="1" dirty="0"/>
              <a:t>virtuele machine in </a:t>
            </a:r>
            <a:r>
              <a:rPr lang="nl-NL" b="1" dirty="0" err="1"/>
              <a:t>Azure</a:t>
            </a:r>
            <a:r>
              <a:rPr lang="nl-NL" dirty="0"/>
              <a:t> aan.</a:t>
            </a:r>
          </a:p>
        </p:txBody>
      </p:sp>
    </p:spTree>
    <p:extLst>
      <p:ext uri="{BB962C8B-B14F-4D97-AF65-F5344CB8AC3E}">
        <p14:creationId xmlns:p14="http://schemas.microsoft.com/office/powerpoint/2010/main" val="600601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4285-9E74-A236-8DDA-513CB654D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05D05-EF81-FEEF-4D20-8556CD7A902E}"/>
              </a:ext>
            </a:extLst>
          </p:cNvPr>
          <p:cNvSpPr>
            <a:spLocks noGrp="1"/>
          </p:cNvSpPr>
          <p:nvPr>
            <p:ph type="title"/>
          </p:nvPr>
        </p:nvSpPr>
        <p:spPr/>
        <p:txBody>
          <a:bodyPr/>
          <a:lstStyle/>
          <a:p>
            <a:r>
              <a:rPr lang="en-US" dirty="0"/>
              <a:t>Network server</a:t>
            </a:r>
            <a:endParaRPr lang="en-NL" dirty="0"/>
          </a:p>
        </p:txBody>
      </p:sp>
      <p:pic>
        <p:nvPicPr>
          <p:cNvPr id="5" name="Afbeelding 4" descr="Afbeelding met diagram, tekst, schets, lijn&#10;&#10;Door AI gegenereerde inhoud is mogelijk onjuist.">
            <a:extLst>
              <a:ext uri="{FF2B5EF4-FFF2-40B4-BE49-F238E27FC236}">
                <a16:creationId xmlns:a16="http://schemas.microsoft.com/office/drawing/2014/main" id="{4943005D-1A11-1B38-09E3-0E36D74E8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054620"/>
            <a:ext cx="5652977" cy="2748760"/>
          </a:xfrm>
          <a:prstGeom prst="rect">
            <a:avLst/>
          </a:prstGeom>
        </p:spPr>
      </p:pic>
      <p:sp>
        <p:nvSpPr>
          <p:cNvPr id="6" name="Tekstvak 5">
            <a:extLst>
              <a:ext uri="{FF2B5EF4-FFF2-40B4-BE49-F238E27FC236}">
                <a16:creationId xmlns:a16="http://schemas.microsoft.com/office/drawing/2014/main" id="{23FAA8D9-1D00-D26C-BEC3-40818C78CB63}"/>
              </a:ext>
            </a:extLst>
          </p:cNvPr>
          <p:cNvSpPr txBox="1"/>
          <p:nvPr/>
        </p:nvSpPr>
        <p:spPr>
          <a:xfrm>
            <a:off x="981740" y="4832769"/>
            <a:ext cx="2464136" cy="369332"/>
          </a:xfrm>
          <a:prstGeom prst="rect">
            <a:avLst/>
          </a:prstGeom>
          <a:noFill/>
        </p:spPr>
        <p:txBody>
          <a:bodyPr wrap="none" rtlCol="0">
            <a:spAutoFit/>
          </a:bodyPr>
          <a:lstStyle/>
          <a:p>
            <a:r>
              <a:rPr lang="nl-NL" dirty="0"/>
              <a:t>Image: Source: </a:t>
            </a:r>
            <a:r>
              <a:rPr lang="nl-NL" dirty="0">
                <a:hlinkClick r:id="rId4"/>
              </a:rPr>
              <a:t>Actillity</a:t>
            </a:r>
            <a:endParaRPr lang="nl-NL" dirty="0"/>
          </a:p>
        </p:txBody>
      </p:sp>
      <p:sp>
        <p:nvSpPr>
          <p:cNvPr id="7" name="Tekstvak 6">
            <a:extLst>
              <a:ext uri="{FF2B5EF4-FFF2-40B4-BE49-F238E27FC236}">
                <a16:creationId xmlns:a16="http://schemas.microsoft.com/office/drawing/2014/main" id="{512493F1-01F2-9991-EF7D-836F37E2C416}"/>
              </a:ext>
            </a:extLst>
          </p:cNvPr>
          <p:cNvSpPr txBox="1"/>
          <p:nvPr/>
        </p:nvSpPr>
        <p:spPr>
          <a:xfrm>
            <a:off x="7151426" y="2054620"/>
            <a:ext cx="4708478" cy="3539430"/>
          </a:xfrm>
          <a:prstGeom prst="rect">
            <a:avLst/>
          </a:prstGeom>
          <a:noFill/>
        </p:spPr>
        <p:txBody>
          <a:bodyPr wrap="square" rtlCol="0">
            <a:spAutoFit/>
          </a:bodyPr>
          <a:lstStyle/>
          <a:p>
            <a:r>
              <a:rPr lang="nl-NL" sz="2800" dirty="0"/>
              <a:t>Basisvaardigheden leren zoals:</a:t>
            </a:r>
          </a:p>
          <a:p>
            <a:endParaRPr lang="nl-NL" sz="2800" dirty="0"/>
          </a:p>
          <a:p>
            <a:pPr marL="457200" indent="-457200">
              <a:buFont typeface="Arial" panose="020B0604020202020204" pitchFamily="34" charset="0"/>
              <a:buChar char="•"/>
            </a:pPr>
            <a:r>
              <a:rPr lang="nl-NL" sz="2800" dirty="0"/>
              <a:t>Gebruikersaccounts</a:t>
            </a:r>
          </a:p>
          <a:p>
            <a:pPr marL="457200" indent="-457200">
              <a:buFont typeface="Arial" panose="020B0604020202020204" pitchFamily="34" charset="0"/>
              <a:buChar char="•"/>
            </a:pPr>
            <a:r>
              <a:rPr lang="nl-NL" sz="2800" dirty="0"/>
              <a:t>SSH-toegang</a:t>
            </a:r>
          </a:p>
          <a:p>
            <a:pPr marL="457200" indent="-457200">
              <a:buFont typeface="Arial" panose="020B0604020202020204" pitchFamily="34" charset="0"/>
              <a:buChar char="•"/>
            </a:pPr>
            <a:r>
              <a:rPr lang="nl-NL" sz="2800" dirty="0"/>
              <a:t>IP-Adressen</a:t>
            </a:r>
          </a:p>
          <a:p>
            <a:pPr marL="457200" indent="-457200">
              <a:buFont typeface="Arial" panose="020B0604020202020204" pitchFamily="34" charset="0"/>
              <a:buChar char="•"/>
            </a:pPr>
            <a:r>
              <a:rPr lang="nl-NL" sz="2800" dirty="0"/>
              <a:t>Pakketbeheer</a:t>
            </a:r>
          </a:p>
          <a:p>
            <a:pPr marL="457200" indent="-457200">
              <a:buFont typeface="Arial" panose="020B0604020202020204" pitchFamily="34" charset="0"/>
              <a:buChar char="•"/>
            </a:pPr>
            <a:r>
              <a:rPr lang="nl-NL" sz="2800" dirty="0"/>
              <a:t>Systeemupdates</a:t>
            </a:r>
          </a:p>
        </p:txBody>
      </p:sp>
    </p:spTree>
    <p:extLst>
      <p:ext uri="{BB962C8B-B14F-4D97-AF65-F5344CB8AC3E}">
        <p14:creationId xmlns:p14="http://schemas.microsoft.com/office/powerpoint/2010/main" val="238349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E5A98-6E8E-F8F4-3445-5E096FEAB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D9CD5-47C7-2725-C3A3-7732D7611E8B}"/>
              </a:ext>
            </a:extLst>
          </p:cNvPr>
          <p:cNvSpPr>
            <a:spLocks noGrp="1"/>
          </p:cNvSpPr>
          <p:nvPr>
            <p:ph type="title"/>
          </p:nvPr>
        </p:nvSpPr>
        <p:spPr/>
        <p:txBody>
          <a:bodyPr/>
          <a:lstStyle/>
          <a:p>
            <a:r>
              <a:rPr lang="en-US" dirty="0"/>
              <a:t>Docker</a:t>
            </a:r>
            <a:endParaRPr lang="en-NL" dirty="0"/>
          </a:p>
        </p:txBody>
      </p:sp>
      <p:sp>
        <p:nvSpPr>
          <p:cNvPr id="5" name="Content Placeholder 2">
            <a:extLst>
              <a:ext uri="{FF2B5EF4-FFF2-40B4-BE49-F238E27FC236}">
                <a16:creationId xmlns:a16="http://schemas.microsoft.com/office/drawing/2014/main" id="{3A5B8046-6352-79EC-93C1-DF36E0407FF5}"/>
              </a:ext>
            </a:extLst>
          </p:cNvPr>
          <p:cNvSpPr>
            <a:spLocks noGrp="1"/>
          </p:cNvSpPr>
          <p:nvPr>
            <p:ph idx="1"/>
          </p:nvPr>
        </p:nvSpPr>
        <p:spPr>
          <a:xfrm>
            <a:off x="838200" y="1825625"/>
            <a:ext cx="10653215" cy="4351338"/>
          </a:xfrm>
        </p:spPr>
        <p:txBody>
          <a:bodyPr>
            <a:normAutofit/>
          </a:bodyPr>
          <a:lstStyle/>
          <a:p>
            <a:pPr marL="0" indent="0">
              <a:buNone/>
            </a:pPr>
            <a:r>
              <a:rPr lang="nl-NL" dirty="0"/>
              <a:t>Docker maakt het mogelijk om software in containers uit te voeren, zodat applicaties met hun eigen afhankelijkheden netjes gescheiden blijven. Daardoor wordt het eenvoudiger om software te installeren, te testen, opnieuw op te starten en te verplaatsen naar een ander systeem.</a:t>
            </a:r>
            <a:endParaRPr lang="en-NL" dirty="0"/>
          </a:p>
        </p:txBody>
      </p:sp>
      <p:pic>
        <p:nvPicPr>
          <p:cNvPr id="2050" name="Picture 2">
            <a:extLst>
              <a:ext uri="{FF2B5EF4-FFF2-40B4-BE49-F238E27FC236}">
                <a16:creationId xmlns:a16="http://schemas.microsoft.com/office/drawing/2014/main" id="{9C1E3E78-256E-DF3D-2798-CCEFB996C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482" y="365125"/>
            <a:ext cx="3464103" cy="791795"/>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5A3F312F-082E-3860-1A39-FA409676BB63}"/>
              </a:ext>
            </a:extLst>
          </p:cNvPr>
          <p:cNvSpPr txBox="1"/>
          <p:nvPr/>
        </p:nvSpPr>
        <p:spPr>
          <a:xfrm>
            <a:off x="6963002" y="1388825"/>
            <a:ext cx="4149213" cy="369332"/>
          </a:xfrm>
          <a:prstGeom prst="rect">
            <a:avLst/>
          </a:prstGeom>
          <a:noFill/>
        </p:spPr>
        <p:txBody>
          <a:bodyPr wrap="none" rtlCol="0">
            <a:spAutoFit/>
          </a:bodyPr>
          <a:lstStyle/>
          <a:p>
            <a:r>
              <a:rPr lang="nl-NL" dirty="0"/>
              <a:t>Image: Source: https://en.wikipedia.org/</a:t>
            </a:r>
          </a:p>
        </p:txBody>
      </p:sp>
      <p:pic>
        <p:nvPicPr>
          <p:cNvPr id="7" name="Afbeelding 6">
            <a:extLst>
              <a:ext uri="{FF2B5EF4-FFF2-40B4-BE49-F238E27FC236}">
                <a16:creationId xmlns:a16="http://schemas.microsoft.com/office/drawing/2014/main" id="{B7EC1AC8-258F-2836-0A3B-B44ABF0408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2194" y="3666136"/>
            <a:ext cx="5750257" cy="3036024"/>
          </a:xfrm>
          <a:prstGeom prst="rect">
            <a:avLst/>
          </a:prstGeom>
        </p:spPr>
      </p:pic>
      <p:sp>
        <p:nvSpPr>
          <p:cNvPr id="8" name="Tekstvak 7">
            <a:extLst>
              <a:ext uri="{FF2B5EF4-FFF2-40B4-BE49-F238E27FC236}">
                <a16:creationId xmlns:a16="http://schemas.microsoft.com/office/drawing/2014/main" id="{09FD9CAD-46C1-254B-24CA-F51152726CB3}"/>
              </a:ext>
            </a:extLst>
          </p:cNvPr>
          <p:cNvSpPr txBox="1"/>
          <p:nvPr/>
        </p:nvSpPr>
        <p:spPr>
          <a:xfrm>
            <a:off x="8546289" y="5988734"/>
            <a:ext cx="3238964" cy="646331"/>
          </a:xfrm>
          <a:prstGeom prst="rect">
            <a:avLst/>
          </a:prstGeom>
          <a:noFill/>
        </p:spPr>
        <p:txBody>
          <a:bodyPr wrap="none" rtlCol="0">
            <a:spAutoFit/>
          </a:bodyPr>
          <a:lstStyle/>
          <a:p>
            <a:r>
              <a:rPr lang="nl-NL" dirty="0"/>
              <a:t>Image: Source: </a:t>
            </a:r>
          </a:p>
          <a:p>
            <a:r>
              <a:rPr lang="nl-NL" dirty="0" err="1">
                <a:hlinkClick r:id="rId5"/>
              </a:rPr>
              <a:t>What</a:t>
            </a:r>
            <a:r>
              <a:rPr lang="nl-NL" dirty="0">
                <a:hlinkClick r:id="rId5"/>
              </a:rPr>
              <a:t> is Docker? | Docker </a:t>
            </a:r>
            <a:r>
              <a:rPr lang="nl-NL" dirty="0" err="1">
                <a:hlinkClick r:id="rId5"/>
              </a:rPr>
              <a:t>Docs</a:t>
            </a:r>
            <a:endParaRPr lang="nl-NL" dirty="0"/>
          </a:p>
        </p:txBody>
      </p:sp>
    </p:spTree>
    <p:extLst>
      <p:ext uri="{BB962C8B-B14F-4D97-AF65-F5344CB8AC3E}">
        <p14:creationId xmlns:p14="http://schemas.microsoft.com/office/powerpoint/2010/main" val="4168891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6D0F-E8D5-9303-3D9A-69282BA7814A}"/>
              </a:ext>
            </a:extLst>
          </p:cNvPr>
          <p:cNvSpPr>
            <a:spLocks noGrp="1"/>
          </p:cNvSpPr>
          <p:nvPr>
            <p:ph type="title"/>
          </p:nvPr>
        </p:nvSpPr>
        <p:spPr/>
        <p:txBody>
          <a:bodyPr/>
          <a:lstStyle/>
          <a:p>
            <a:r>
              <a:rPr lang="nl-NL" dirty="0"/>
              <a:t>Backend-services (in containers)</a:t>
            </a:r>
            <a:endParaRPr lang="en-NL" dirty="0"/>
          </a:p>
        </p:txBody>
      </p:sp>
      <p:pic>
        <p:nvPicPr>
          <p:cNvPr id="3074" name="Picture 2" descr="This logo represents MySQL official logo">
            <a:extLst>
              <a:ext uri="{FF2B5EF4-FFF2-40B4-BE49-F238E27FC236}">
                <a16:creationId xmlns:a16="http://schemas.microsoft.com/office/drawing/2014/main" id="{DA5F75EA-96E7-EB52-DBA4-594671824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2" y="1690688"/>
            <a:ext cx="3032930" cy="206239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Node-RED logo">
            <a:extLst>
              <a:ext uri="{FF2B5EF4-FFF2-40B4-BE49-F238E27FC236}">
                <a16:creationId xmlns:a16="http://schemas.microsoft.com/office/drawing/2014/main" id="{07041A65-2860-E2FF-CB8E-723657410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1101" y="1630186"/>
            <a:ext cx="2772130" cy="2772130"/>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a:extLst>
              <a:ext uri="{FF2B5EF4-FFF2-40B4-BE49-F238E27FC236}">
                <a16:creationId xmlns:a16="http://schemas.microsoft.com/office/drawing/2014/main" id="{60FC9C0D-BD13-E3B1-F3A2-F162FAE5BD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5049" y="4650522"/>
            <a:ext cx="3971924" cy="1687787"/>
          </a:xfrm>
          <a:prstGeom prst="rect">
            <a:avLst/>
          </a:prstGeom>
        </p:spPr>
      </p:pic>
      <p:pic>
        <p:nvPicPr>
          <p:cNvPr id="3082" name="Picture 10" descr="Mosquitto: An Open Source MQTT Server">
            <a:extLst>
              <a:ext uri="{FF2B5EF4-FFF2-40B4-BE49-F238E27FC236}">
                <a16:creationId xmlns:a16="http://schemas.microsoft.com/office/drawing/2014/main" id="{03F24507-A8FB-6044-4DA6-21AC600473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663" y="4651714"/>
            <a:ext cx="5119152" cy="1031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29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6EF0-DC44-2242-F5DF-88629CA63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A882B-2972-2489-C99D-A91549CE14FC}"/>
              </a:ext>
            </a:extLst>
          </p:cNvPr>
          <p:cNvSpPr>
            <a:spLocks noGrp="1"/>
          </p:cNvSpPr>
          <p:nvPr>
            <p:ph type="title"/>
          </p:nvPr>
        </p:nvSpPr>
        <p:spPr/>
        <p:txBody>
          <a:bodyPr/>
          <a:lstStyle/>
          <a:p>
            <a:r>
              <a:rPr lang="en-US" dirty="0"/>
              <a:t>MQTT bridge</a:t>
            </a:r>
            <a:endParaRPr lang="en-NL" dirty="0"/>
          </a:p>
        </p:txBody>
      </p:sp>
      <p:sp>
        <p:nvSpPr>
          <p:cNvPr id="9" name="Tijdelijke aanduiding voor inhoud 8">
            <a:extLst>
              <a:ext uri="{FF2B5EF4-FFF2-40B4-BE49-F238E27FC236}">
                <a16:creationId xmlns:a16="http://schemas.microsoft.com/office/drawing/2014/main" id="{3AF2C2DD-704C-AB71-E0D5-F2F6BB65138B}"/>
              </a:ext>
            </a:extLst>
          </p:cNvPr>
          <p:cNvSpPr>
            <a:spLocks noGrp="1"/>
          </p:cNvSpPr>
          <p:nvPr>
            <p:ph sz="quarter" idx="4"/>
          </p:nvPr>
        </p:nvSpPr>
        <p:spPr>
          <a:xfrm>
            <a:off x="838200" y="1690688"/>
            <a:ext cx="9356678" cy="4658575"/>
          </a:xfrm>
        </p:spPr>
        <p:txBody>
          <a:bodyPr>
            <a:normAutofit/>
          </a:bodyPr>
          <a:lstStyle/>
          <a:p>
            <a:pPr marL="0" indent="0">
              <a:buNone/>
            </a:pPr>
            <a:r>
              <a:rPr lang="nl-NL" dirty="0"/>
              <a:t>Een belangrijk onderdeel van de opdracht is dat jullie een </a:t>
            </a:r>
            <a:r>
              <a:rPr lang="nl-NL" b="1" dirty="0"/>
              <a:t>Python MQTT bridge script</a:t>
            </a:r>
            <a:r>
              <a:rPr lang="nl-NL" dirty="0"/>
              <a:t> maken. Dit script haalt sensordata uit </a:t>
            </a:r>
            <a:r>
              <a:rPr lang="nl-NL" b="1" dirty="0"/>
              <a:t>The </a:t>
            </a:r>
            <a:r>
              <a:rPr lang="nl-NL" b="1" dirty="0" err="1"/>
              <a:t>Things</a:t>
            </a:r>
            <a:r>
              <a:rPr lang="nl-NL" b="1" dirty="0"/>
              <a:t> Network (TTN)</a:t>
            </a:r>
            <a:r>
              <a:rPr lang="nl-NL" dirty="0"/>
              <a:t> en zet die door naar hun eigen backend-systeem. Op die manier ontstaat een complete keten: van sensor en </a:t>
            </a:r>
            <a:r>
              <a:rPr lang="nl-NL" dirty="0" err="1"/>
              <a:t>LoRaWAN</a:t>
            </a:r>
            <a:r>
              <a:rPr lang="nl-NL" dirty="0"/>
              <a:t>-netwerk naar de eigen infrastructuur van het team.</a:t>
            </a:r>
          </a:p>
        </p:txBody>
      </p:sp>
    </p:spTree>
    <p:extLst>
      <p:ext uri="{BB962C8B-B14F-4D97-AF65-F5344CB8AC3E}">
        <p14:creationId xmlns:p14="http://schemas.microsoft.com/office/powerpoint/2010/main" val="4047408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E016-5D62-B09E-AF3C-85136D836E48}"/>
              </a:ext>
            </a:extLst>
          </p:cNvPr>
          <p:cNvSpPr>
            <a:spLocks noGrp="1"/>
          </p:cNvSpPr>
          <p:nvPr>
            <p:ph type="title"/>
          </p:nvPr>
        </p:nvSpPr>
        <p:spPr/>
        <p:txBody>
          <a:bodyPr/>
          <a:lstStyle/>
          <a:p>
            <a:r>
              <a:rPr lang="en-US" dirty="0"/>
              <a:t>En dan nu.. Aan de slag!</a:t>
            </a:r>
            <a:endParaRPr lang="en-NL" dirty="0"/>
          </a:p>
        </p:txBody>
      </p:sp>
      <p:sp>
        <p:nvSpPr>
          <p:cNvPr id="3" name="Content Placeholder 2">
            <a:extLst>
              <a:ext uri="{FF2B5EF4-FFF2-40B4-BE49-F238E27FC236}">
                <a16:creationId xmlns:a16="http://schemas.microsoft.com/office/drawing/2014/main" id="{BDAE17AB-7DC7-DDDA-C33E-2F6219D15F37}"/>
              </a:ext>
            </a:extLst>
          </p:cNvPr>
          <p:cNvSpPr>
            <a:spLocks noGrp="1"/>
          </p:cNvSpPr>
          <p:nvPr>
            <p:ph idx="1"/>
          </p:nvPr>
        </p:nvSpPr>
        <p:spPr/>
        <p:txBody>
          <a:bodyPr/>
          <a:lstStyle/>
          <a:p>
            <a:r>
              <a:rPr lang="nl-NL" noProof="0" dirty="0"/>
              <a:t>Configureer jullie </a:t>
            </a:r>
            <a:r>
              <a:rPr lang="nl-NL" noProof="0" dirty="0" err="1"/>
              <a:t>Raspberry</a:t>
            </a:r>
            <a:r>
              <a:rPr lang="nl-NL" noProof="0" dirty="0"/>
              <a:t> Pi 4 of VM op </a:t>
            </a:r>
            <a:r>
              <a:rPr lang="nl-NL" noProof="0" dirty="0" err="1"/>
              <a:t>Azure</a:t>
            </a:r>
            <a:r>
              <a:rPr lang="nl-NL" noProof="0" dirty="0"/>
              <a:t>.</a:t>
            </a:r>
          </a:p>
          <a:p>
            <a:r>
              <a:rPr lang="nl-NL" noProof="0" dirty="0"/>
              <a:t>Geen wachtwoord voor </a:t>
            </a:r>
            <a:r>
              <a:rPr lang="nl-NL" noProof="0" dirty="0" err="1"/>
              <a:t>iotroam</a:t>
            </a:r>
            <a:r>
              <a:rPr lang="nl-NL" noProof="0" dirty="0"/>
              <a:t>? Teams je device </a:t>
            </a:r>
            <a:r>
              <a:rPr lang="nl-NL" noProof="0" dirty="0" err="1"/>
              <a:t>id</a:t>
            </a:r>
            <a:r>
              <a:rPr lang="nl-NL" noProof="0" dirty="0"/>
              <a:t> of LAN MAC adres naar mij.</a:t>
            </a:r>
          </a:p>
          <a:p>
            <a:r>
              <a:rPr lang="nl-NL" noProof="0" dirty="0"/>
              <a:t>Maak een MQTT bridge met TTN.</a:t>
            </a:r>
          </a:p>
        </p:txBody>
      </p:sp>
    </p:spTree>
    <p:extLst>
      <p:ext uri="{BB962C8B-B14F-4D97-AF65-F5344CB8AC3E}">
        <p14:creationId xmlns:p14="http://schemas.microsoft.com/office/powerpoint/2010/main" val="206702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961</TotalTime>
  <Words>458</Words>
  <Application>Microsoft Macintosh PowerPoint</Application>
  <PresentationFormat>Breedbeeld</PresentationFormat>
  <Paragraphs>41</Paragraphs>
  <Slides>9</Slides>
  <Notes>4</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9</vt:i4>
      </vt:variant>
    </vt:vector>
  </HeadingPairs>
  <TitlesOfParts>
    <vt:vector size="13" baseType="lpstr">
      <vt:lpstr>Aptos</vt:lpstr>
      <vt:lpstr>Aptos Display</vt:lpstr>
      <vt:lpstr>Arial</vt:lpstr>
      <vt:lpstr>Office Theme</vt:lpstr>
      <vt:lpstr> </vt:lpstr>
      <vt:lpstr>Disclaimer</vt:lpstr>
      <vt:lpstr>Planning</vt:lpstr>
      <vt:lpstr>Waarom een besturingssysteem?</vt:lpstr>
      <vt:lpstr>Network server</vt:lpstr>
      <vt:lpstr>Docker</vt:lpstr>
      <vt:lpstr>Backend-services (in containers)</vt:lpstr>
      <vt:lpstr>MQTT bridge</vt:lpstr>
      <vt:lpstr>En dan nu.. Aan de slag!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Goris</dc:creator>
  <cp:lastModifiedBy>Harm Snippe</cp:lastModifiedBy>
  <cp:revision>31</cp:revision>
  <dcterms:created xsi:type="dcterms:W3CDTF">2026-02-25T08:05:27Z</dcterms:created>
  <dcterms:modified xsi:type="dcterms:W3CDTF">2026-04-08T18:38:35Z</dcterms:modified>
</cp:coreProperties>
</file>