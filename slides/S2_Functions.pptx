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5" r:id="rId3"/>
    <p:sldId id="276" r:id="rId4"/>
    <p:sldId id="267" r:id="rId5"/>
    <p:sldId id="277" r:id="rId6"/>
    <p:sldId id="278" r:id="rId7"/>
    <p:sldId id="282" r:id="rId8"/>
    <p:sldId id="283" r:id="rId9"/>
    <p:sldId id="287" r:id="rId10"/>
    <p:sldId id="285" r:id="rId11"/>
    <p:sldId id="286" r:id="rId12"/>
    <p:sldId id="288" r:id="rId13"/>
    <p:sldId id="289" r:id="rId14"/>
    <p:sldId id="290" r:id="rId15"/>
    <p:sldId id="291" r:id="rId16"/>
    <p:sldId id="296" r:id="rId17"/>
    <p:sldId id="292" r:id="rId18"/>
    <p:sldId id="294" r:id="rId19"/>
    <p:sldId id="301" r:id="rId20"/>
    <p:sldId id="295" r:id="rId21"/>
    <p:sldId id="300" r:id="rId22"/>
    <p:sldId id="293" r:id="rId23"/>
    <p:sldId id="297" r:id="rId24"/>
    <p:sldId id="298" r:id="rId25"/>
    <p:sldId id="299" r:id="rId26"/>
    <p:sldId id="303" r:id="rId27"/>
    <p:sldId id="302" r:id="rId28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EE3ED-C625-D485-B12A-4627693C8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3813A3-15E4-4A82-0C37-C78C974B19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6E590-4365-084E-8D86-237438F0C8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EEB0B-35A5-1988-FE4A-A0DDB8F70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DD50D-9B8A-2C13-F773-603CE7251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6903837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86F7C-FF25-D565-9C9E-71E7FFCE1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41D068-0531-E34C-38C3-83FAF0DA15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655D2-4934-C937-BAAB-C507B90CF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28325-A2C4-4220-01EB-BC3F1E7E0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1813D7-0838-4B74-3000-7D335E87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3685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E0702-102A-8C84-9AD5-3A72F1DDF1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76D655-302F-C236-C59A-709D593517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1EB2C-D550-E4F3-658E-5337580C4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68534A-5961-C126-E417-E32FD9F59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5550C-E667-BD50-8810-F4FAF35734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79387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7B925-681D-3003-D861-780F50E28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4C58C-E09E-4A4A-101C-68C0FDCDEA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E2F83C-E752-5EA9-A489-7E22923587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98F4C9-91AB-3447-5327-4A59F3AC49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C51336-E949-27D1-45C9-22E0C4D7D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3E751-F369-6119-5558-BD23C9E94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376588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7C6AA-E30B-6FE4-743C-C23ACD6D5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29350-9138-8D3E-2399-3B022D47A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D5964-5452-1FF6-8DFF-F388B8AFBA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6284646-B8ED-6B3F-FB14-419108A296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632628-4D42-6BE0-59BC-E7BD228EF9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E5A1A5-CFE0-868C-12AE-E3C8D4FFD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1C27F8-D91C-8DE8-B40E-49B4901BF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D76DA8-CF6D-9503-8DE4-DE01B8FF7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648695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DDF92-A536-4349-5088-087E39B5E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0E612-A177-8943-0797-D054F20A1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209C7C-4005-FD5F-933B-6EED46D51E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A187B-35A9-37EB-677C-6080EC225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65925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918E3-B18C-8BF7-DCF5-AF18B2B22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9C36FD0-7198-7E13-7D43-A75865FC0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048651-87A7-399D-AE83-B296B3F0A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31025961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4BAD-0D16-257B-C318-6127B1262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9A3EE-69E9-1AA0-4BE0-B8DB1BDAAD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879FBA-CB35-8331-4179-26E6124963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55B652-6D8C-2693-5D51-1D994026B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0E7C48-8518-3489-E429-71C86730D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A01891-7825-107C-26CF-6AE95EC7E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21816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453B2-43BF-E87F-E6C7-CC3C3C08C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B749BFD-D4F9-30A0-57A5-8F4501A249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3AD1C-06E0-5910-D0D6-A250C32754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B1ED23-4DF4-B4D3-8BE8-8134798F1A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2BE3F4-E9D9-572F-4E12-8A9B60C4D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25B0C7-99F5-A05C-57DC-C3252AE89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459097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8C0D1A-88F0-F42E-F7EF-0F52C3668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3A364-EC46-8102-8276-E565CC1F8D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2B9DEE-F57A-F098-D1DF-84036CFEF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B0157-26F8-2329-17B6-5AC3C5C4A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E13EF-FE0B-5417-875C-AB7DC777F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110640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6C9933-15A1-3AA5-291A-DB28446138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5B1711-F16A-3EC8-A11F-6BC4D3FAD9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FAD66-6A57-4C3F-2E66-BA3938768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48BDB-FD44-CECE-749B-27D75C340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CAAFD5-EF11-A27E-75E3-FEA4EA05D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50786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9C3377-B71D-78CE-558E-D0DABD0EE2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635D7D-5602-B85D-E8A0-134A1070F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C6CB69-D146-73A4-EAFA-EA9EF2D68B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7CBCB4-1EFE-4E3B-9C8A-BCC4F06648F3}" type="datetimeFigureOut">
              <a:rPr lang="en-NL" smtClean="0"/>
              <a:t>09/14/2026</a:t>
            </a:fld>
            <a:endParaRPr lang="en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7AAAE3-7AA3-10C7-1B3B-5C558D00D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09C6D9-8205-4BC5-6C03-C283B1E989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345A7-8EB6-4FDF-A52B-7AB511DDD562}" type="slidenum">
              <a:rPr lang="en-NL" smtClean="0"/>
              <a:t>‹nr.›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4365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F8705-CC52-EDA9-8709-8CEDE5E45D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l"/>
            <a:r>
              <a:rPr lang="en-US" dirty="0"/>
              <a:t>	</a:t>
            </a:r>
            <a:r>
              <a:rPr lang="en-US" sz="4400" dirty="0"/>
              <a:t>void </a:t>
            </a:r>
            <a:r>
              <a:rPr lang="en-US" sz="4400" dirty="0" err="1"/>
              <a:t>func</a:t>
            </a:r>
            <a:r>
              <a:rPr lang="en-US" sz="4400" dirty="0"/>
              <a:t>(){</a:t>
            </a:r>
            <a:br>
              <a:rPr lang="en-US" dirty="0"/>
            </a:br>
            <a:r>
              <a:rPr lang="en-US" dirty="0"/>
              <a:t>			Functions;</a:t>
            </a:r>
            <a:br>
              <a:rPr lang="en-US" dirty="0"/>
            </a:br>
            <a:r>
              <a:rPr lang="en-US" dirty="0"/>
              <a:t>	</a:t>
            </a:r>
            <a:r>
              <a:rPr lang="en-US" sz="4400" dirty="0"/>
              <a:t>}</a:t>
            </a:r>
            <a:endParaRPr lang="en-N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725AE0-B86C-082B-7562-44B709DAB1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TI-S2 2526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735233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8215A-7FB0-4EFA-3DE6-B0F79D1D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F1A795-79BF-60CD-2CA2-A13398C39E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code in </a:t>
            </a:r>
            <a:r>
              <a:rPr lang="en-US" dirty="0" err="1"/>
              <a:t>deze</a:t>
            </a:r>
            <a:r>
              <a:rPr lang="en-US" dirty="0"/>
              <a:t> slides is wat we ‘slideware’ </a:t>
            </a:r>
            <a:r>
              <a:rPr lang="en-US" dirty="0" err="1"/>
              <a:t>noemen</a:t>
            </a:r>
            <a:r>
              <a:rPr lang="en-US" dirty="0"/>
              <a:t> – </a:t>
            </a:r>
            <a:r>
              <a:rPr lang="en-US" dirty="0" err="1"/>
              <a:t>handig</a:t>
            </a:r>
            <a:r>
              <a:rPr lang="en-US" dirty="0"/>
              <a:t> om </a:t>
            </a:r>
            <a:r>
              <a:rPr lang="en-US" dirty="0" err="1"/>
              <a:t>concepten</a:t>
            </a:r>
            <a:r>
              <a:rPr lang="en-US" dirty="0"/>
              <a:t> </a:t>
            </a:r>
            <a:r>
              <a:rPr lang="en-US" dirty="0" err="1"/>
              <a:t>uit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leggen</a:t>
            </a:r>
            <a:r>
              <a:rPr lang="en-US" dirty="0"/>
              <a:t>, maar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altijd</a:t>
            </a:r>
            <a:r>
              <a:rPr lang="en-US" dirty="0"/>
              <a:t> </a:t>
            </a:r>
            <a:r>
              <a:rPr lang="en-US" dirty="0" err="1"/>
              <a:t>praktisch</a:t>
            </a:r>
            <a:r>
              <a:rPr lang="en-US" dirty="0"/>
              <a:t> in het </a:t>
            </a:r>
            <a:r>
              <a:rPr lang="en-US" dirty="0" err="1"/>
              <a:t>echte</a:t>
            </a:r>
            <a:r>
              <a:rPr lang="en-US" dirty="0"/>
              <a:t> </a:t>
            </a:r>
            <a:r>
              <a:rPr lang="en-US" dirty="0" err="1"/>
              <a:t>leven</a:t>
            </a:r>
            <a:r>
              <a:rPr lang="en-US" dirty="0"/>
              <a:t>. Op GitHub </a:t>
            </a:r>
            <a:r>
              <a:rPr lang="en-US" dirty="0" err="1"/>
              <a:t>vinden</a:t>
            </a:r>
            <a:r>
              <a:rPr lang="en-US" dirty="0"/>
              <a:t> </a:t>
            </a:r>
            <a:r>
              <a:rPr lang="en-US" dirty="0" err="1"/>
              <a:t>jullie</a:t>
            </a:r>
            <a:r>
              <a:rPr lang="en-US" dirty="0"/>
              <a:t> </a:t>
            </a:r>
            <a:r>
              <a:rPr lang="en-US" dirty="0" err="1"/>
              <a:t>relevantere</a:t>
            </a:r>
            <a:r>
              <a:rPr lang="en-US" dirty="0"/>
              <a:t> code </a:t>
            </a:r>
            <a:r>
              <a:rPr lang="en-US" dirty="0" err="1"/>
              <a:t>voorbeelden</a:t>
            </a:r>
            <a:r>
              <a:rPr lang="en-US" dirty="0"/>
              <a:t>, maar die </a:t>
            </a:r>
            <a:r>
              <a:rPr lang="en-US" dirty="0" err="1"/>
              <a:t>passen</a:t>
            </a:r>
            <a:r>
              <a:rPr lang="en-US" dirty="0"/>
              <a:t> (</a:t>
            </a:r>
            <a:r>
              <a:rPr lang="en-US" dirty="0" err="1"/>
              <a:t>vaak</a:t>
            </a:r>
            <a:r>
              <a:rPr lang="en-US" dirty="0"/>
              <a:t>) </a:t>
            </a:r>
            <a:r>
              <a:rPr lang="en-US" dirty="0" err="1"/>
              <a:t>niet</a:t>
            </a:r>
            <a:r>
              <a:rPr lang="en-US" dirty="0"/>
              <a:t> op slides.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3147317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DF2E6-0DFE-CECE-1DE5-ADD5A832C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Planning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693B14-E801-8B4A-6E20-50F836DB6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Herhaling</a:t>
            </a:r>
            <a:r>
              <a:rPr lang="en-US" dirty="0"/>
              <a:t> loops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vectoren</a:t>
            </a:r>
            <a:endParaRPr lang="en-US" dirty="0"/>
          </a:p>
          <a:p>
            <a:r>
              <a:rPr lang="en-US" dirty="0" err="1"/>
              <a:t>Functies</a:t>
            </a:r>
            <a:endParaRPr lang="en-US" dirty="0"/>
          </a:p>
          <a:p>
            <a:r>
              <a:rPr lang="en-US" dirty="0"/>
              <a:t>Aan de slag!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46235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35AC6-37D7-F6F1-0BB7-5738EC11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Anatomie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for loop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3B5F5B-6FED-1F49-76A2-90C21CB22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b="1" dirty="0">
                <a:solidFill>
                  <a:srgbClr val="0000FF"/>
                </a:solidFill>
                <a:highlight>
                  <a:srgbClr val="FFFFFF"/>
                </a:highlight>
              </a:rPr>
              <a:t>f</a:t>
            </a:r>
            <a:r>
              <a:rPr lang="nn-NO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or		</a:t>
            </a:r>
            <a:r>
              <a:rPr lang="nn-NO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n-NO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n-NO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i </a:t>
            </a:r>
            <a:r>
              <a:rPr lang="nn-NO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n-NO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n-NO" sz="2800" b="0" dirty="0">
                <a:solidFill>
                  <a:srgbClr val="FF8000"/>
                </a:solidFill>
                <a:highlight>
                  <a:srgbClr val="FFFFFF"/>
                </a:highlight>
              </a:rPr>
              <a:t>0</a:t>
            </a:r>
            <a:r>
              <a:rPr lang="nn-NO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nn-NO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		i</a:t>
            </a:r>
            <a:r>
              <a:rPr lang="nn-NO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nn-NO" sz="2800" b="0" dirty="0">
                <a:solidFill>
                  <a:srgbClr val="FF8000"/>
                </a:solidFill>
                <a:highlight>
                  <a:srgbClr val="FFFFFF"/>
                </a:highlight>
              </a:rPr>
              <a:t>10</a:t>
            </a:r>
            <a:r>
              <a:rPr lang="nn-NO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nn-NO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		i</a:t>
            </a:r>
            <a:r>
              <a:rPr lang="nn-NO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++)			{...}</a:t>
            </a:r>
          </a:p>
          <a:p>
            <a:pPr marL="0" indent="0">
              <a:buNone/>
            </a:pPr>
            <a:r>
              <a:rPr lang="nn-NO" b="1" dirty="0">
                <a:highlight>
                  <a:srgbClr val="FFFFFF"/>
                </a:highlight>
              </a:rPr>
              <a:t>^Statement</a:t>
            </a:r>
          </a:p>
          <a:p>
            <a:pPr marL="0" indent="0">
              <a:buNone/>
            </a:pPr>
            <a:r>
              <a:rPr lang="nn-NO" b="1" dirty="0">
                <a:highlight>
                  <a:srgbClr val="FFFFFF"/>
                </a:highlight>
              </a:rPr>
              <a:t>		^Initialisatie</a:t>
            </a:r>
          </a:p>
          <a:p>
            <a:pPr marL="0" indent="0">
              <a:buNone/>
            </a:pPr>
            <a:r>
              <a:rPr lang="nn-NO" b="1" dirty="0">
                <a:highlight>
                  <a:srgbClr val="FFFFFF"/>
                </a:highlight>
              </a:rPr>
              <a:t>					^Conditie</a:t>
            </a:r>
          </a:p>
          <a:p>
            <a:pPr marL="0" indent="0">
              <a:buNone/>
            </a:pPr>
            <a:r>
              <a:rPr lang="nn-NO" b="1" dirty="0">
                <a:highlight>
                  <a:srgbClr val="FFFFFF"/>
                </a:highlight>
              </a:rPr>
              <a:t>							^Update actie</a:t>
            </a:r>
          </a:p>
          <a:p>
            <a:pPr marL="0" indent="0">
              <a:buNone/>
            </a:pPr>
            <a:r>
              <a:rPr lang="nn-NO" b="1" dirty="0">
                <a:highlight>
                  <a:srgbClr val="FFFFFF"/>
                </a:highlight>
              </a:rPr>
              <a:t>										^Body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600601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DAEAF-8550-F140-3391-20314C240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DA149-9DBC-3386-F62A-C35309FA7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Anatomie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while loop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2E231A-0B73-6595-9418-2324041AB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n-NO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while		</a:t>
            </a:r>
            <a:r>
              <a:rPr lang="nn-NO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n-NO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i!=j</a:t>
            </a:r>
            <a:r>
              <a:rPr lang="nn-NO" b="1" dirty="0">
                <a:solidFill>
                  <a:srgbClr val="000080"/>
                </a:solidFill>
                <a:highlight>
                  <a:srgbClr val="FFFFFF"/>
                </a:highlight>
              </a:rPr>
              <a:t>) </a:t>
            </a:r>
            <a:r>
              <a:rPr lang="nn-NO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		{...}</a:t>
            </a:r>
          </a:p>
          <a:p>
            <a:pPr marL="0" indent="0">
              <a:buNone/>
            </a:pPr>
            <a:r>
              <a:rPr lang="nn-NO" b="1" dirty="0">
                <a:highlight>
                  <a:srgbClr val="FFFFFF"/>
                </a:highlight>
              </a:rPr>
              <a:t>^Statement</a:t>
            </a:r>
          </a:p>
          <a:p>
            <a:pPr marL="0" indent="0">
              <a:buNone/>
            </a:pPr>
            <a:r>
              <a:rPr lang="nn-NO" b="1" dirty="0">
                <a:highlight>
                  <a:srgbClr val="FFFFFF"/>
                </a:highlight>
              </a:rPr>
              <a:t>		^Conditie												^Body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1643728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6196B-24C2-7DC9-7C68-CA477815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Wanneer</a:t>
            </a:r>
            <a:r>
              <a:rPr lang="en-US" dirty="0"/>
              <a:t> for, </a:t>
            </a:r>
            <a:r>
              <a:rPr lang="en-US" dirty="0" err="1"/>
              <a:t>wanneer</a:t>
            </a:r>
            <a:r>
              <a:rPr lang="en-US" dirty="0"/>
              <a:t> while?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22B0B6-17DA-9424-D727-C862F7A161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8DABC4-920D-3A9F-350C-0769208BBA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Als je exact </a:t>
            </a:r>
            <a:r>
              <a:rPr lang="en-US" dirty="0" err="1"/>
              <a:t>weet</a:t>
            </a:r>
            <a:r>
              <a:rPr lang="en-US" dirty="0"/>
              <a:t> </a:t>
            </a:r>
            <a:r>
              <a:rPr lang="en-US" i="1" dirty="0"/>
              <a:t>hoe </a:t>
            </a:r>
            <a:r>
              <a:rPr lang="en-US" i="1" dirty="0" err="1"/>
              <a:t>vaak</a:t>
            </a:r>
            <a:r>
              <a:rPr lang="en-US" i="1" dirty="0"/>
              <a:t> </a:t>
            </a:r>
            <a:r>
              <a:rPr lang="en-US" dirty="0" err="1"/>
              <a:t>een</a:t>
            </a:r>
            <a:r>
              <a:rPr lang="en-US" dirty="0"/>
              <a:t> loop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runnen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F4B13D-A971-DB27-3B32-72D8238196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While</a:t>
            </a:r>
            <a:endParaRPr lang="en-NL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EE630B-9694-19C7-06B0-E272BF9FCF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i="1"/>
              <a:t>Oneindige</a:t>
            </a:r>
            <a:r>
              <a:rPr lang="en-US"/>
              <a:t> loops</a:t>
            </a:r>
            <a:endParaRPr lang="en-US" dirty="0"/>
          </a:p>
          <a:p>
            <a:r>
              <a:rPr lang="en-US" i="1" dirty="0" err="1"/>
              <a:t>Niet</a:t>
            </a:r>
            <a:r>
              <a:rPr lang="en-US" i="1" dirty="0"/>
              <a:t> </a:t>
            </a:r>
            <a:r>
              <a:rPr lang="en-US" i="1" dirty="0" err="1"/>
              <a:t>zeker</a:t>
            </a:r>
            <a:r>
              <a:rPr lang="en-US" i="1" dirty="0"/>
              <a:t> </a:t>
            </a:r>
            <a:r>
              <a:rPr lang="en-US" dirty="0"/>
              <a:t>hoe lang tot </a:t>
            </a:r>
            <a:r>
              <a:rPr lang="en-US" dirty="0" err="1"/>
              <a:t>einde</a:t>
            </a:r>
            <a:r>
              <a:rPr lang="en-US" dirty="0"/>
              <a:t>:</a:t>
            </a:r>
          </a:p>
          <a:p>
            <a:pPr lvl="1"/>
            <a:r>
              <a:rPr lang="en-US" dirty="0" err="1"/>
              <a:t>Gebaseerd</a:t>
            </a:r>
            <a:r>
              <a:rPr lang="en-US" dirty="0"/>
              <a:t> op externe events</a:t>
            </a:r>
          </a:p>
          <a:p>
            <a:r>
              <a:rPr lang="en-US" i="1" dirty="0"/>
              <a:t>Andere </a:t>
            </a:r>
            <a:r>
              <a:rPr lang="en-US" i="1" dirty="0" err="1"/>
              <a:t>conditie</a:t>
            </a:r>
            <a:r>
              <a:rPr lang="en-US" i="1" dirty="0"/>
              <a:t> </a:t>
            </a:r>
            <a:r>
              <a:rPr lang="en-US" dirty="0"/>
              <a:t>dan </a:t>
            </a:r>
            <a:r>
              <a:rPr lang="en-US" dirty="0" err="1"/>
              <a:t>een</a:t>
            </a:r>
            <a:r>
              <a:rPr lang="en-US" dirty="0"/>
              <a:t> x </a:t>
            </a:r>
            <a:r>
              <a:rPr lang="en-US" dirty="0" err="1"/>
              <a:t>aantal</a:t>
            </a:r>
            <a:r>
              <a:rPr lang="en-US" dirty="0"/>
              <a:t> </a:t>
            </a:r>
            <a:r>
              <a:rPr lang="en-US" dirty="0" err="1"/>
              <a:t>keer</a:t>
            </a:r>
            <a:r>
              <a:rPr lang="en-US" dirty="0"/>
              <a:t> </a:t>
            </a:r>
            <a:r>
              <a:rPr lang="en-US" dirty="0" err="1"/>
              <a:t>runnen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92450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34F92-CC12-7C6D-A70B-3DDE78DD2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343F3-ACB2-4864-38BD-6802694F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Anatomie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vector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61677-057A-B305-D372-73561DC178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</a:rPr>
              <a:t>v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ector	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</a:t>
            </a: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&gt;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			numbers 	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=	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{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5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, </a:t>
            </a:r>
            <a:r>
              <a:rPr lang="nl-NL">
                <a:solidFill>
                  <a:srgbClr val="FF8000"/>
                </a:solidFill>
                <a:highlight>
                  <a:srgbClr val="FFFFFF"/>
                </a:highlight>
              </a:rPr>
              <a:t>3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};</a:t>
            </a:r>
            <a:endParaRPr lang="nl-NL" sz="2800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b="1" dirty="0">
                <a:highlight>
                  <a:srgbClr val="FFFFFF"/>
                </a:highlight>
              </a:rPr>
              <a:t>^Type</a:t>
            </a:r>
          </a:p>
          <a:p>
            <a:pPr marL="0" indent="0">
              <a:buNone/>
            </a:pPr>
            <a:r>
              <a:rPr lang="nl-NL" sz="2800" b="1" dirty="0">
                <a:highlight>
                  <a:srgbClr val="FFFFFF"/>
                </a:highlight>
              </a:rPr>
              <a:t>		^Type inhoud</a:t>
            </a:r>
          </a:p>
          <a:p>
            <a:pPr marL="0" indent="0">
              <a:buNone/>
            </a:pPr>
            <a:r>
              <a:rPr lang="nl-NL" b="1" dirty="0">
                <a:highlight>
                  <a:srgbClr val="FFFFFF"/>
                </a:highlight>
              </a:rPr>
              <a:t>					^Naam</a:t>
            </a:r>
          </a:p>
          <a:p>
            <a:pPr marL="0" indent="0">
              <a:buNone/>
            </a:pPr>
            <a:r>
              <a:rPr lang="nl-NL" sz="2800" b="1" dirty="0">
                <a:highlight>
                  <a:srgbClr val="FFFFFF"/>
                </a:highlight>
              </a:rPr>
              <a:t>							^Toewijzing</a:t>
            </a:r>
          </a:p>
          <a:p>
            <a:pPr marL="0" indent="0">
              <a:buNone/>
            </a:pPr>
            <a:r>
              <a:rPr lang="nl-NL" b="1" dirty="0">
                <a:highlight>
                  <a:srgbClr val="FFFFFF"/>
                </a:highlight>
              </a:rPr>
              <a:t>									^Inhoud</a:t>
            </a:r>
            <a:endParaRPr lang="nn-NO" sz="2800" b="1" dirty="0"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72879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96D0F-E8D5-9303-3D9A-69282BA78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Functies (1 van 2)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3623D5-7504-1BF0-6C7C-75A4FC1560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273970"/>
            <a:ext cx="10512424" cy="823912"/>
          </a:xfrm>
        </p:spPr>
        <p:txBody>
          <a:bodyPr/>
          <a:lstStyle/>
          <a:p>
            <a:r>
              <a:rPr lang="en-US" dirty="0"/>
              <a:t>Een </a:t>
            </a:r>
            <a:r>
              <a:rPr lang="en-US" dirty="0" err="1"/>
              <a:t>functie</a:t>
            </a:r>
            <a:r>
              <a:rPr lang="en-US" dirty="0"/>
              <a:t> is </a:t>
            </a:r>
            <a:r>
              <a:rPr lang="en-US" dirty="0" err="1"/>
              <a:t>een</a:t>
            </a:r>
            <a:r>
              <a:rPr lang="en-US" dirty="0"/>
              <a:t> ‘named block of code’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5AC1A-C8DE-F5D5-4E32-DB57422C9D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  <a:p>
            <a:pPr marL="0" indent="0">
              <a:buNone/>
            </a:pPr>
            <a:endParaRPr lang="nl-NL" sz="2800" b="1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def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00FF"/>
                </a:solidFill>
                <a:highlight>
                  <a:srgbClr val="FFFFFF"/>
                </a:highlight>
              </a:rPr>
              <a:t>func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():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0000"/>
                </a:solidFill>
                <a:highlight>
                  <a:srgbClr val="FFFFFF"/>
                </a:highlight>
              </a:rPr>
              <a:t>10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7D279-DCC1-D5C9-80DE-11AD3BC0212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C++</a:t>
            </a:r>
          </a:p>
          <a:p>
            <a:pPr marL="0" indent="0">
              <a:buNone/>
            </a:pPr>
            <a:endParaRPr lang="nl-NL" sz="2800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func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8000"/>
                </a:solidFill>
                <a:highlight>
                  <a:srgbClr val="FFFFFF"/>
                </a:highlight>
              </a:rPr>
              <a:t>10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358296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81F959-CA73-2FD9-B025-6FB20B865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C6B63-70DE-2F4E-A3A6-F9EAEB5B4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Functies (2 van 2)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939B4-5347-F8F4-1CC2-DD2748A3CE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599533"/>
            <a:ext cx="5181600" cy="3577430"/>
          </a:xfrm>
        </p:spPr>
        <p:txBody>
          <a:bodyPr/>
          <a:lstStyle/>
          <a:p>
            <a:r>
              <a:rPr lang="en-US" dirty="0"/>
              <a:t>Python</a:t>
            </a:r>
          </a:p>
          <a:p>
            <a:pPr marL="0" indent="0">
              <a:buNone/>
            </a:pPr>
            <a:endParaRPr lang="nl-NL" sz="2800" b="1" dirty="0">
              <a:solidFill>
                <a:srgbClr val="0000FF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def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00FF"/>
                </a:solidFill>
                <a:highlight>
                  <a:srgbClr val="FFFFFF"/>
                </a:highlight>
              </a:rPr>
              <a:t>func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():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   </a:t>
            </a: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0000"/>
                </a:solidFill>
                <a:highlight>
                  <a:srgbClr val="FFFFFF"/>
                </a:highlight>
              </a:rPr>
              <a:t>10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DC92D2-C6C3-6761-1A61-E918104A9B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599533"/>
            <a:ext cx="5181600" cy="3577430"/>
          </a:xfrm>
        </p:spPr>
        <p:txBody>
          <a:bodyPr/>
          <a:lstStyle/>
          <a:p>
            <a:r>
              <a:rPr lang="en-US" dirty="0"/>
              <a:t>C++</a:t>
            </a:r>
          </a:p>
          <a:p>
            <a:pPr marL="0" indent="0">
              <a:buNone/>
            </a:pPr>
            <a:endParaRPr lang="nl-NL" sz="2800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func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() {</a:t>
            </a:r>
            <a:r>
              <a:rPr lang="nl-NL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10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; </a:t>
            </a:r>
            <a:r>
              <a:rPr lang="en-NL" sz="2800" b="1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9F2D4A-86AC-77C5-FA79-FA361D984971}"/>
              </a:ext>
            </a:extLst>
          </p:cNvPr>
          <p:cNvSpPr txBox="1">
            <a:spLocks/>
          </p:cNvSpPr>
          <p:nvPr/>
        </p:nvSpPr>
        <p:spPr>
          <a:xfrm>
            <a:off x="839788" y="1690688"/>
            <a:ext cx="10512424" cy="823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/>
              <a:t>Belang van indentatie (Python) geldt niet in C++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9544952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4DDAB-D763-FAAD-5CCA-0C249D787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CFD93-ADC0-70DB-48EC-02A658260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Anatomie</a:t>
            </a:r>
            <a:r>
              <a:rPr lang="en-US" dirty="0"/>
              <a:t> van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dirty="0" err="1"/>
              <a:t>functie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1359-4C3D-9D15-3103-8EDE7FCF6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3071178"/>
          </a:xfrm>
        </p:spPr>
        <p:txBody>
          <a:bodyPr/>
          <a:lstStyle/>
          <a:p>
            <a:pPr marL="0" indent="0">
              <a:buNone/>
            </a:pPr>
            <a:r>
              <a:rPr lang="nl-NL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</a:rPr>
              <a:t> func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</a:rPr>
              <a:t>()				</a:t>
            </a:r>
            <a:r>
              <a:rPr lang="nl-NL" b="1" dirty="0">
                <a:highlight>
                  <a:srgbClr val="FFFFFF"/>
                </a:highlight>
              </a:rPr>
              <a:t> &lt; Signature</a:t>
            </a:r>
            <a:endParaRPr lang="nl-NL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</a:rPr>
              <a:t>{					</a:t>
            </a:r>
            <a:r>
              <a:rPr lang="nl-NL" b="1" dirty="0">
                <a:highlight>
                  <a:srgbClr val="FFFFFF"/>
                </a:highlight>
              </a:rPr>
              <a:t>&lt; Body open</a:t>
            </a:r>
            <a:endParaRPr lang="nl-NL" dirty="0"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b="1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dirty="0">
                <a:solidFill>
                  <a:srgbClr val="FF8000"/>
                </a:solidFill>
                <a:highlight>
                  <a:srgbClr val="FFFFFF"/>
                </a:highlight>
              </a:rPr>
              <a:t>10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			</a:t>
            </a:r>
            <a:r>
              <a:rPr lang="en-US" b="1" dirty="0">
                <a:highlight>
                  <a:srgbClr val="FFFFFF"/>
                </a:highlight>
              </a:rPr>
              <a:t>&lt; Body</a:t>
            </a:r>
          </a:p>
          <a:p>
            <a:pPr marL="0" indent="0">
              <a:buNone/>
            </a:pPr>
            <a:r>
              <a:rPr lang="en-NL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					</a:t>
            </a:r>
            <a:r>
              <a:rPr lang="en-US" b="1" dirty="0">
                <a:highlight>
                  <a:srgbClr val="FFFFFF"/>
                </a:highlight>
              </a:rPr>
              <a:t>&lt; Body close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548477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25264-A175-6143-A90E-9DFF2A856D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3871A2-36F5-71BB-9843-21762F39A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Anatomie</a:t>
            </a:r>
            <a:r>
              <a:rPr lang="en-US" dirty="0"/>
              <a:t> van de signature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012AE4-3EF7-1FA9-007A-7BC510035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nl-NL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</a:rPr>
              <a:t> 			func		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</a:rPr>
              <a:t>()</a:t>
            </a:r>
          </a:p>
          <a:p>
            <a:pPr marL="0" indent="0">
              <a:buNone/>
            </a:pPr>
            <a:r>
              <a:rPr lang="nl-NL" b="1" dirty="0">
                <a:highlight>
                  <a:srgbClr val="FFFFFF"/>
                </a:highlight>
              </a:rPr>
              <a:t>^Return type</a:t>
            </a:r>
          </a:p>
          <a:p>
            <a:pPr marL="0" indent="0">
              <a:buNone/>
            </a:pPr>
            <a:r>
              <a:rPr lang="nl-NL" b="1" dirty="0">
                <a:highlight>
                  <a:srgbClr val="FFFFFF"/>
                </a:highlight>
              </a:rPr>
              <a:t>			^Name</a:t>
            </a:r>
          </a:p>
          <a:p>
            <a:pPr marL="0" indent="0">
              <a:buNone/>
            </a:pPr>
            <a:r>
              <a:rPr lang="nl-NL" b="1" dirty="0">
                <a:highlight>
                  <a:srgbClr val="FFFFFF"/>
                </a:highlight>
              </a:rPr>
              <a:t>					^Parameter lijst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428212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BED603-2F97-676C-8EC9-035DC1EF99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 types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BFFF88-48C2-5E83-F261-77C6B45DEE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Mag letterlijk alles zijn!</a:t>
            </a:r>
          </a:p>
          <a:p>
            <a:pPr lvl="1"/>
            <a:r>
              <a:rPr lang="nl-NL" noProof="0" dirty="0"/>
              <a:t>Alle basis types (char, int, float, bool, etc.)</a:t>
            </a:r>
          </a:p>
          <a:p>
            <a:pPr lvl="1"/>
            <a:r>
              <a:rPr lang="nl-NL" noProof="0" dirty="0"/>
              <a:t>Uitgebreide types uit de Standard Library (vector, map, uint, etc.)</a:t>
            </a:r>
          </a:p>
          <a:p>
            <a:pPr lvl="1"/>
            <a:r>
              <a:rPr lang="nl-NL" dirty="0"/>
              <a:t>Anders gedefiniëerde types uit andere libraries (boost::unit, bijvoorbeeld)</a:t>
            </a:r>
            <a:endParaRPr lang="nl-NL" noProof="0" dirty="0"/>
          </a:p>
          <a:p>
            <a:pPr lvl="1"/>
            <a:r>
              <a:rPr lang="nl-NL" noProof="0" dirty="0"/>
              <a:t>Zelf </a:t>
            </a:r>
            <a:r>
              <a:rPr lang="nl-NL" noProof="0"/>
              <a:t>gedefiniëerde types</a:t>
            </a:r>
            <a:br>
              <a:rPr lang="nl-NL" noProof="0"/>
            </a:br>
            <a:r>
              <a:rPr lang="nl-NL" noProof="0"/>
              <a:t>of</a:t>
            </a:r>
            <a:endParaRPr lang="nl-NL" noProof="0" dirty="0"/>
          </a:p>
          <a:p>
            <a:pPr lvl="1"/>
            <a:r>
              <a:rPr lang="nl-NL" dirty="0"/>
              <a:t>Niets: </a:t>
            </a:r>
            <a:r>
              <a:rPr lang="nl-NL" i="1" dirty="0"/>
              <a:t>void</a:t>
            </a:r>
          </a:p>
          <a:p>
            <a:pPr marL="457200" lvl="1" indent="0">
              <a:buNone/>
            </a:pPr>
            <a:endParaRPr lang="nl-NL" noProof="0" dirty="0"/>
          </a:p>
          <a:p>
            <a:r>
              <a:rPr lang="nl-NL" dirty="0"/>
              <a:t>Als het return type géén void is móet de functie iets returnen</a:t>
            </a:r>
          </a:p>
        </p:txBody>
      </p:sp>
    </p:spTree>
    <p:extLst>
      <p:ext uri="{BB962C8B-B14F-4D97-AF65-F5344CB8AC3E}">
        <p14:creationId xmlns:p14="http://schemas.microsoft.com/office/powerpoint/2010/main" val="37571178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777DF-3375-B995-8815-0AF121C45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956F-8E7D-FC87-2256-88B57774A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Parameters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8CFFD-FD49-ADF4-7A20-36FD59D30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FF"/>
                </a:highlight>
              </a:rPr>
              <a:t>Soms </a:t>
            </a:r>
            <a:r>
              <a:rPr lang="en-US" dirty="0" err="1">
                <a:highlight>
                  <a:srgbClr val="FFFFFF"/>
                </a:highlight>
              </a:rPr>
              <a:t>wil</a:t>
            </a:r>
            <a:r>
              <a:rPr lang="en-US" dirty="0">
                <a:highlight>
                  <a:srgbClr val="FFFFFF"/>
                </a:highlight>
              </a:rPr>
              <a:t> je </a:t>
            </a:r>
            <a:r>
              <a:rPr lang="en-US" dirty="0" err="1">
                <a:highlight>
                  <a:srgbClr val="FFFFFF"/>
                </a:highlight>
              </a:rPr>
              <a:t>dingen</a:t>
            </a:r>
            <a:r>
              <a:rPr lang="en-US" dirty="0">
                <a:highlight>
                  <a:srgbClr val="FFFFFF"/>
                </a:highlight>
              </a:rPr>
              <a:t> van </a:t>
            </a:r>
            <a:r>
              <a:rPr lang="en-US" dirty="0" err="1">
                <a:highlight>
                  <a:srgbClr val="FFFFFF"/>
                </a:highlight>
              </a:rPr>
              <a:t>buiten</a:t>
            </a:r>
            <a:r>
              <a:rPr lang="en-US" dirty="0">
                <a:highlight>
                  <a:srgbClr val="FFFFFF"/>
                </a:highlight>
              </a:rPr>
              <a:t> de </a:t>
            </a:r>
            <a:r>
              <a:rPr lang="en-US" dirty="0" err="1">
                <a:highlight>
                  <a:srgbClr val="FFFFFF"/>
                </a:highlight>
              </a:rPr>
              <a:t>functie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gebruiken</a:t>
            </a:r>
            <a:r>
              <a:rPr lang="en-US" dirty="0">
                <a:highlight>
                  <a:srgbClr val="FFFFFF"/>
                </a:highlight>
              </a:rPr>
              <a:t> </a:t>
            </a:r>
            <a:r>
              <a:rPr lang="en-US" dirty="0" err="1">
                <a:highlight>
                  <a:srgbClr val="FFFFFF"/>
                </a:highlight>
              </a:rPr>
              <a:t>ín</a:t>
            </a:r>
            <a:r>
              <a:rPr lang="en-US" dirty="0">
                <a:highlight>
                  <a:srgbClr val="FFFFFF"/>
                </a:highlight>
              </a:rPr>
              <a:t> de </a:t>
            </a:r>
            <a:r>
              <a:rPr lang="en-US" dirty="0" err="1">
                <a:highlight>
                  <a:srgbClr val="FFFFFF"/>
                </a:highlight>
              </a:rPr>
              <a:t>functie</a:t>
            </a:r>
            <a:r>
              <a:rPr lang="en-US" dirty="0">
                <a:highlight>
                  <a:srgbClr val="FFFFFF"/>
                </a:highlight>
              </a:rPr>
              <a:t>:</a:t>
            </a:r>
            <a:endParaRPr lang="en-US" sz="2800" dirty="0"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square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 sz="2800" b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 num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num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main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getal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8000"/>
                </a:solidFill>
                <a:highlight>
                  <a:srgbClr val="FFFFFF"/>
                </a:highlight>
              </a:rPr>
              <a:t>12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dirty="0">
                <a:solidFill>
                  <a:srgbClr val="8000FF"/>
                </a:solidFill>
                <a:highlight>
                  <a:srgbClr val="FFFFFF"/>
                </a:highlight>
              </a:rPr>
              <a:t>int 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nieuw_getal = square(getal);</a:t>
            </a: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cout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nieuw_getal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endl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nl-NL" noProof="0" dirty="0"/>
          </a:p>
        </p:txBody>
      </p:sp>
    </p:spTree>
    <p:extLst>
      <p:ext uri="{BB962C8B-B14F-4D97-AF65-F5344CB8AC3E}">
        <p14:creationId xmlns:p14="http://schemas.microsoft.com/office/powerpoint/2010/main" val="13729815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2D85A-C39D-B62A-B771-3C6E1AEA80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3D49B-C796-23A5-1EB4-AC0841C26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Parameter types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C02BD4-CC00-7EDD-503A-7C8B148FD6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noProof="0" dirty="0"/>
              <a:t>Mag </a:t>
            </a:r>
            <a:r>
              <a:rPr lang="nl-NL" i="1" dirty="0"/>
              <a:t>bijna</a:t>
            </a:r>
            <a:r>
              <a:rPr lang="nl-NL" noProof="0" dirty="0"/>
              <a:t> alles zijn!</a:t>
            </a:r>
          </a:p>
          <a:p>
            <a:pPr lvl="1"/>
            <a:r>
              <a:rPr lang="nl-NL" noProof="0" dirty="0"/>
              <a:t>Alle basis types (char, int, float, bool, etc.)</a:t>
            </a:r>
          </a:p>
          <a:p>
            <a:pPr lvl="1"/>
            <a:r>
              <a:rPr lang="nl-NL" noProof="0" dirty="0"/>
              <a:t>Uitgebreide types uit de Standard Library (vector, map, uint, etc.)</a:t>
            </a:r>
          </a:p>
          <a:p>
            <a:pPr lvl="1"/>
            <a:r>
              <a:rPr lang="nl-NL" dirty="0"/>
              <a:t>Anders gedefiniëerde types uit andere libraries (boost::unit, bijvoorbeeld)</a:t>
            </a:r>
            <a:endParaRPr lang="nl-NL" noProof="0" dirty="0"/>
          </a:p>
          <a:p>
            <a:pPr lvl="1"/>
            <a:r>
              <a:rPr lang="nl-NL" noProof="0" dirty="0"/>
              <a:t>Zelf gedefiniëerde types</a:t>
            </a:r>
          </a:p>
          <a:p>
            <a:pPr lvl="1"/>
            <a:endParaRPr lang="nl-NL" dirty="0"/>
          </a:p>
          <a:p>
            <a:pPr lvl="1"/>
            <a:r>
              <a:rPr lang="nl-NL" noProof="0" dirty="0"/>
              <a:t>Geen void </a:t>
            </a:r>
            <a:r>
              <a:rPr lang="nl-NL" noProof="0" dirty="0">
                <a:sym typeface="Wingdings" panose="05000000000000000000" pitchFamily="2" charset="2"/>
              </a:rPr>
              <a:t></a:t>
            </a:r>
          </a:p>
          <a:p>
            <a:pPr lvl="2"/>
            <a:r>
              <a:rPr lang="nl-NL" dirty="0">
                <a:sym typeface="Wingdings" panose="05000000000000000000" pitchFamily="2" charset="2"/>
              </a:rPr>
              <a:t>Maarja.. je kunt ook niet echt iets met een </a:t>
            </a:r>
            <a:r>
              <a:rPr lang="nl-NL">
                <a:sym typeface="Wingdings" panose="05000000000000000000" pitchFamily="2" charset="2"/>
              </a:rPr>
              <a:t>void type</a:t>
            </a:r>
          </a:p>
          <a:p>
            <a:pPr lvl="1"/>
            <a:r>
              <a:rPr lang="nl-NL">
                <a:sym typeface="Wingdings" panose="05000000000000000000" pitchFamily="2" charset="2"/>
              </a:rPr>
              <a:t>De parameterlijst mag wel </a:t>
            </a:r>
            <a:r>
              <a:rPr lang="nl-NL" i="1">
                <a:sym typeface="Wingdings" panose="05000000000000000000" pitchFamily="2" charset="2"/>
              </a:rPr>
              <a:t>leeg</a:t>
            </a:r>
            <a:r>
              <a:rPr lang="nl-NL">
                <a:sym typeface="Wingdings" panose="05000000000000000000" pitchFamily="2" charset="2"/>
              </a:rPr>
              <a:t> zijn: ()</a:t>
            </a:r>
            <a:endParaRPr lang="nl-NL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1888095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F03279-3AB2-F6C7-78B5-BCBF16EC3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Meerdere</a:t>
            </a:r>
            <a:r>
              <a:rPr lang="en-US" dirty="0"/>
              <a:t> parameters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71844-F974-3D41-16E1-201FD424D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8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800">
                <a:solidFill>
                  <a:srgbClr val="000000"/>
                </a:solidFill>
                <a:highlight>
                  <a:srgbClr val="FFFFFF"/>
                </a:highlight>
              </a:rPr>
              <a:t>sum</a:t>
            </a:r>
            <a:r>
              <a:rPr lang="en-US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en-US" sz="2800" b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sz="2800" b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num1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num2, </a:t>
            </a:r>
            <a:r>
              <a:rPr lang="en-US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en-US">
                <a:solidFill>
                  <a:srgbClr val="000000"/>
                </a:solidFill>
                <a:highlight>
                  <a:srgbClr val="FFFFFF"/>
                </a:highlight>
              </a:rPr>
              <a:t> num3 </a:t>
            </a:r>
            <a:r>
              <a:rPr lang="en-US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r>
              <a:rPr lang="en-US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		</a:t>
            </a:r>
            <a:r>
              <a:rPr lang="en-US" sz="2800" b="1" dirty="0">
                <a:highlight>
                  <a:srgbClr val="FFFFFF"/>
                </a:highlight>
              </a:rPr>
              <a:t>&lt; </a:t>
            </a:r>
            <a:r>
              <a:rPr lang="nl-NL" sz="2800" b="1" noProof="0" dirty="0">
                <a:highlight>
                  <a:srgbClr val="FFFFFF"/>
                </a:highlight>
              </a:rPr>
              <a:t>Zelfde</a:t>
            </a:r>
            <a:r>
              <a:rPr lang="en-US" sz="2800" b="1" dirty="0">
                <a:highlight>
                  <a:srgbClr val="FFFFFF"/>
                </a:highlight>
              </a:rPr>
              <a:t> types</a:t>
            </a:r>
            <a:endParaRPr lang="en-US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num1+num2+num3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US" sz="2800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char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getChar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string 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longWord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 index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	</a:t>
            </a:r>
            <a:r>
              <a:rPr lang="nl-NL" sz="2800" b="1" dirty="0">
                <a:highlight>
                  <a:srgbClr val="FFFFFF"/>
                </a:highlight>
              </a:rPr>
              <a:t>&lt; Andere types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1" dirty="0">
                <a:solidFill>
                  <a:srgbClr val="0000FF"/>
                </a:solidFill>
                <a:highlight>
                  <a:srgbClr val="FFFFFF"/>
                </a:highlight>
              </a:rPr>
              <a:t>return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longWord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[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index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];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689110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E35069-6282-258D-AA48-962FD49C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&lt;</a:t>
            </a:r>
            <a:r>
              <a:rPr lang="en-US" dirty="0" err="1"/>
              <a:t>br</a:t>
            </a:r>
            <a:r>
              <a:rPr lang="en-US" dirty="0"/>
              <a:t>&gt;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0BE7FE-75BD-E08C-F494-C53920F398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457811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07FDC-5DA6-3C88-A6C2-C10ACF16D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de output van </a:t>
            </a:r>
            <a:r>
              <a:rPr lang="en-US" dirty="0" err="1"/>
              <a:t>deze</a:t>
            </a:r>
            <a:r>
              <a:rPr lang="en-US" dirty="0"/>
              <a:t> code?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54004-3F4D-93EF-C7E7-80D5B942EBE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verdubbel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>
                <a:solidFill>
                  <a:srgbClr val="8000FF"/>
                </a:solidFill>
                <a:highlight>
                  <a:srgbClr val="FFFFFF"/>
                </a:highlight>
              </a:rPr>
              <a:t>int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	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*=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2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main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3</a:t>
            </a:r>
            <a:r>
              <a:rPr lang="nl-NL" b="1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verdubbel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nummer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cout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endl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AEAC6E9-3AE3-2BD5-E093-315EDB8006CB}"/>
              </a:ext>
            </a:extLst>
          </p:cNvPr>
          <p:cNvSpPr/>
          <p:nvPr/>
        </p:nvSpPr>
        <p:spPr>
          <a:xfrm>
            <a:off x="8610600" y="2696066"/>
            <a:ext cx="1370814" cy="732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C78A530-8109-C03A-38C8-103F5AFAE125}"/>
              </a:ext>
            </a:extLst>
          </p:cNvPr>
          <p:cNvSpPr txBox="1">
            <a:spLocks/>
          </p:cNvSpPr>
          <p:nvPr/>
        </p:nvSpPr>
        <p:spPr>
          <a:xfrm>
            <a:off x="8763000" y="1825625"/>
            <a:ext cx="5181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buFont typeface="+mj-lt"/>
              <a:buAutoNum type="alphaUcPeriod"/>
            </a:pPr>
            <a:r>
              <a:rPr lang="en-US"/>
              <a:t>2</a:t>
            </a:r>
          </a:p>
          <a:p>
            <a:pPr marL="514350" indent="-514350">
              <a:buFont typeface="+mj-lt"/>
              <a:buAutoNum type="alphaUcPeriod"/>
            </a:pPr>
            <a:endParaRPr lang="en-US"/>
          </a:p>
          <a:p>
            <a:pPr marL="514350" indent="-514350">
              <a:buFont typeface="+mj-lt"/>
              <a:buAutoNum type="alphaUcPeriod"/>
            </a:pPr>
            <a:r>
              <a:rPr lang="en-US"/>
              <a:t>3</a:t>
            </a:r>
          </a:p>
          <a:p>
            <a:pPr marL="514350" indent="-514350">
              <a:buFont typeface="+mj-lt"/>
              <a:buAutoNum type="alphaUcPeriod"/>
            </a:pPr>
            <a:endParaRPr lang="en-US"/>
          </a:p>
          <a:p>
            <a:pPr marL="514350" indent="-514350">
              <a:buFont typeface="+mj-lt"/>
              <a:buAutoNum type="alphaUcPeriod"/>
            </a:pPr>
            <a:r>
              <a:rPr lang="en-US"/>
              <a:t>6</a:t>
            </a:r>
          </a:p>
          <a:p>
            <a:pPr marL="514350" indent="-514350">
              <a:buFont typeface="+mj-lt"/>
              <a:buAutoNum type="alphaUcPeriod"/>
            </a:pPr>
            <a:endParaRPr lang="en-US"/>
          </a:p>
          <a:p>
            <a:pPr marL="514350" indent="-514350">
              <a:buFont typeface="+mj-lt"/>
              <a:buAutoNum type="alphaUcPeriod"/>
            </a:pPr>
            <a:r>
              <a:rPr lang="en-US"/>
              <a:t>Error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4701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9C7BA5-F72F-56BD-5BB5-24741F204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56C17-16B6-876D-3461-616D563C3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de output van </a:t>
            </a:r>
            <a:r>
              <a:rPr lang="en-US" dirty="0" err="1"/>
              <a:t>deze</a:t>
            </a:r>
            <a:r>
              <a:rPr lang="en-US" dirty="0"/>
              <a:t> code?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DB4B9-595A-DE80-4BBF-B370B05F14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585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verdubbel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>
                <a:solidFill>
                  <a:srgbClr val="8000FF"/>
                </a:solidFill>
                <a:highlight>
                  <a:srgbClr val="FFFFFF"/>
                </a:highlight>
              </a:rPr>
              <a:t>int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return 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*=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2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main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8000"/>
                </a:solidFill>
                <a:highlight>
                  <a:srgbClr val="FFFFFF"/>
                </a:highlight>
              </a:rPr>
              <a:t>3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nummer =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verdubbel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nummer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cout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endl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EDEC9E-0F53-1857-CF90-14B3B4B7C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63000" y="1825625"/>
            <a:ext cx="5181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6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Error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38FD759-71A2-E024-3467-CF3615D528BE}"/>
              </a:ext>
            </a:extLst>
          </p:cNvPr>
          <p:cNvSpPr/>
          <p:nvPr/>
        </p:nvSpPr>
        <p:spPr>
          <a:xfrm>
            <a:off x="8762999" y="4741683"/>
            <a:ext cx="1540497" cy="732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99599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784026-63B1-BCC6-31F8-6E899A98B5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971ED-BA22-47E1-0B0A-3F17CB48BA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de output van </a:t>
            </a:r>
            <a:r>
              <a:rPr lang="en-US" dirty="0" err="1"/>
              <a:t>deze</a:t>
            </a:r>
            <a:r>
              <a:rPr lang="en-US" dirty="0"/>
              <a:t> code?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E3F4E6-2E72-6BDE-18D5-6ED61749E6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585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verdubbel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>
                <a:solidFill>
                  <a:srgbClr val="8000FF"/>
                </a:solidFill>
                <a:highlight>
                  <a:srgbClr val="FFFFFF"/>
                </a:highlight>
              </a:rPr>
              <a:t>int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getal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*=</a:t>
            </a:r>
            <a:r>
              <a:rPr lang="nl-NL" sz="2800" b="0" dirty="0">
                <a:solidFill>
                  <a:srgbClr val="FF8000"/>
                </a:solidFill>
                <a:highlight>
                  <a:srgbClr val="FFFFFF"/>
                </a:highlight>
              </a:rPr>
              <a:t>2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main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8000"/>
                </a:solidFill>
                <a:highlight>
                  <a:srgbClr val="FFFFFF"/>
                </a:highlight>
              </a:rPr>
              <a:t>3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nummer = verdubbel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nummer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cout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endl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471826-ED30-1627-94AE-1BA2637242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63000" y="1825625"/>
            <a:ext cx="5181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6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Error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367654E-75E4-21A6-130F-6BB63F2A88CB}"/>
              </a:ext>
            </a:extLst>
          </p:cNvPr>
          <p:cNvSpPr/>
          <p:nvPr/>
        </p:nvSpPr>
        <p:spPr>
          <a:xfrm>
            <a:off x="8762999" y="4741683"/>
            <a:ext cx="1540497" cy="732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316120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714C8-BEFC-1E89-1F07-BF71420FA6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40A6B-33ED-3CD7-00AC-19F367A6F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de output van </a:t>
            </a:r>
            <a:r>
              <a:rPr lang="en-US" dirty="0" err="1"/>
              <a:t>deze</a:t>
            </a:r>
            <a:r>
              <a:rPr lang="en-US" dirty="0"/>
              <a:t> code?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EF107-39AE-920F-7BEE-1672467B52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58526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verdubbel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>
                <a:solidFill>
                  <a:srgbClr val="8000FF"/>
                </a:solidFill>
                <a:highlight>
                  <a:srgbClr val="FFFFFF"/>
                </a:highlight>
              </a:rPr>
              <a:t>int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return 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*=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2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main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 dirty="0">
                <a:solidFill>
                  <a:srgbClr val="FF8000"/>
                </a:solidFill>
                <a:highlight>
                  <a:srgbClr val="FFFFFF"/>
                </a:highlight>
              </a:rPr>
              <a:t>3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nummer = verdubbel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nummer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cout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endl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420C95-2A8A-8387-2DC1-95A2CD1494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63000" y="1825625"/>
            <a:ext cx="5181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6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Error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25569D-C21A-DB21-A3C4-DBE5B86FB7BC}"/>
              </a:ext>
            </a:extLst>
          </p:cNvPr>
          <p:cNvSpPr/>
          <p:nvPr/>
        </p:nvSpPr>
        <p:spPr>
          <a:xfrm>
            <a:off x="8678158" y="3723588"/>
            <a:ext cx="1540497" cy="732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1921580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74DE21-9746-3D46-4B66-AE04063A9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6BB16-5114-2BA9-6911-4BEA5BB1F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de output van </a:t>
            </a:r>
            <a:r>
              <a:rPr lang="en-US" dirty="0" err="1"/>
              <a:t>deze</a:t>
            </a:r>
            <a:r>
              <a:rPr lang="en-US" dirty="0"/>
              <a:t> code?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6235E-709A-60A9-12BF-3F71EF1193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958526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verdubbel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>
                <a:solidFill>
                  <a:srgbClr val="8000FF"/>
                </a:solidFill>
                <a:highlight>
                  <a:srgbClr val="FFFFFF"/>
                </a:highlight>
              </a:rPr>
              <a:t>int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return getal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return getal*2;</a:t>
            </a:r>
          </a:p>
          <a:p>
            <a:pPr marL="0" indent="0">
              <a:buNone/>
            </a:pPr>
            <a:endParaRPr lang="en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main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() 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3</a:t>
            </a:r>
            <a:r>
              <a:rPr lang="nl-NL" b="1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nummer = verdubbel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nummer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cout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endl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9DC28B-DF4C-5321-AC85-01224D8F3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63000" y="1825625"/>
            <a:ext cx="5181600" cy="43513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6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Error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8AB257-8FAF-5CF4-685F-65DE284ADE16}"/>
              </a:ext>
            </a:extLst>
          </p:cNvPr>
          <p:cNvSpPr/>
          <p:nvPr/>
        </p:nvSpPr>
        <p:spPr>
          <a:xfrm>
            <a:off x="8574464" y="2592372"/>
            <a:ext cx="1540497" cy="732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0136943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6284C-B120-BC68-C090-61342AE1A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458B-9935-2EC2-A33D-4094A6CF9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 is de output van </a:t>
            </a:r>
            <a:r>
              <a:rPr lang="en-US" dirty="0" err="1"/>
              <a:t>deze</a:t>
            </a:r>
            <a:r>
              <a:rPr lang="en-US" dirty="0"/>
              <a:t> code?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71F83-EF88-4B57-5CA0-D17B98EB27C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nl-NL" sz="2800" dirty="0">
                <a:solidFill>
                  <a:srgbClr val="8000FF"/>
                </a:solidFill>
                <a:highlight>
                  <a:srgbClr val="FFFFFF"/>
                </a:highlight>
              </a:rPr>
              <a:t>void</a:t>
            </a:r>
            <a:r>
              <a:rPr lang="nl-NL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>
                <a:solidFill>
                  <a:srgbClr val="000000"/>
                </a:solidFill>
                <a:highlight>
                  <a:srgbClr val="FFFFFF"/>
                </a:highlight>
              </a:rPr>
              <a:t>verdubbel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 sz="2800" b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&amp;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 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){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	getal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*=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2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main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(){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nl-NL" sz="28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nl-NL" sz="2800" b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800" b="0">
                <a:solidFill>
                  <a:srgbClr val="FF8000"/>
                </a:solidFill>
                <a:highlight>
                  <a:srgbClr val="FFFFFF"/>
                </a:highlight>
              </a:rPr>
              <a:t>3</a:t>
            </a:r>
            <a:r>
              <a:rPr lang="nl-NL" b="1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verdubbel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nummer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);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cout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nummer 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&lt;&lt;</a:t>
            </a:r>
            <a:r>
              <a:rPr lang="nl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endl</a:t>
            </a:r>
            <a:r>
              <a:rPr lang="nl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;</a:t>
            </a:r>
            <a:endParaRPr lang="nl-NL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NL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9763A8-8F1D-F8EC-EFB2-2EBBC9AF04D1}"/>
              </a:ext>
            </a:extLst>
          </p:cNvPr>
          <p:cNvSpPr/>
          <p:nvPr/>
        </p:nvSpPr>
        <p:spPr>
          <a:xfrm>
            <a:off x="8649881" y="3723588"/>
            <a:ext cx="1370814" cy="73293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91F9DA6D-0C34-EC59-B1A1-C3845AFC49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763000" y="1825625"/>
            <a:ext cx="5181600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lphaUcPeriod"/>
            </a:pPr>
            <a:r>
              <a:rPr lang="en-US" dirty="0"/>
              <a:t>2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6</a:t>
            </a:r>
          </a:p>
          <a:p>
            <a:pPr marL="514350" indent="-514350">
              <a:buFont typeface="+mj-lt"/>
              <a:buAutoNum type="alphaUcPeriod"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Error</a:t>
            </a:r>
          </a:p>
        </p:txBody>
      </p:sp>
    </p:spTree>
    <p:extLst>
      <p:ext uri="{BB962C8B-B14F-4D97-AF65-F5344CB8AC3E}">
        <p14:creationId xmlns:p14="http://schemas.microsoft.com/office/powerpoint/2010/main" val="189866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470F8-A3E4-A759-6A4C-5487B0FA5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noProof="0" dirty="0"/>
              <a:t>References, kopieën, </a:t>
            </a:r>
            <a:r>
              <a:rPr lang="nl-NL" sz="1200" noProof="0" dirty="0"/>
              <a:t>pointers</a:t>
            </a:r>
            <a:endParaRPr lang="nl-NL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42D5-9A7E-50A7-3178-5F9F0DFF97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Parameters </a:t>
            </a:r>
            <a:r>
              <a:rPr lang="en-US" dirty="0" err="1"/>
              <a:t>geef</a:t>
            </a:r>
            <a:r>
              <a:rPr lang="en-US" dirty="0"/>
              <a:t> je door </a:t>
            </a:r>
            <a:r>
              <a:rPr lang="en-US" dirty="0" err="1"/>
              <a:t>als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reference (&amp;)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value (</a:t>
            </a:r>
            <a:r>
              <a:rPr lang="en-US" dirty="0" err="1"/>
              <a:t>zonder</a:t>
            </a:r>
            <a:r>
              <a:rPr lang="en-US" dirty="0"/>
              <a:t> </a:t>
            </a:r>
            <a:r>
              <a:rPr lang="en-US" dirty="0" err="1"/>
              <a:t>teken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sz="1100" dirty="0"/>
              <a:t>pointer (*)</a:t>
            </a:r>
            <a:endParaRPr lang="en-NL" sz="11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2A008-ED96-1C3A-110E-260F9726DFE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highlight>
                  <a:srgbClr val="FFFFFF"/>
                </a:highlight>
              </a:rPr>
              <a:t>Code:</a:t>
            </a:r>
          </a:p>
          <a:p>
            <a:pPr marL="457200" lvl="1" indent="0">
              <a:buNone/>
            </a:pPr>
            <a:r>
              <a:rPr lang="nl-NL" sz="24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4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400">
                <a:solidFill>
                  <a:srgbClr val="000000"/>
                </a:solidFill>
                <a:highlight>
                  <a:srgbClr val="FFFFFF"/>
                </a:highlight>
              </a:rPr>
              <a:t>func</a:t>
            </a:r>
            <a:r>
              <a:rPr lang="nl-NL" sz="24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 sz="2400" b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2400" b="1">
                <a:solidFill>
                  <a:srgbClr val="000080"/>
                </a:solidFill>
                <a:highlight>
                  <a:srgbClr val="FFFFFF"/>
                </a:highlight>
              </a:rPr>
              <a:t>&amp;</a:t>
            </a:r>
            <a:r>
              <a:rPr lang="nl-NL" sz="2400" b="0">
                <a:solidFill>
                  <a:srgbClr val="000000"/>
                </a:solidFill>
                <a:highlight>
                  <a:srgbClr val="FFFFFF"/>
                </a:highlight>
              </a:rPr>
              <a:t> param </a:t>
            </a:r>
            <a:r>
              <a:rPr lang="nl-NL" sz="2400" b="1">
                <a:solidFill>
                  <a:srgbClr val="000080"/>
                </a:solidFill>
                <a:highlight>
                  <a:srgbClr val="FFFFFF"/>
                </a:highlight>
              </a:rPr>
              <a:t>){</a:t>
            </a:r>
            <a:r>
              <a:rPr lang="nl-NL" sz="2400" b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...</a:t>
            </a:r>
            <a:r>
              <a:rPr lang="nl-NL" sz="24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24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nl-NL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pPr marL="457200" lvl="1" indent="0">
              <a:buNone/>
            </a:pPr>
            <a:endParaRPr lang="nl-NL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pPr marL="457200" lvl="1" indent="0">
              <a:buNone/>
            </a:pPr>
            <a:endParaRPr lang="nl-NL" dirty="0">
              <a:solidFill>
                <a:srgbClr val="8000FF"/>
              </a:solidFill>
              <a:highlight>
                <a:srgbClr val="FFFFFF"/>
              </a:highlight>
            </a:endParaRPr>
          </a:p>
          <a:p>
            <a:pPr marL="457200" lvl="1" indent="0">
              <a:buNone/>
            </a:pPr>
            <a:r>
              <a:rPr lang="nl-NL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>
                <a:solidFill>
                  <a:srgbClr val="000000"/>
                </a:solidFill>
                <a:highlight>
                  <a:srgbClr val="FFFFFF"/>
                </a:highlight>
              </a:rPr>
              <a:t>func</a:t>
            </a:r>
            <a:r>
              <a:rPr lang="nl-NL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nl-NL" b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b="0">
                <a:solidFill>
                  <a:srgbClr val="000000"/>
                </a:solidFill>
                <a:highlight>
                  <a:srgbClr val="FFFFFF"/>
                </a:highlight>
              </a:rPr>
              <a:t> param </a:t>
            </a:r>
            <a:r>
              <a:rPr lang="nl-NL" b="1">
                <a:solidFill>
                  <a:srgbClr val="000080"/>
                </a:solidFill>
                <a:highlight>
                  <a:srgbClr val="FFFFFF"/>
                </a:highlight>
              </a:rPr>
              <a:t>){</a:t>
            </a:r>
            <a:r>
              <a:rPr lang="nl-NL" b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</a:rPr>
              <a:t>...</a:t>
            </a:r>
            <a:r>
              <a:rPr lang="nl-NL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</a:p>
          <a:p>
            <a:pPr marL="457200" lvl="1" indent="0">
              <a:buNone/>
            </a:pPr>
            <a:endParaRPr lang="nl-NL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 marL="457200" lvl="1" indent="0">
              <a:buNone/>
            </a:pPr>
            <a:endParaRPr lang="nl-NL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 marL="457200" lvl="1" indent="0">
              <a:buNone/>
            </a:pPr>
            <a:r>
              <a:rPr lang="nl-NL" sz="120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1200" dirty="0">
                <a:solidFill>
                  <a:srgbClr val="000000"/>
                </a:solidFill>
                <a:highlight>
                  <a:srgbClr val="FFFFFF"/>
                </a:highlight>
              </a:rPr>
              <a:t> func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nl-NL" sz="1200" b="0" dirty="0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*</a:t>
            </a:r>
            <a:r>
              <a:rPr lang="nl-NL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param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){</a:t>
            </a:r>
            <a:r>
              <a:rPr lang="nl-NL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...</a:t>
            </a:r>
            <a:r>
              <a:rPr lang="nl-NL" sz="12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nl-NL" sz="12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7834477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EC5918-D494-0217-F346-7F008CCC9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 			</a:t>
            </a:r>
            <a:r>
              <a:rPr lang="en-US"/>
              <a:t> vs</a:t>
            </a:r>
            <a:r>
              <a:rPr lang="en-US" dirty="0"/>
              <a:t>	</a:t>
            </a:r>
            <a:r>
              <a:rPr lang="en-US"/>
              <a:t>	 Value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D7B93-01CB-0618-5B73-ACEC3095CC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Maakt </a:t>
            </a:r>
            <a:r>
              <a:rPr lang="en-US" dirty="0" err="1"/>
              <a:t>géén</a:t>
            </a:r>
            <a:r>
              <a:rPr lang="en-US" dirty="0"/>
              <a:t> </a:t>
            </a:r>
            <a:r>
              <a:rPr lang="en-US" dirty="0" err="1"/>
              <a:t>nieuw</a:t>
            </a:r>
            <a:r>
              <a:rPr lang="en-US" dirty="0"/>
              <a:t> object</a:t>
            </a:r>
          </a:p>
          <a:p>
            <a:pPr lvl="1"/>
            <a:r>
              <a:rPr lang="en-US" dirty="0" err="1"/>
              <a:t>Gebruikt</a:t>
            </a:r>
            <a:r>
              <a:rPr lang="en-US" dirty="0"/>
              <a:t> </a:t>
            </a:r>
            <a:r>
              <a:rPr lang="en-US" dirty="0" err="1"/>
              <a:t>hetzelfde</a:t>
            </a:r>
            <a:r>
              <a:rPr lang="en-US" dirty="0"/>
              <a:t> </a:t>
            </a:r>
            <a:r>
              <a:rPr lang="en-US" dirty="0" err="1"/>
              <a:t>geheugen</a:t>
            </a:r>
            <a:endParaRPr lang="en-US" dirty="0"/>
          </a:p>
          <a:p>
            <a:pPr lvl="1"/>
            <a:r>
              <a:rPr lang="en-US" dirty="0" err="1"/>
              <a:t>Potentieel</a:t>
            </a:r>
            <a:r>
              <a:rPr lang="en-US" dirty="0"/>
              <a:t> </a:t>
            </a:r>
            <a:r>
              <a:rPr lang="en-US" dirty="0" err="1"/>
              <a:t>efficienter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Goed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Grote </a:t>
            </a:r>
            <a:r>
              <a:rPr lang="en-US" dirty="0" err="1"/>
              <a:t>objecten</a:t>
            </a:r>
            <a:r>
              <a:rPr lang="en-US" dirty="0"/>
              <a:t> (containers, classes, structs)</a:t>
            </a:r>
          </a:p>
          <a:p>
            <a:pPr lvl="1"/>
            <a:r>
              <a:rPr lang="en-US" dirty="0"/>
              <a:t>Het </a:t>
            </a:r>
            <a:r>
              <a:rPr lang="en-US" dirty="0" err="1"/>
              <a:t>wél</a:t>
            </a:r>
            <a:r>
              <a:rPr lang="en-US" dirty="0"/>
              <a:t> </a:t>
            </a:r>
            <a:r>
              <a:rPr lang="en-US" dirty="0" err="1"/>
              <a:t>aanpassen</a:t>
            </a:r>
            <a:r>
              <a:rPr lang="en-US" dirty="0"/>
              <a:t> van de </a:t>
            </a:r>
            <a:r>
              <a:rPr lang="en-US" dirty="0" err="1"/>
              <a:t>originele</a:t>
            </a:r>
            <a:r>
              <a:rPr lang="en-US" dirty="0"/>
              <a:t> </a:t>
            </a:r>
            <a:r>
              <a:rPr lang="en-US" dirty="0" err="1"/>
              <a:t>waarde</a:t>
            </a:r>
            <a:endParaRPr lang="en-NL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A1990AB-A1FF-1C78-BE3B-7D3D8398BA4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Maakt </a:t>
            </a:r>
            <a:r>
              <a:rPr lang="en-US" dirty="0" err="1"/>
              <a:t>nieuw</a:t>
            </a:r>
            <a:r>
              <a:rPr lang="en-US" dirty="0"/>
              <a:t> object (</a:t>
            </a:r>
            <a:r>
              <a:rPr lang="en-US" dirty="0" err="1"/>
              <a:t>kopie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Gebruikt</a:t>
            </a:r>
            <a:r>
              <a:rPr lang="en-US" dirty="0"/>
              <a:t> extra </a:t>
            </a:r>
            <a:r>
              <a:rPr lang="en-US" dirty="0" err="1"/>
              <a:t>geheugen</a:t>
            </a:r>
            <a:endParaRPr lang="en-US" dirty="0"/>
          </a:p>
          <a:p>
            <a:pPr lvl="1"/>
            <a:r>
              <a:rPr lang="en-US" dirty="0"/>
              <a:t>Kan inefficient </a:t>
            </a:r>
            <a:r>
              <a:rPr lang="en-US" dirty="0" err="1"/>
              <a:t>zijn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Goed</a:t>
            </a:r>
            <a:r>
              <a:rPr lang="en-US" dirty="0"/>
              <a:t> </a:t>
            </a:r>
            <a:r>
              <a:rPr lang="en-US" dirty="0" err="1"/>
              <a:t>voor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Kleine </a:t>
            </a:r>
            <a:r>
              <a:rPr lang="en-US" dirty="0" err="1"/>
              <a:t>objecten</a:t>
            </a:r>
            <a:r>
              <a:rPr lang="en-US" dirty="0"/>
              <a:t>, </a:t>
            </a:r>
            <a:r>
              <a:rPr lang="en-US" dirty="0" err="1"/>
              <a:t>zoals</a:t>
            </a:r>
            <a:r>
              <a:rPr lang="en-US" dirty="0"/>
              <a:t> primitive types (int, char, etc.)</a:t>
            </a:r>
          </a:p>
          <a:p>
            <a:pPr lvl="1"/>
            <a:r>
              <a:rPr lang="en-US" dirty="0"/>
              <a:t>Het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aanpassen</a:t>
            </a:r>
            <a:r>
              <a:rPr lang="en-US" dirty="0"/>
              <a:t> van de </a:t>
            </a:r>
            <a:r>
              <a:rPr lang="en-US" dirty="0" err="1"/>
              <a:t>originele</a:t>
            </a:r>
            <a:r>
              <a:rPr lang="en-US" dirty="0"/>
              <a:t> </a:t>
            </a:r>
            <a:r>
              <a:rPr lang="en-US" dirty="0" err="1"/>
              <a:t>waarde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28097361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EF376-7F87-FE67-01F4-608CA1434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Maar wat </a:t>
            </a:r>
            <a:r>
              <a:rPr lang="en-US" dirty="0" err="1"/>
              <a:t>als</a:t>
            </a:r>
            <a:r>
              <a:rPr lang="en-US" dirty="0"/>
              <a:t>…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E05DE-8C01-61DE-DA36-82F5CBADE2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Het om </a:t>
            </a:r>
            <a:r>
              <a:rPr lang="en-US" dirty="0" err="1"/>
              <a:t>een</a:t>
            </a:r>
            <a:r>
              <a:rPr lang="en-US" dirty="0"/>
              <a:t> </a:t>
            </a:r>
            <a:r>
              <a:rPr lang="en-US" i="1" dirty="0" err="1"/>
              <a:t>groot</a:t>
            </a:r>
            <a:r>
              <a:rPr lang="en-US" i="1" dirty="0"/>
              <a:t>, </a:t>
            </a:r>
            <a:r>
              <a:rPr lang="en-US" i="1" dirty="0" err="1"/>
              <a:t>duur</a:t>
            </a:r>
            <a:r>
              <a:rPr lang="en-US" i="1" dirty="0"/>
              <a:t> object </a:t>
            </a:r>
            <a:r>
              <a:rPr lang="en-US" err="1"/>
              <a:t>gaat</a:t>
            </a:r>
            <a:r>
              <a:rPr lang="en-US"/>
              <a:t> </a:t>
            </a:r>
            <a:br>
              <a:rPr lang="en-US"/>
            </a:br>
            <a:r>
              <a:rPr lang="en-US"/>
              <a:t>en </a:t>
            </a:r>
            <a:r>
              <a:rPr lang="en-US" dirty="0"/>
              <a:t>je </a:t>
            </a:r>
            <a:r>
              <a:rPr lang="en-US" dirty="0" err="1"/>
              <a:t>beperkt</a:t>
            </a:r>
            <a:r>
              <a:rPr lang="en-US" dirty="0"/>
              <a:t> bent in je </a:t>
            </a:r>
            <a:r>
              <a:rPr lang="en-US" i="1" err="1"/>
              <a:t>geheugen</a:t>
            </a:r>
            <a:r>
              <a:rPr lang="en-US"/>
              <a:t> </a:t>
            </a:r>
            <a:br>
              <a:rPr lang="en-US"/>
            </a:br>
            <a:r>
              <a:rPr lang="en-US"/>
              <a:t>en </a:t>
            </a:r>
            <a:r>
              <a:rPr lang="en-US" dirty="0" err="1"/>
              <a:t>tóch</a:t>
            </a:r>
            <a:r>
              <a:rPr lang="en-US" dirty="0"/>
              <a:t> </a:t>
            </a:r>
            <a:r>
              <a:rPr lang="en-US" dirty="0" err="1"/>
              <a:t>goede</a:t>
            </a:r>
            <a:r>
              <a:rPr lang="en-US" dirty="0"/>
              <a:t> </a:t>
            </a:r>
            <a:r>
              <a:rPr lang="en-US" i="1" dirty="0"/>
              <a:t>performance</a:t>
            </a:r>
            <a:r>
              <a:rPr lang="en-US" dirty="0"/>
              <a:t> wilt?</a:t>
            </a:r>
          </a:p>
          <a:p>
            <a:r>
              <a:rPr lang="en-US" dirty="0"/>
              <a:t>Maar je het </a:t>
            </a:r>
            <a:r>
              <a:rPr lang="en-US" dirty="0" err="1"/>
              <a:t>originele</a:t>
            </a:r>
            <a:r>
              <a:rPr lang="en-US" dirty="0"/>
              <a:t> object </a:t>
            </a:r>
            <a:r>
              <a:rPr lang="en-US" dirty="0" err="1"/>
              <a:t>níet</a:t>
            </a:r>
            <a:r>
              <a:rPr lang="en-US" dirty="0"/>
              <a:t> </a:t>
            </a:r>
            <a:r>
              <a:rPr lang="en-US" err="1"/>
              <a:t>aan</a:t>
            </a:r>
            <a:r>
              <a:rPr lang="en-US"/>
              <a:t> wil </a:t>
            </a:r>
            <a:r>
              <a:rPr lang="en-US" dirty="0" err="1"/>
              <a:t>passen</a:t>
            </a:r>
            <a:r>
              <a:rPr lang="en-US" dirty="0"/>
              <a:t>?</a:t>
            </a:r>
          </a:p>
          <a:p>
            <a:endParaRPr lang="en-US" dirty="0"/>
          </a:p>
          <a:p>
            <a:pPr marL="0" indent="0">
              <a:buNone/>
            </a:pPr>
            <a:r>
              <a:rPr lang="fr-FR" sz="280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fr-FR" sz="280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800" err="1">
                <a:solidFill>
                  <a:srgbClr val="000000"/>
                </a:solidFill>
                <a:highlight>
                  <a:srgbClr val="FFFFFF"/>
                </a:highlight>
              </a:rPr>
              <a:t>func</a:t>
            </a:r>
            <a:r>
              <a:rPr lang="fr-FR" sz="2800" b="1">
                <a:solidFill>
                  <a:srgbClr val="000080"/>
                </a:solidFill>
                <a:highlight>
                  <a:srgbClr val="FFFFFF"/>
                </a:highlight>
              </a:rPr>
              <a:t>( </a:t>
            </a:r>
            <a:r>
              <a:rPr lang="fr-FR" sz="2800" b="0">
                <a:solidFill>
                  <a:srgbClr val="8000FF"/>
                </a:solidFill>
                <a:highlight>
                  <a:srgbClr val="FFFFFF"/>
                </a:highlight>
              </a:rPr>
              <a:t>const</a:t>
            </a:r>
            <a:r>
              <a:rPr lang="fr-FR" sz="2800" b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fr-FR" sz="2800" b="0" dirty="0" err="1">
                <a:solidFill>
                  <a:srgbClr val="8000FF"/>
                </a:solidFill>
                <a:highlight>
                  <a:srgbClr val="FFFFFF"/>
                </a:highlight>
              </a:rPr>
              <a:t>int</a:t>
            </a:r>
            <a:r>
              <a:rPr lang="fr-FR" sz="2800" b="1">
                <a:solidFill>
                  <a:srgbClr val="000080"/>
                </a:solidFill>
                <a:highlight>
                  <a:srgbClr val="FFFFFF"/>
                </a:highlight>
              </a:rPr>
              <a:t>&amp;</a:t>
            </a:r>
            <a:r>
              <a:rPr lang="fr-FR" sz="2800" b="0">
                <a:solidFill>
                  <a:srgbClr val="000000"/>
                </a:solidFill>
                <a:highlight>
                  <a:srgbClr val="FFFFFF"/>
                </a:highlight>
              </a:rPr>
              <a:t> param </a:t>
            </a:r>
            <a:r>
              <a:rPr lang="fr-FR" sz="2800" b="1">
                <a:solidFill>
                  <a:srgbClr val="000080"/>
                </a:solidFill>
                <a:highlight>
                  <a:srgbClr val="FFFFFF"/>
                </a:highlight>
              </a:rPr>
              <a:t>) {</a:t>
            </a:r>
            <a:r>
              <a:rPr lang="fr-FR" sz="2800" b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endParaRPr lang="fr-FR" sz="2800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	</a:t>
            </a: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...</a:t>
            </a:r>
            <a:r>
              <a:rPr lang="en-NL" sz="2800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pPr marL="0" indent="0">
              <a:buNone/>
            </a:pPr>
            <a:r>
              <a:rPr lang="en-NL" sz="2800" b="1" dirty="0">
                <a:solidFill>
                  <a:srgbClr val="000080"/>
                </a:solidFill>
                <a:highlight>
                  <a:srgbClr val="FFFFFF"/>
                </a:highlight>
              </a:rPr>
              <a:t>}</a:t>
            </a:r>
            <a:endParaRPr lang="en-US" sz="2800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endParaRPr lang="en-US" b="1" dirty="0">
              <a:solidFill>
                <a:srgbClr val="000080"/>
              </a:solidFill>
              <a:highlight>
                <a:srgbClr val="FFFFFF"/>
              </a:highlight>
            </a:endParaRPr>
          </a:p>
          <a:p>
            <a:pPr marL="0" indent="0">
              <a:buNone/>
            </a:pPr>
            <a:r>
              <a:rPr lang="en-US" dirty="0"/>
              <a:t>Weet je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zeker</a:t>
            </a:r>
            <a:r>
              <a:rPr lang="en-US" dirty="0"/>
              <a:t> wat je </a:t>
            </a:r>
            <a:r>
              <a:rPr lang="en-US" dirty="0" err="1"/>
              <a:t>moet</a:t>
            </a:r>
            <a:r>
              <a:rPr lang="en-US" dirty="0"/>
              <a:t> </a:t>
            </a:r>
            <a:r>
              <a:rPr lang="en-US" dirty="0" err="1"/>
              <a:t>gebruiken</a:t>
            </a:r>
            <a:r>
              <a:rPr lang="en-US"/>
              <a:t>? </a:t>
            </a:r>
            <a:r>
              <a:rPr lang="en-US" b="1" dirty="0"/>
              <a:t>c</a:t>
            </a:r>
            <a:r>
              <a:rPr lang="en-US" b="1"/>
              <a:t>onst</a:t>
            </a:r>
            <a:r>
              <a:rPr lang="en-US" b="1" dirty="0"/>
              <a:t>&amp; is </a:t>
            </a:r>
            <a:r>
              <a:rPr lang="en-US" b="1" dirty="0" err="1"/>
              <a:t>áltijd</a:t>
            </a:r>
            <a:r>
              <a:rPr lang="en-US" b="1" dirty="0"/>
              <a:t> </a:t>
            </a:r>
            <a:r>
              <a:rPr lang="en-US" b="1" dirty="0" err="1"/>
              <a:t>veilig</a:t>
            </a:r>
            <a:r>
              <a:rPr lang="en-US" b="1" dirty="0"/>
              <a:t>!</a:t>
            </a:r>
            <a:endParaRPr lang="en-NL" b="1" dirty="0"/>
          </a:p>
        </p:txBody>
      </p:sp>
    </p:spTree>
    <p:extLst>
      <p:ext uri="{BB962C8B-B14F-4D97-AF65-F5344CB8AC3E}">
        <p14:creationId xmlns:p14="http://schemas.microsoft.com/office/powerpoint/2010/main" val="40904313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34A7A-DB9D-2A66-DD6F-401CC67B80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Samenvattend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0EAD5-1BD6-DB7A-D2B7-23F1E599C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Functies:</a:t>
            </a:r>
            <a:endParaRPr lang="en-US" dirty="0"/>
          </a:p>
          <a:p>
            <a:pPr lvl="1"/>
            <a:r>
              <a:rPr lang="en-US"/>
              <a:t>Hergebruik van </a:t>
            </a:r>
            <a:r>
              <a:rPr lang="en-US" dirty="0"/>
              <a:t>code </a:t>
            </a:r>
            <a:r>
              <a:rPr lang="en-US"/>
              <a:t>(named: </a:t>
            </a:r>
            <a:r>
              <a:rPr lang="en-US" dirty="0"/>
              <a:t>code block)</a:t>
            </a:r>
          </a:p>
          <a:p>
            <a:pPr lvl="1"/>
            <a:r>
              <a:rPr lang="en-US" dirty="0"/>
              <a:t>In C++ </a:t>
            </a:r>
            <a:r>
              <a:rPr lang="en-US" dirty="0" err="1"/>
              <a:t>moet</a:t>
            </a:r>
            <a:r>
              <a:rPr lang="en-US" dirty="0"/>
              <a:t> je het return type </a:t>
            </a:r>
            <a:r>
              <a:rPr lang="en-US" dirty="0" err="1"/>
              <a:t>zelf</a:t>
            </a:r>
            <a:r>
              <a:rPr lang="en-US" dirty="0"/>
              <a:t> </a:t>
            </a:r>
            <a:r>
              <a:rPr lang="en-US" dirty="0" err="1"/>
              <a:t>definiëren</a:t>
            </a:r>
            <a:endParaRPr lang="en-US" dirty="0"/>
          </a:p>
          <a:p>
            <a:pPr lvl="1"/>
            <a:r>
              <a:rPr lang="en-US"/>
              <a:t>maar </a:t>
            </a:r>
            <a:r>
              <a:rPr lang="en-US" dirty="0"/>
              <a:t>het return type mag </a:t>
            </a:r>
            <a:r>
              <a:rPr lang="en-US" dirty="0" err="1"/>
              <a:t>wel</a:t>
            </a:r>
            <a:r>
              <a:rPr lang="en-US" dirty="0"/>
              <a:t> zo </a:t>
            </a:r>
            <a:r>
              <a:rPr lang="en-US" dirty="0" err="1"/>
              <a:t>goed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alles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, incl. </a:t>
            </a:r>
            <a:r>
              <a:rPr lang="en-US" dirty="0" err="1"/>
              <a:t>niets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Ook </a:t>
            </a:r>
            <a:r>
              <a:rPr lang="en-US" dirty="0" err="1"/>
              <a:t>bij</a:t>
            </a:r>
            <a:r>
              <a:rPr lang="en-US" dirty="0"/>
              <a:t> parameters </a:t>
            </a:r>
            <a:r>
              <a:rPr lang="en-US" dirty="0" err="1"/>
              <a:t>moet</a:t>
            </a:r>
            <a:r>
              <a:rPr lang="en-US" dirty="0"/>
              <a:t> je het type </a:t>
            </a:r>
            <a:r>
              <a:rPr lang="en-US" dirty="0" err="1"/>
              <a:t>aangeven</a:t>
            </a:r>
            <a:endParaRPr lang="en-US" dirty="0"/>
          </a:p>
          <a:p>
            <a:pPr lvl="1"/>
            <a:r>
              <a:rPr lang="en-US" dirty="0"/>
              <a:t>Dit mag </a:t>
            </a:r>
            <a:r>
              <a:rPr lang="en-US" dirty="0" err="1"/>
              <a:t>alleen</a:t>
            </a:r>
            <a:r>
              <a:rPr lang="en-US" dirty="0"/>
              <a:t> </a:t>
            </a:r>
            <a:r>
              <a:rPr lang="en-US" err="1"/>
              <a:t>niet</a:t>
            </a:r>
            <a:r>
              <a:rPr lang="en-US"/>
              <a:t> </a:t>
            </a:r>
            <a:r>
              <a:rPr lang="en-US" i="1"/>
              <a:t>void</a:t>
            </a:r>
            <a:r>
              <a:rPr lang="en-US"/>
              <a:t> zijn, </a:t>
            </a:r>
            <a:r>
              <a:rPr lang="en-US" dirty="0"/>
              <a:t>maar je mag </a:t>
            </a:r>
            <a:r>
              <a:rPr lang="en-US" dirty="0" err="1"/>
              <a:t>wel</a:t>
            </a:r>
            <a:r>
              <a:rPr lang="en-US" dirty="0"/>
              <a:t> </a:t>
            </a:r>
            <a:r>
              <a:rPr lang="en-US" dirty="0" err="1"/>
              <a:t>soorten</a:t>
            </a:r>
            <a:r>
              <a:rPr lang="en-US" dirty="0"/>
              <a:t> </a:t>
            </a:r>
            <a:r>
              <a:rPr lang="en-US" dirty="0" err="1"/>
              <a:t>mengen</a:t>
            </a:r>
            <a:r>
              <a:rPr lang="en-US" dirty="0"/>
              <a:t>!</a:t>
            </a:r>
          </a:p>
          <a:p>
            <a:pPr lvl="1"/>
            <a:r>
              <a:rPr lang="en-US" dirty="0"/>
              <a:t>Je </a:t>
            </a:r>
            <a:r>
              <a:rPr lang="en-US" dirty="0" err="1"/>
              <a:t>moet</a:t>
            </a:r>
            <a:r>
              <a:rPr lang="en-US" dirty="0"/>
              <a:t> je </a:t>
            </a:r>
            <a:r>
              <a:rPr lang="en-US" dirty="0" err="1"/>
              <a:t>bewust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van ‘pass by value’ </a:t>
            </a:r>
            <a:r>
              <a:rPr lang="en-US" dirty="0" err="1"/>
              <a:t>en</a:t>
            </a:r>
            <a:r>
              <a:rPr lang="en-US" dirty="0"/>
              <a:t> ‘pass by reference’</a:t>
            </a:r>
          </a:p>
          <a:p>
            <a:pPr lvl="2"/>
            <a:r>
              <a:rPr lang="en-US" dirty="0"/>
              <a:t>En dan </a:t>
            </a:r>
            <a:r>
              <a:rPr lang="en-US" dirty="0" err="1"/>
              <a:t>vooral</a:t>
            </a:r>
            <a:r>
              <a:rPr lang="en-US" dirty="0"/>
              <a:t> wat je </a:t>
            </a:r>
            <a:r>
              <a:rPr lang="en-US" dirty="0" err="1"/>
              <a:t>wanneer</a:t>
            </a:r>
            <a:r>
              <a:rPr lang="en-US" dirty="0"/>
              <a:t> </a:t>
            </a:r>
            <a:r>
              <a:rPr lang="en-US" dirty="0" err="1"/>
              <a:t>gebruikt</a:t>
            </a:r>
            <a:r>
              <a:rPr lang="en-US" dirty="0"/>
              <a:t>,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wel</a:t>
            </a:r>
            <a:r>
              <a:rPr lang="en-US" dirty="0"/>
              <a:t> of </a:t>
            </a:r>
            <a:r>
              <a:rPr lang="en-US" dirty="0" err="1"/>
              <a:t>geen</a:t>
            </a:r>
            <a:r>
              <a:rPr lang="en-US"/>
              <a:t> const</a:t>
            </a:r>
            <a:endParaRPr lang="en-US" dirty="0"/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1636972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6E016-5D62-B09E-AF3C-85136D83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 dan nu.. Aan de slag!</a:t>
            </a:r>
            <a:endParaRPr lang="en-N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AE17AB-7DC7-DDDA-C33E-2F6219D15F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Voor nu </a:t>
            </a:r>
            <a:r>
              <a:rPr lang="en-US" dirty="0" err="1"/>
              <a:t>houden</a:t>
            </a:r>
            <a:r>
              <a:rPr lang="en-US" dirty="0"/>
              <a:t> we </a:t>
            </a:r>
            <a:r>
              <a:rPr lang="en-US"/>
              <a:t>het hierbij</a:t>
            </a:r>
            <a:r>
              <a:rPr lang="en-US" dirty="0"/>
              <a:t>, maar </a:t>
            </a:r>
            <a:r>
              <a:rPr lang="en-US" dirty="0" err="1"/>
              <a:t>functies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nog</a:t>
            </a:r>
            <a:r>
              <a:rPr lang="en-US" dirty="0"/>
              <a:t> </a:t>
            </a:r>
            <a:r>
              <a:rPr lang="en-US" dirty="0" err="1"/>
              <a:t>veel</a:t>
            </a:r>
            <a:r>
              <a:rPr lang="en-US" dirty="0"/>
              <a:t> </a:t>
            </a:r>
            <a:r>
              <a:rPr lang="en-US" dirty="0" err="1"/>
              <a:t>uitgebreider</a:t>
            </a:r>
            <a:r>
              <a:rPr lang="en-US" dirty="0"/>
              <a:t>!</a:t>
            </a:r>
          </a:p>
          <a:p>
            <a:endParaRPr lang="en-US" dirty="0"/>
          </a:p>
          <a:p>
            <a:r>
              <a:rPr lang="en-US" dirty="0"/>
              <a:t>Er </a:t>
            </a:r>
            <a:r>
              <a:rPr lang="en-US" dirty="0" err="1"/>
              <a:t>zijn</a:t>
            </a:r>
            <a:r>
              <a:rPr lang="en-US" dirty="0"/>
              <a:t> twee </a:t>
            </a:r>
            <a:r>
              <a:rPr lang="en-US" dirty="0" err="1"/>
              <a:t>oefeningen</a:t>
            </a:r>
            <a:r>
              <a:rPr lang="en-US" dirty="0"/>
              <a:t> over </a:t>
            </a:r>
            <a:r>
              <a:rPr lang="en-US" dirty="0" err="1"/>
              <a:t>functies</a:t>
            </a:r>
            <a:r>
              <a:rPr lang="en-US" dirty="0"/>
              <a:t>, met </a:t>
            </a:r>
            <a:r>
              <a:rPr lang="en-US" dirty="0" err="1"/>
              <a:t>deze</a:t>
            </a:r>
            <a:r>
              <a:rPr lang="en-US" dirty="0"/>
              <a:t> </a:t>
            </a:r>
            <a:r>
              <a:rPr lang="en-US" dirty="0" err="1"/>
              <a:t>kun</a:t>
            </a:r>
            <a:r>
              <a:rPr lang="en-US" dirty="0"/>
              <a:t> je nu </a:t>
            </a:r>
            <a:r>
              <a:rPr lang="en-US" dirty="0" err="1"/>
              <a:t>beide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de slag</a:t>
            </a:r>
          </a:p>
          <a:p>
            <a:r>
              <a:rPr lang="en-US" dirty="0"/>
              <a:t>Ook de </a:t>
            </a:r>
            <a:r>
              <a:rPr lang="en-US" dirty="0" err="1"/>
              <a:t>oefeningen</a:t>
            </a:r>
            <a:r>
              <a:rPr lang="en-US" dirty="0"/>
              <a:t> die </a:t>
            </a:r>
            <a:r>
              <a:rPr lang="en-US" dirty="0" err="1"/>
              <a:t>bij</a:t>
            </a:r>
            <a:r>
              <a:rPr lang="en-US" dirty="0"/>
              <a:t> </a:t>
            </a:r>
            <a:r>
              <a:rPr lang="en-US" dirty="0" err="1"/>
              <a:t>vectoren</a:t>
            </a:r>
            <a:r>
              <a:rPr lang="en-US" dirty="0"/>
              <a:t> van </a:t>
            </a:r>
            <a:r>
              <a:rPr lang="en-US" dirty="0" err="1"/>
              <a:t>vorige</a:t>
            </a:r>
            <a:r>
              <a:rPr lang="en-US" dirty="0"/>
              <a:t> week </a:t>
            </a:r>
            <a:r>
              <a:rPr lang="en-US" dirty="0" err="1"/>
              <a:t>horen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nu </a:t>
            </a:r>
            <a:r>
              <a:rPr lang="en-US" dirty="0" err="1"/>
              <a:t>makkelijker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doen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702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1282</Words>
  <Application>Microsoft Office PowerPoint</Application>
  <PresentationFormat>Breedbeeld</PresentationFormat>
  <Paragraphs>256</Paragraphs>
  <Slides>27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27</vt:i4>
      </vt:variant>
    </vt:vector>
  </HeadingPairs>
  <TitlesOfParts>
    <vt:vector size="32" baseType="lpstr">
      <vt:lpstr>Aptos</vt:lpstr>
      <vt:lpstr>Aptos Display</vt:lpstr>
      <vt:lpstr>Arial</vt:lpstr>
      <vt:lpstr>Wingdings</vt:lpstr>
      <vt:lpstr>Office Theme</vt:lpstr>
      <vt:lpstr> void func(){    Functions;  }</vt:lpstr>
      <vt:lpstr>Disclaimer</vt:lpstr>
      <vt:lpstr>Planning</vt:lpstr>
      <vt:lpstr>Anatomie van een for loop</vt:lpstr>
      <vt:lpstr>Anatomie van een while loop</vt:lpstr>
      <vt:lpstr>Wanneer for, wanneer while?</vt:lpstr>
      <vt:lpstr>Anatomie van een vector</vt:lpstr>
      <vt:lpstr>Functies (1 van 2)</vt:lpstr>
      <vt:lpstr>Functies (2 van 2)</vt:lpstr>
      <vt:lpstr>Anatomie van een functie</vt:lpstr>
      <vt:lpstr>Anatomie van de signature</vt:lpstr>
      <vt:lpstr>Return types</vt:lpstr>
      <vt:lpstr> Parameters</vt:lpstr>
      <vt:lpstr>Parameter types</vt:lpstr>
      <vt:lpstr>Meerdere parameters</vt:lpstr>
      <vt:lpstr>&lt;br&gt;</vt:lpstr>
      <vt:lpstr>Wat is de output van deze code?</vt:lpstr>
      <vt:lpstr>Wat is de output van deze code?</vt:lpstr>
      <vt:lpstr>Wat is de output van deze code?</vt:lpstr>
      <vt:lpstr>Wat is de output van deze code?</vt:lpstr>
      <vt:lpstr>Wat is de output van deze code?</vt:lpstr>
      <vt:lpstr>Wat is de output van deze code?</vt:lpstr>
      <vt:lpstr>References, kopieën, pointers</vt:lpstr>
      <vt:lpstr>Reference     vs   Value</vt:lpstr>
      <vt:lpstr>Maar wat als…</vt:lpstr>
      <vt:lpstr>Samenvattend</vt:lpstr>
      <vt:lpstr>En dan nu.. Aan de slag!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 Goris</dc:creator>
  <cp:lastModifiedBy>Gera Pronk</cp:lastModifiedBy>
  <cp:revision>27</cp:revision>
  <dcterms:created xsi:type="dcterms:W3CDTF">2026-02-25T08:05:27Z</dcterms:created>
  <dcterms:modified xsi:type="dcterms:W3CDTF">2026-09-14T12:50:25Z</dcterms:modified>
</cp:coreProperties>
</file>