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5" r:id="rId3"/>
    <p:sldId id="276" r:id="rId4"/>
    <p:sldId id="267" r:id="rId5"/>
    <p:sldId id="303" r:id="rId6"/>
    <p:sldId id="304" r:id="rId7"/>
    <p:sldId id="283" r:id="rId8"/>
    <p:sldId id="305" r:id="rId9"/>
    <p:sldId id="306" r:id="rId10"/>
    <p:sldId id="307" r:id="rId11"/>
    <p:sldId id="302" r:id="rId1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7" autoAdjust="0"/>
    <p:restoredTop sz="68466"/>
  </p:normalViewPr>
  <p:slideViewPr>
    <p:cSldViewPr snapToGrid="0">
      <p:cViewPr varScale="1">
        <p:scale>
          <a:sx n="104" d="100"/>
          <a:sy n="104" d="100"/>
        </p:scale>
        <p:origin x="2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656B2-ED32-8044-9B2A-829653741135}" type="datetimeFigureOut">
              <a:rPr lang="nl-NL" smtClean="0"/>
              <a:t>29-03-2026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76DE4-D675-834A-A8C5-F6A601043E9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39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76DE4-D675-834A-A8C5-F6A601043E9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0120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76DE4-D675-834A-A8C5-F6A601043E90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3914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9EBC-2B04-30CF-5A0C-49FDC743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AC0B5CC-23F1-4D09-72FB-8BA103AAC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01218AB-FFD3-EA1A-58AA-5C10AC4A2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A0309A3-1623-5309-07DD-14D5A4C6D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76DE4-D675-834A-A8C5-F6A601043E90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4760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www.thethingsnetwork.org</a:t>
            </a:r>
            <a:r>
              <a:rPr lang="nl-NL" dirty="0"/>
              <a:t>/</a:t>
            </a:r>
            <a:r>
              <a:rPr lang="nl-NL" dirty="0" err="1"/>
              <a:t>docs</a:t>
            </a:r>
            <a:r>
              <a:rPr lang="nl-NL" dirty="0"/>
              <a:t>/</a:t>
            </a:r>
            <a:r>
              <a:rPr lang="nl-NL" dirty="0" err="1"/>
              <a:t>lorawan</a:t>
            </a:r>
            <a:r>
              <a:rPr lang="nl-NL" dirty="0"/>
              <a:t>/classes/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76DE4-D675-834A-A8C5-F6A601043E90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5712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github.com</a:t>
            </a:r>
            <a:r>
              <a:rPr lang="nl-NL" dirty="0"/>
              <a:t>/HU-TI-DEV/TI-S2/tree/</a:t>
            </a:r>
            <a:r>
              <a:rPr lang="nl-NL" dirty="0" err="1"/>
              <a:t>main</a:t>
            </a:r>
            <a:r>
              <a:rPr lang="nl-NL" dirty="0"/>
              <a:t>/software/</a:t>
            </a:r>
            <a:r>
              <a:rPr lang="nl-NL" dirty="0" err="1"/>
              <a:t>getalsysteem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76DE4-D675-834A-A8C5-F6A601043E90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1639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E3ED-C625-D485-B12A-4627693C8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813A3-15E4-4A82-0C37-C78C974B1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6E590-4365-084E-8D86-237438F0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EEB0B-35A5-1988-FE4A-A0DDB8F7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DD50D-9B8A-2C13-F773-603CE725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9038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6F7C-FF25-D565-9C9E-71E7FFCE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1D068-0531-E34C-38C3-83FAF0DA1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655D2-4934-C937-BAAB-C507B90C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28325-A2C4-4220-01EB-BC3F1E7E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813D7-0838-4B74-3000-7D335E87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36853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0702-102A-8C84-9AD5-3A72F1DDF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6D655-302F-C236-C59A-709D59351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EB2C-D550-E4F3-658E-5337580C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8534A-5961-C126-E417-E32FD9F5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5550C-E667-BD50-8810-F4FAF357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387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B925-681D-3003-D861-780F50E28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4C58C-E09E-4A4A-101C-68C0FDCDE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2F83C-E752-5EA9-A489-7E2292358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8F4C9-91AB-3447-5327-4A59F3AC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51336-E949-27D1-45C9-22E0C4D7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3E751-F369-6119-5558-BD23C9E9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76588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C6AA-E30B-6FE4-743C-C23ACD6D5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29350-9138-8D3E-2399-3B022D47A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D5964-5452-1FF6-8DFF-F388B8AFB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84646-B8ED-6B3F-FB14-419108A29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32628-4D42-6BE0-59BC-E7BD228EF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5A1A5-CFE0-868C-12AE-E3C8D4FF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C27F8-D91C-8DE8-B40E-49B4901B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76DA8-CF6D-9503-8DE4-DE01B8FF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4869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DF92-A536-4349-5088-087E39B5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30E612-A177-8943-0797-D054F20A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09C7C-4005-FD5F-933B-6EED46D5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A187B-35A9-37EB-677C-6080EC22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6592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918E3-B18C-8BF7-DCF5-AF18B2B2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36FD0-7198-7E13-7D43-A75865FC0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48651-87A7-399D-AE83-B296B3F0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0259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4BAD-0D16-257B-C318-6127B1262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A3EE-69E9-1AA0-4BE0-B8DB1BDAA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79FBA-CB35-8331-4179-26E612496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5B652-6D8C-2693-5D51-1D994026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E7C48-8518-3489-E429-71C86730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01891-7825-107C-26CF-6AE95EC7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181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53B2-43BF-E87F-E6C7-CC3C3C08C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49BFD-D4F9-30A0-57A5-8F4501A24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3AD1C-06E0-5910-D0D6-A250C3275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1ED23-4DF4-B4D3-8BE8-8134798F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BE3F4-E9D9-572F-4E12-8A9B60C4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5B0C7-99F5-A05C-57DC-C3252AE8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9097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0D1A-88F0-F42E-F7EF-0F52C366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3A364-EC46-8102-8276-E565CC1F8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B9DEE-F57A-F098-D1DF-84036CFE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B0157-26F8-2329-17B6-5AC3C5C4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E13EF-FE0B-5417-875C-AB7DC777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064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C9933-15A1-3AA5-291A-DB28446138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B1711-F16A-3EC8-A11F-6BC4D3FAD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FAD66-6A57-4C3F-2E66-BA393876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48BDB-FD44-CECE-749B-27D75C34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AAFD5-EF11-A27E-75E3-FEA4EA05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786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C3377-B71D-78CE-558E-D0DABD0E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35D7D-5602-B85D-E8A0-134A1070F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CB69-D146-73A4-EAFA-EA9EF2D68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CBCB4-1EFE-4E3B-9C8A-BCC4F06648F3}" type="datetimeFigureOut">
              <a:rPr lang="en-NL" smtClean="0"/>
              <a:t>3/29/26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AAAE3-7AA3-10C7-1B3B-5C558D00D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9C6D9-8205-4BC5-6C03-C283B1E98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436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U-TI-DEV/TI-S2/tree/main/software/getalsystee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8705-CC52-EDA9-8709-8CEDE5E45D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	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25AE0-B86C-082B-7562-44B709DAB1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TI-S2 2526</a:t>
            </a:r>
            <a:endParaRPr lang="en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C3DE426-7ED8-0F89-0C66-FC07F0CB2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0" y="620649"/>
            <a:ext cx="4608576" cy="2889314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C256EEBC-F59C-86D3-70E7-E172A72E8AED}"/>
              </a:ext>
            </a:extLst>
          </p:cNvPr>
          <p:cNvSpPr txBox="1"/>
          <p:nvPr/>
        </p:nvSpPr>
        <p:spPr>
          <a:xfrm>
            <a:off x="2250525" y="3140631"/>
            <a:ext cx="3521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LoRa</a:t>
            </a:r>
            <a:r>
              <a:rPr lang="nl-NL" dirty="0"/>
              <a:t> logo: Source: </a:t>
            </a:r>
            <a:r>
              <a:rPr lang="nl-NL" dirty="0" err="1"/>
              <a:t>Semtech</a:t>
            </a:r>
            <a:r>
              <a:rPr lang="nl-NL" dirty="0"/>
              <a:t> 2017</a:t>
            </a:r>
          </a:p>
        </p:txBody>
      </p:sp>
    </p:spTree>
    <p:extLst>
      <p:ext uri="{BB962C8B-B14F-4D97-AF65-F5344CB8AC3E}">
        <p14:creationId xmlns:p14="http://schemas.microsoft.com/office/powerpoint/2010/main" val="273523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215A-7FB0-4EFA-3DE6-B0F79D1D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1A795-79BF-60CD-2CA2-A13398C39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code in </a:t>
            </a:r>
            <a:r>
              <a:rPr lang="en-US" dirty="0" err="1"/>
              <a:t>deze</a:t>
            </a:r>
            <a:r>
              <a:rPr lang="en-US" dirty="0"/>
              <a:t> slides is wat we ‘slideware’ </a:t>
            </a:r>
            <a:r>
              <a:rPr lang="en-US" dirty="0" err="1"/>
              <a:t>noemen</a:t>
            </a:r>
            <a:r>
              <a:rPr lang="en-US" dirty="0"/>
              <a:t> – </a:t>
            </a:r>
            <a:r>
              <a:rPr lang="en-US" dirty="0" err="1"/>
              <a:t>handig</a:t>
            </a:r>
            <a:r>
              <a:rPr lang="en-US" dirty="0"/>
              <a:t> om </a:t>
            </a:r>
            <a:r>
              <a:rPr lang="en-US" dirty="0" err="1"/>
              <a:t>concepten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leggen</a:t>
            </a:r>
            <a:r>
              <a:rPr lang="en-US" dirty="0"/>
              <a:t>, maar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praktisch</a:t>
            </a:r>
            <a:r>
              <a:rPr lang="en-US" dirty="0"/>
              <a:t> in het </a:t>
            </a:r>
            <a:r>
              <a:rPr lang="en-US" dirty="0" err="1"/>
              <a:t>echte</a:t>
            </a:r>
            <a:r>
              <a:rPr lang="en-US" dirty="0"/>
              <a:t> </a:t>
            </a:r>
            <a:r>
              <a:rPr lang="en-US" dirty="0" err="1"/>
              <a:t>leven</a:t>
            </a:r>
            <a:r>
              <a:rPr lang="en-US" dirty="0"/>
              <a:t>. Op GitHub </a:t>
            </a:r>
            <a:r>
              <a:rPr lang="en-US" dirty="0" err="1"/>
              <a:t>vinden</a:t>
            </a:r>
            <a:r>
              <a:rPr lang="en-US" dirty="0"/>
              <a:t> </a:t>
            </a:r>
            <a:r>
              <a:rPr lang="en-US" dirty="0" err="1"/>
              <a:t>jullie</a:t>
            </a:r>
            <a:r>
              <a:rPr lang="en-US" dirty="0"/>
              <a:t> </a:t>
            </a:r>
            <a:r>
              <a:rPr lang="en-US" dirty="0" err="1"/>
              <a:t>relevantere</a:t>
            </a:r>
            <a:r>
              <a:rPr lang="en-US" dirty="0"/>
              <a:t> code </a:t>
            </a:r>
            <a:r>
              <a:rPr lang="en-US" dirty="0" err="1"/>
              <a:t>voorbeelden</a:t>
            </a:r>
            <a:r>
              <a:rPr lang="en-US" dirty="0"/>
              <a:t>, maar die </a:t>
            </a:r>
            <a:r>
              <a:rPr lang="en-US" dirty="0" err="1"/>
              <a:t>passen</a:t>
            </a:r>
            <a:r>
              <a:rPr lang="en-US" dirty="0"/>
              <a:t> (</a:t>
            </a:r>
            <a:r>
              <a:rPr lang="en-US" dirty="0" err="1"/>
              <a:t>vaak</a:t>
            </a:r>
            <a:r>
              <a:rPr lang="en-US" dirty="0"/>
              <a:t>) </a:t>
            </a:r>
            <a:r>
              <a:rPr lang="en-US" dirty="0" err="1"/>
              <a:t>niet</a:t>
            </a:r>
            <a:r>
              <a:rPr lang="en-US" dirty="0"/>
              <a:t> op slides.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14731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F2E6-0DFE-CECE-1DE5-ADD5A832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3B14-E801-8B4A-6E20-50F836DB6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Korte </a:t>
            </a:r>
            <a:r>
              <a:rPr lang="en-US" dirty="0" err="1"/>
              <a:t>toelichting</a:t>
            </a:r>
            <a:r>
              <a:rPr lang="en-US" dirty="0"/>
              <a:t> over Downlinks</a:t>
            </a:r>
          </a:p>
          <a:p>
            <a:r>
              <a:rPr lang="en-US" dirty="0" err="1"/>
              <a:t>Werkt</a:t>
            </a:r>
            <a:r>
              <a:rPr lang="en-US" dirty="0"/>
              <a:t> je end node </a:t>
            </a:r>
            <a:r>
              <a:rPr lang="en-US" dirty="0" err="1"/>
              <a:t>nog</a:t>
            </a:r>
            <a:r>
              <a:rPr lang="en-US" dirty="0"/>
              <a:t>?</a:t>
            </a:r>
          </a:p>
          <a:p>
            <a:r>
              <a:rPr lang="en-US" dirty="0"/>
              <a:t>Sluit het </a:t>
            </a:r>
            <a:r>
              <a:rPr lang="en-US" dirty="0" err="1"/>
              <a:t>stoplicht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.</a:t>
            </a:r>
          </a:p>
          <a:p>
            <a:r>
              <a:rPr lang="en-US" dirty="0"/>
              <a:t>Aan de slag!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62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5AC6-37D7-F6F1-0BB7-5738EC11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LoRaWAN</a:t>
            </a:r>
            <a:r>
              <a:rPr lang="nl-NL" dirty="0"/>
              <a:t> downlink: wat is het en wanneer werkt het?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B5F5B-6FED-1F49-76A2-90C21CB22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Een </a:t>
            </a:r>
            <a:r>
              <a:rPr lang="nl-NL" b="1" dirty="0"/>
              <a:t>downlink</a:t>
            </a:r>
            <a:r>
              <a:rPr lang="nl-NL" dirty="0"/>
              <a:t> is een bericht van het netwerk naar het device. Daarmee kun je bijvoorbeeld een LED aanzetten, een meetinterval wijzigen of een apparaat in een andere modus zetten. </a:t>
            </a:r>
          </a:p>
          <a:p>
            <a:pPr marL="0" indent="0">
              <a:buNone/>
            </a:pPr>
            <a:r>
              <a:rPr lang="nl-NL" dirty="0"/>
              <a:t>In </a:t>
            </a:r>
            <a:r>
              <a:rPr lang="nl-NL" dirty="0" err="1"/>
              <a:t>LoRaWAN</a:t>
            </a:r>
            <a:r>
              <a:rPr lang="nl-NL" dirty="0"/>
              <a:t> is downlink schaarser en gevoeliger dan </a:t>
            </a:r>
            <a:r>
              <a:rPr lang="nl-NL" dirty="0" err="1"/>
              <a:t>uplink</a:t>
            </a:r>
            <a:r>
              <a:rPr lang="nl-NL" dirty="0"/>
              <a:t>: het kost extra radio-tijd en is sterk afhankelijk van de </a:t>
            </a:r>
            <a:r>
              <a:rPr lang="nl-NL" b="1" dirty="0"/>
              <a:t>device class</a:t>
            </a:r>
            <a:r>
              <a:rPr lang="nl-NL" dirty="0"/>
              <a:t>. 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In The </a:t>
            </a:r>
            <a:r>
              <a:rPr lang="nl-NL" dirty="0" err="1"/>
              <a:t>Things</a:t>
            </a:r>
            <a:r>
              <a:rPr lang="nl-NL" dirty="0"/>
              <a:t> Stack wordt applicatiedata uiteindelijk als </a:t>
            </a:r>
            <a:r>
              <a:rPr lang="nl-NL" b="1" dirty="0"/>
              <a:t>bytes</a:t>
            </a:r>
            <a:r>
              <a:rPr lang="nl-NL" dirty="0"/>
              <a:t> naar het device gestuurd; in de console of API kun je daarvoor ruwe </a:t>
            </a:r>
            <a:r>
              <a:rPr lang="nl-NL" dirty="0" err="1"/>
              <a:t>payload</a:t>
            </a:r>
            <a:r>
              <a:rPr lang="nl-NL" dirty="0"/>
              <a:t> of een </a:t>
            </a:r>
            <a:r>
              <a:rPr lang="nl-NL" dirty="0" err="1"/>
              <a:t>formatter</a:t>
            </a:r>
            <a:r>
              <a:rPr lang="nl-NL" dirty="0"/>
              <a:t> gebruiken.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00601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4285-9E74-A236-8DDA-513CB654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5D05-EF81-FEEF-4D20-8556CD7A9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Een commando </a:t>
            </a:r>
            <a:r>
              <a:rPr lang="en-US" dirty="0" err="1"/>
              <a:t>sturen</a:t>
            </a:r>
            <a:endParaRPr lang="en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A423B5-B78B-D06E-7054-FD75FD07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Voor jullie stoplicht betekent dat: een downlink bevat een klein commando, bijvoorbeeld “rood aan” of “geel 4x knipperen”. </a:t>
            </a:r>
          </a:p>
          <a:p>
            <a:pPr marL="0" indent="0">
              <a:buNone/>
            </a:pPr>
            <a:r>
              <a:rPr lang="nl-NL" dirty="0"/>
              <a:t>Het device leest de ontvangen bytes uit en vertaalt die naar acties op de GPIO-pinnen. 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Je hebt dus een nieuw sketch nodig. Een voorbeeld daarvan staat in de TI-S2 </a:t>
            </a:r>
            <a:r>
              <a:rPr lang="nl-NL" dirty="0" err="1"/>
              <a:t>repo</a:t>
            </a:r>
            <a:r>
              <a:rPr lang="nl-NL" dirty="0"/>
              <a:t>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383492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5A98-6E8E-F8F4-3445-5E096FEAB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9CD5-47C7-2725-C3A3-7732D761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Class A, B en C </a:t>
            </a:r>
            <a:r>
              <a:rPr lang="nl-NL" dirty="0" err="1"/>
              <a:t>devices</a:t>
            </a:r>
            <a:endParaRPr lang="en-N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5B8046-6352-79EC-93C1-DF36E0407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5941" cy="42786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b="1" dirty="0"/>
              <a:t>Class A </a:t>
            </a:r>
            <a:r>
              <a:rPr lang="nl-NL" dirty="0"/>
              <a:t>is verplicht voor alle </a:t>
            </a:r>
            <a:r>
              <a:rPr lang="nl-NL" dirty="0" err="1"/>
              <a:t>LoRaWAN-devices</a:t>
            </a:r>
            <a:r>
              <a:rPr lang="nl-NL" dirty="0"/>
              <a:t>. Een Class A-device opent alleen korte </a:t>
            </a:r>
            <a:r>
              <a:rPr lang="nl-NL" dirty="0" err="1"/>
              <a:t>receive</a:t>
            </a:r>
            <a:r>
              <a:rPr lang="nl-NL" dirty="0"/>
              <a:t> </a:t>
            </a:r>
            <a:r>
              <a:rPr lang="nl-NL" dirty="0" err="1"/>
              <a:t>windows</a:t>
            </a:r>
            <a:r>
              <a:rPr lang="nl-NL" dirty="0"/>
              <a:t> na een </a:t>
            </a:r>
            <a:r>
              <a:rPr lang="nl-NL" dirty="0" err="1"/>
              <a:t>uplink</a:t>
            </a:r>
            <a:r>
              <a:rPr lang="nl-NL" dirty="0"/>
              <a:t>. Daardoor is het energieverbruik laag, maar kan een downlink pas worden ontvangen nadat het device zelf eerst iets heeft verzonden. Dat is precies waarom jullie stoplicht in Class A alleen “van kleur wisselt” na een </a:t>
            </a:r>
            <a:r>
              <a:rPr lang="nl-NL" dirty="0" err="1"/>
              <a:t>uplink</a:t>
            </a:r>
            <a:r>
              <a:rPr lang="nl-NL" dirty="0"/>
              <a:t>.</a:t>
            </a:r>
          </a:p>
          <a:p>
            <a:pPr marL="0" indent="0">
              <a:buNone/>
            </a:pPr>
            <a:r>
              <a:rPr lang="nl-NL" b="1" dirty="0"/>
              <a:t>Class B </a:t>
            </a:r>
            <a:r>
              <a:rPr lang="nl-NL" dirty="0"/>
              <a:t>voegt geplande luistermomenten toe via zogeheten ping </a:t>
            </a:r>
            <a:r>
              <a:rPr lang="nl-NL" dirty="0" err="1"/>
              <a:t>slots</a:t>
            </a:r>
            <a:r>
              <a:rPr lang="nl-NL" dirty="0"/>
              <a:t>. Daardoor wordt downlink voorspelbaarder, maar kost het meer energie. </a:t>
            </a:r>
            <a:r>
              <a:rPr lang="nl-NL" b="1" dirty="0"/>
              <a:t>Class C </a:t>
            </a:r>
            <a:r>
              <a:rPr lang="nl-NL" dirty="0"/>
              <a:t>luistert vrijwel continu en heeft de laagste </a:t>
            </a:r>
            <a:r>
              <a:rPr lang="nl-NL" dirty="0" err="1"/>
              <a:t>latency</a:t>
            </a:r>
            <a:r>
              <a:rPr lang="nl-NL" dirty="0"/>
              <a:t>, maar ook het hoogste energieverbruik; dit type wordt daarom vaak gebruikt bij </a:t>
            </a:r>
            <a:r>
              <a:rPr lang="nl-NL" dirty="0" err="1"/>
              <a:t>netgevoede</a:t>
            </a:r>
            <a:r>
              <a:rPr lang="nl-NL" dirty="0"/>
              <a:t> systemen zoals straatverlichting of alarmen.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6889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6D0F-E8D5-9303-3D9A-69282BA78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 device</a:t>
            </a:r>
            <a:endParaRPr lang="en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16606E4-520D-8EC6-5F26-EC7F5EBAA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1690688"/>
            <a:ext cx="7772400" cy="2647429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9EE5369F-8B71-96D1-2B1E-E4E9389FB09C}"/>
              </a:ext>
            </a:extLst>
          </p:cNvPr>
          <p:cNvSpPr txBox="1"/>
          <p:nvPr/>
        </p:nvSpPr>
        <p:spPr>
          <a:xfrm>
            <a:off x="836612" y="4524587"/>
            <a:ext cx="6196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LoRaWAN</a:t>
            </a:r>
            <a:r>
              <a:rPr lang="nl-NL" dirty="0"/>
              <a:t> downlink image: Source: The </a:t>
            </a:r>
            <a:r>
              <a:rPr lang="nl-NL" dirty="0" err="1"/>
              <a:t>Things</a:t>
            </a:r>
            <a:r>
              <a:rPr lang="nl-NL" dirty="0"/>
              <a:t> Network 2026</a:t>
            </a:r>
          </a:p>
        </p:txBody>
      </p:sp>
    </p:spTree>
    <p:extLst>
      <p:ext uri="{BB962C8B-B14F-4D97-AF65-F5344CB8AC3E}">
        <p14:creationId xmlns:p14="http://schemas.microsoft.com/office/powerpoint/2010/main" val="135829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F6EF0-DC44-2242-F5DF-88629CA6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882B-2972-2489-C99D-A91549CE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Payload</a:t>
            </a:r>
            <a:r>
              <a:rPr lang="nl-NL" dirty="0"/>
              <a:t> </a:t>
            </a:r>
            <a:r>
              <a:rPr lang="nl-NL" dirty="0" err="1"/>
              <a:t>formatting</a:t>
            </a:r>
            <a:r>
              <a:rPr lang="nl-NL" dirty="0"/>
              <a:t>: van betekenis naar bytes</a:t>
            </a:r>
            <a:endParaRPr lang="en-NL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3AF2C2DD-704C-AB71-E0D5-F2F6BB651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8199" y="1690688"/>
            <a:ext cx="10245811" cy="46585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NL" dirty="0"/>
              <a:t>Een </a:t>
            </a:r>
            <a:r>
              <a:rPr lang="nl-NL" dirty="0" err="1"/>
              <a:t>payload</a:t>
            </a:r>
            <a:r>
              <a:rPr lang="nl-NL" dirty="0"/>
              <a:t> </a:t>
            </a:r>
            <a:r>
              <a:rPr lang="nl-NL" dirty="0" err="1"/>
              <a:t>formatter</a:t>
            </a:r>
            <a:r>
              <a:rPr lang="nl-NL" dirty="0"/>
              <a:t> zet betekenisvolle data om naar compacte bytes. In The </a:t>
            </a:r>
            <a:r>
              <a:rPr lang="nl-NL" dirty="0" err="1"/>
              <a:t>Things</a:t>
            </a:r>
            <a:r>
              <a:rPr lang="nl-NL" dirty="0"/>
              <a:t> Stack doet </a:t>
            </a:r>
            <a:r>
              <a:rPr lang="nl-NL" dirty="0" err="1"/>
              <a:t>encodeDownlink</a:t>
            </a:r>
            <a:r>
              <a:rPr lang="nl-NL" dirty="0"/>
              <a:t>() de omzetting van een JSON-object naar binaire </a:t>
            </a:r>
            <a:r>
              <a:rPr lang="nl-NL" dirty="0" err="1"/>
              <a:t>payload</a:t>
            </a:r>
            <a:r>
              <a:rPr lang="nl-NL" dirty="0"/>
              <a:t>, en </a:t>
            </a:r>
            <a:r>
              <a:rPr lang="nl-NL" dirty="0" err="1"/>
              <a:t>decodeDownlink</a:t>
            </a:r>
            <a:r>
              <a:rPr lang="nl-NL" dirty="0"/>
              <a:t>() juist terug naar leesbare velden. Dit is handig omdat gebruikers in de </a:t>
            </a:r>
            <a:r>
              <a:rPr lang="nl-NL" dirty="0" err="1"/>
              <a:t>cloud</a:t>
            </a:r>
            <a:r>
              <a:rPr lang="nl-NL" dirty="0"/>
              <a:t> kunnen werken met termen als state, </a:t>
            </a:r>
            <a:r>
              <a:rPr lang="nl-NL" dirty="0" err="1"/>
              <a:t>blink_red</a:t>
            </a:r>
            <a:r>
              <a:rPr lang="nl-NL" dirty="0"/>
              <a:t> en </a:t>
            </a:r>
            <a:r>
              <a:rPr lang="nl-NL" dirty="0" err="1"/>
              <a:t>blink_green</a:t>
            </a:r>
            <a:r>
              <a:rPr lang="nl-NL" dirty="0"/>
              <a:t>, terwijl het device alleen een paar bytes hoeft te ontvangen.</a:t>
            </a:r>
          </a:p>
          <a:p>
            <a:pPr marL="0" indent="0">
              <a:buNone/>
            </a:pPr>
            <a:r>
              <a:rPr lang="nl-NL" dirty="0"/>
              <a:t>Voor het stoplicht is een logische downlink-structuur bijvoorbeeld 4 bytes:</a:t>
            </a:r>
          </a:p>
          <a:p>
            <a:pPr marL="0" indent="0">
              <a:buNone/>
            </a:pPr>
            <a:r>
              <a:rPr lang="nl-NL" dirty="0"/>
              <a:t>byte 0 = vaste LED-status</a:t>
            </a:r>
          </a:p>
          <a:p>
            <a:pPr marL="0" indent="0">
              <a:buNone/>
            </a:pPr>
            <a:r>
              <a:rPr lang="nl-NL" dirty="0"/>
              <a:t>byte 1 = rood knipperen</a:t>
            </a:r>
          </a:p>
          <a:p>
            <a:pPr marL="0" indent="0">
              <a:buNone/>
            </a:pPr>
            <a:r>
              <a:rPr lang="nl-NL" dirty="0"/>
              <a:t>byte 2 = geel knipperen</a:t>
            </a:r>
          </a:p>
          <a:p>
            <a:pPr marL="0" indent="0">
              <a:buNone/>
            </a:pPr>
            <a:r>
              <a:rPr lang="nl-NL" dirty="0"/>
              <a:t>byte 3 = groen knipperen</a:t>
            </a:r>
          </a:p>
        </p:txBody>
      </p:sp>
    </p:spTree>
    <p:extLst>
      <p:ext uri="{BB962C8B-B14F-4D97-AF65-F5344CB8AC3E}">
        <p14:creationId xmlns:p14="http://schemas.microsoft.com/office/powerpoint/2010/main" val="404740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D8488-F2F3-607B-E1DE-AABDB847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FFA3-9B42-416C-F256-136FB325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Bytes, bits en </a:t>
            </a:r>
            <a:r>
              <a:rPr lang="nl-NL" dirty="0" err="1"/>
              <a:t>hex</a:t>
            </a:r>
            <a:r>
              <a:rPr lang="nl-NL" dirty="0"/>
              <a:t>: hoe lees je een commando?</a:t>
            </a:r>
            <a:endParaRPr lang="en-NL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42DA8008-C64E-BED0-8E7B-881B05572F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8199" y="1690688"/>
            <a:ext cx="10245811" cy="46585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dirty="0"/>
              <a:t>Een byte bestaat uit 8 bits. Een bit is 0 of 1. Door bits slim te gebruiken kun je meerdere aan/uit-keuzes in één byte stoppen. Dat heet werken met </a:t>
            </a:r>
            <a:r>
              <a:rPr lang="nl-NL" b="1" dirty="0"/>
              <a:t>bit </a:t>
            </a:r>
            <a:r>
              <a:rPr lang="nl-NL" b="1" dirty="0" err="1"/>
              <a:t>flags</a:t>
            </a:r>
            <a:r>
              <a:rPr lang="nl-NL" dirty="0"/>
              <a:t>. Voor het stoplicht kun je bijvoorbeeld afspreken: bit 0 = rood, bit 1 = geel, bit 2 = groen. Dan betekent 01 </a:t>
            </a:r>
            <a:r>
              <a:rPr lang="nl-NL" dirty="0" err="1"/>
              <a:t>hex</a:t>
            </a:r>
            <a:r>
              <a:rPr lang="nl-NL" dirty="0"/>
              <a:t>: rood aan, 02 </a:t>
            </a:r>
            <a:r>
              <a:rPr lang="nl-NL" dirty="0" err="1"/>
              <a:t>hex</a:t>
            </a:r>
            <a:r>
              <a:rPr lang="nl-NL" dirty="0"/>
              <a:t>: geel aan, 04 </a:t>
            </a:r>
            <a:r>
              <a:rPr lang="nl-NL" dirty="0" err="1"/>
              <a:t>hex</a:t>
            </a:r>
            <a:r>
              <a:rPr lang="nl-NL" dirty="0"/>
              <a:t>: groen aan, en 07 </a:t>
            </a:r>
            <a:r>
              <a:rPr lang="nl-NL" dirty="0" err="1"/>
              <a:t>hex</a:t>
            </a:r>
            <a:r>
              <a:rPr lang="nl-NL" dirty="0"/>
              <a:t>: alle drie aan.</a:t>
            </a:r>
          </a:p>
          <a:p>
            <a:pPr marL="0" indent="0">
              <a:buNone/>
            </a:pPr>
            <a:r>
              <a:rPr lang="nl-NL" dirty="0"/>
              <a:t>Hexadecimaal is een compacte manier om bytes te noteren. </a:t>
            </a:r>
            <a:r>
              <a:rPr lang="nl-NL" b="1" dirty="0"/>
              <a:t>Eén </a:t>
            </a:r>
            <a:r>
              <a:rPr lang="nl-NL" b="1" dirty="0" err="1"/>
              <a:t>hex</a:t>
            </a:r>
            <a:r>
              <a:rPr lang="nl-NL" b="1" dirty="0"/>
              <a:t>-cijfer stelt 4 bits voor</a:t>
            </a:r>
            <a:r>
              <a:rPr lang="nl-NL" dirty="0"/>
              <a:t>, dus twee </a:t>
            </a:r>
            <a:r>
              <a:rPr lang="nl-NL" dirty="0" err="1"/>
              <a:t>hex</a:t>
            </a:r>
            <a:r>
              <a:rPr lang="nl-NL" dirty="0"/>
              <a:t>-cijfers vormen samen precies één byte. Daarom is 04000000 een handige notatie voor een 4-byte </a:t>
            </a:r>
            <a:r>
              <a:rPr lang="nl-NL" dirty="0" err="1"/>
              <a:t>payload</a:t>
            </a:r>
            <a:r>
              <a:rPr lang="nl-NL" dirty="0"/>
              <a:t> waarin alleen het groene bit in byte 0 gezet is. 03000000 is niet groen, maar rood + geel, </a:t>
            </a:r>
            <a:r>
              <a:rPr lang="nl-NL" b="1" dirty="0"/>
              <a:t>want 03 is binair 00000011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3716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257F0-1303-E87A-54A1-3D7A5D28E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DE8CF-895C-18E3-57F9-B07CD0C7F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Waarom zie je soms Base64 in plaats van </a:t>
            </a:r>
            <a:r>
              <a:rPr lang="nl-NL" dirty="0" err="1"/>
              <a:t>hex</a:t>
            </a:r>
            <a:r>
              <a:rPr lang="nl-NL" dirty="0"/>
              <a:t>?</a:t>
            </a:r>
            <a:endParaRPr lang="en-NL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33B27651-0A9D-A6CD-D3A9-C7759160A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8199" y="1690688"/>
            <a:ext cx="10245811" cy="4658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In de </a:t>
            </a:r>
            <a:r>
              <a:rPr lang="nl-NL" dirty="0" err="1"/>
              <a:t>cloud</a:t>
            </a:r>
            <a:r>
              <a:rPr lang="nl-NL" dirty="0"/>
              <a:t>, vooral bij MQTT of API-berichten, wordt de binaire </a:t>
            </a:r>
            <a:r>
              <a:rPr lang="nl-NL" dirty="0" err="1"/>
              <a:t>payload</a:t>
            </a:r>
            <a:r>
              <a:rPr lang="nl-NL" dirty="0"/>
              <a:t> vaak niet als </a:t>
            </a:r>
            <a:r>
              <a:rPr lang="nl-NL" dirty="0" err="1"/>
              <a:t>hex</a:t>
            </a:r>
            <a:r>
              <a:rPr lang="nl-NL" dirty="0"/>
              <a:t> maar als Base64 verzonden. 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Base64 gebruikt 64 tekens om binaire data als tekst weer te geven. Elke Base64-digit representeert 6 bits; daardoor worden 3 bytes invoer meestal weergegeven als 4 Base64-tekens. Dat maakt de data veilig transporteerbaar in JSON en tekstprotocollen, maar wel iets groter dan de oorspronkelijke bytes.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5E38EB3A-AF44-3286-EF19-195C975A8594}"/>
              </a:ext>
            </a:extLst>
          </p:cNvPr>
          <p:cNvSpPr txBox="1"/>
          <p:nvPr/>
        </p:nvSpPr>
        <p:spPr>
          <a:xfrm>
            <a:off x="838199" y="5758249"/>
            <a:ext cx="7564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hlinkClick r:id="rId3"/>
              </a:rPr>
              <a:t>https://github.com/HU-TI-DEV/TI-S2/tree/main/software/getalsysteem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30576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E016-5D62-B09E-AF3C-85136D83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 dan nu.. Aan de slag!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E17AB-7DC7-DDDA-C33E-2F6219D15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Werkt</a:t>
            </a:r>
            <a:r>
              <a:rPr lang="en-US" dirty="0"/>
              <a:t> je (Raspberry Pi Pico W) LoRa end node </a:t>
            </a:r>
            <a:r>
              <a:rPr lang="en-US" dirty="0" err="1"/>
              <a:t>nog</a:t>
            </a:r>
            <a:r>
              <a:rPr lang="en-US" dirty="0"/>
              <a:t>?</a:t>
            </a:r>
          </a:p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MQTT </a:t>
            </a:r>
            <a:r>
              <a:rPr lang="en-US" dirty="0" err="1"/>
              <a:t>integratie</a:t>
            </a:r>
            <a:r>
              <a:rPr lang="en-US" dirty="0"/>
              <a:t> </a:t>
            </a:r>
            <a:r>
              <a:rPr lang="en-US" dirty="0" err="1"/>
              <a:t>aan</a:t>
            </a:r>
            <a:endParaRPr lang="en-US" dirty="0"/>
          </a:p>
          <a:p>
            <a:r>
              <a:rPr lang="en-US" dirty="0"/>
              <a:t>Test de MQTT service</a:t>
            </a:r>
          </a:p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Python </a:t>
            </a:r>
            <a:r>
              <a:rPr lang="en-US" dirty="0" err="1"/>
              <a:t>integratie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9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872</TotalTime>
  <Words>808</Words>
  <Application>Microsoft Macintosh PowerPoint</Application>
  <PresentationFormat>Breedbeeld</PresentationFormat>
  <Paragraphs>52</Paragraphs>
  <Slides>11</Slides>
  <Notes>5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 </vt:lpstr>
      <vt:lpstr>Disclaimer</vt:lpstr>
      <vt:lpstr>Planning</vt:lpstr>
      <vt:lpstr>LoRaWAN downlink: wat is het en wanneer werkt het?</vt:lpstr>
      <vt:lpstr>Een commando sturen</vt:lpstr>
      <vt:lpstr>Class A, B en C devices</vt:lpstr>
      <vt:lpstr>Class A device</vt:lpstr>
      <vt:lpstr>Payload formatting: van betekenis naar bytes</vt:lpstr>
      <vt:lpstr>Bytes, bits en hex: hoe lees je een commando?</vt:lpstr>
      <vt:lpstr>Waarom zie je soms Base64 in plaats van hex?</vt:lpstr>
      <vt:lpstr>En dan nu.. Aan de slag!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Goris</dc:creator>
  <cp:lastModifiedBy>Harm Snippe</cp:lastModifiedBy>
  <cp:revision>36</cp:revision>
  <dcterms:created xsi:type="dcterms:W3CDTF">2026-02-25T08:05:27Z</dcterms:created>
  <dcterms:modified xsi:type="dcterms:W3CDTF">2026-03-29T13:58:44Z</dcterms:modified>
</cp:coreProperties>
</file>