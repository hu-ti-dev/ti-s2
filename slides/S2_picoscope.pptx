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75" r:id="rId3"/>
    <p:sldId id="276" r:id="rId4"/>
    <p:sldId id="267" r:id="rId5"/>
    <p:sldId id="303" r:id="rId6"/>
    <p:sldId id="304" r:id="rId7"/>
    <p:sldId id="305" r:id="rId8"/>
    <p:sldId id="306" r:id="rId9"/>
    <p:sldId id="302" r:id="rId10"/>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68493"/>
  </p:normalViewPr>
  <p:slideViewPr>
    <p:cSldViewPr snapToGrid="0">
      <p:cViewPr varScale="1">
        <p:scale>
          <a:sx n="85" d="100"/>
          <a:sy n="85" d="100"/>
        </p:scale>
        <p:origin x="968"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A656B2-ED32-8044-9B2A-829653741135}" type="datetimeFigureOut">
              <a:rPr lang="nl-NL" smtClean="0"/>
              <a:t>12-04-2026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B76DE4-D675-834A-A8C5-F6A601043E90}" type="slidenum">
              <a:rPr lang="nl-NL" smtClean="0"/>
              <a:t>‹nr.›</a:t>
            </a:fld>
            <a:endParaRPr lang="nl-NL"/>
          </a:p>
        </p:txBody>
      </p:sp>
    </p:spTree>
    <p:extLst>
      <p:ext uri="{BB962C8B-B14F-4D97-AF65-F5344CB8AC3E}">
        <p14:creationId xmlns:p14="http://schemas.microsoft.com/office/powerpoint/2010/main" val="3340391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11B76DE4-D675-834A-A8C5-F6A601043E90}" type="slidenum">
              <a:rPr lang="nl-NL" smtClean="0"/>
              <a:t>4</a:t>
            </a:fld>
            <a:endParaRPr lang="nl-NL"/>
          </a:p>
        </p:txBody>
      </p:sp>
    </p:spTree>
    <p:extLst>
      <p:ext uri="{BB962C8B-B14F-4D97-AF65-F5344CB8AC3E}">
        <p14:creationId xmlns:p14="http://schemas.microsoft.com/office/powerpoint/2010/main" val="1390120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p:txBody>
      </p:sp>
      <p:sp>
        <p:nvSpPr>
          <p:cNvPr id="4" name="Tijdelijke aanduiding voor dianummer 3"/>
          <p:cNvSpPr>
            <a:spLocks noGrp="1"/>
          </p:cNvSpPr>
          <p:nvPr>
            <p:ph type="sldNum" sz="quarter" idx="5"/>
          </p:nvPr>
        </p:nvSpPr>
        <p:spPr/>
        <p:txBody>
          <a:bodyPr/>
          <a:lstStyle/>
          <a:p>
            <a:fld id="{11B76DE4-D675-834A-A8C5-F6A601043E90}" type="slidenum">
              <a:rPr lang="nl-NL" smtClean="0"/>
              <a:t>5</a:t>
            </a:fld>
            <a:endParaRPr lang="nl-NL"/>
          </a:p>
        </p:txBody>
      </p:sp>
    </p:spTree>
    <p:extLst>
      <p:ext uri="{BB962C8B-B14F-4D97-AF65-F5344CB8AC3E}">
        <p14:creationId xmlns:p14="http://schemas.microsoft.com/office/powerpoint/2010/main" val="13739141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79EBC-2B04-30CF-5A0C-49FDC743ABD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EAC0B5CC-23F1-4D09-72FB-8BA103AAC0DB}"/>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01218AB-FFD3-EA1A-58AA-5C10AC4A2053}"/>
              </a:ext>
            </a:extLst>
          </p:cNvPr>
          <p:cNvSpPr>
            <a:spLocks noGrp="1"/>
          </p:cNvSpPr>
          <p:nvPr>
            <p:ph type="body" idx="1"/>
          </p:nvPr>
        </p:nvSpPr>
        <p:spPr/>
        <p:txBody>
          <a:bodyPr/>
          <a:lstStyle/>
          <a:p>
            <a:endParaRPr lang="nl-NL" sz="1200" b="0" i="0" kern="1200" dirty="0">
              <a:solidFill>
                <a:schemeClr val="tx1"/>
              </a:solidFill>
              <a:effectLst/>
              <a:latin typeface="+mn-lt"/>
              <a:ea typeface="+mn-ea"/>
              <a:cs typeface="+mn-cs"/>
            </a:endParaRPr>
          </a:p>
        </p:txBody>
      </p:sp>
      <p:sp>
        <p:nvSpPr>
          <p:cNvPr id="4" name="Tijdelijke aanduiding voor dianummer 3">
            <a:extLst>
              <a:ext uri="{FF2B5EF4-FFF2-40B4-BE49-F238E27FC236}">
                <a16:creationId xmlns:a16="http://schemas.microsoft.com/office/drawing/2014/main" id="{FA0309A3-1623-5309-07DD-14D5A4C6D306}"/>
              </a:ext>
            </a:extLst>
          </p:cNvPr>
          <p:cNvSpPr>
            <a:spLocks noGrp="1"/>
          </p:cNvSpPr>
          <p:nvPr>
            <p:ph type="sldNum" sz="quarter" idx="5"/>
          </p:nvPr>
        </p:nvSpPr>
        <p:spPr/>
        <p:txBody>
          <a:bodyPr/>
          <a:lstStyle/>
          <a:p>
            <a:fld id="{11B76DE4-D675-834A-A8C5-F6A601043E90}" type="slidenum">
              <a:rPr lang="nl-NL" smtClean="0"/>
              <a:t>6</a:t>
            </a:fld>
            <a:endParaRPr lang="nl-NL"/>
          </a:p>
        </p:txBody>
      </p:sp>
    </p:spTree>
    <p:extLst>
      <p:ext uri="{BB962C8B-B14F-4D97-AF65-F5344CB8AC3E}">
        <p14:creationId xmlns:p14="http://schemas.microsoft.com/office/powerpoint/2010/main" val="7447604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033C5-DB7B-9F64-9531-C9D9ADD5F5A6}"/>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37C2E4F3-DD88-9DF1-DA3C-AEB8F0C507A5}"/>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F0D1E1A4-3B60-B154-7724-27C5BB13A961}"/>
              </a:ext>
            </a:extLst>
          </p:cNvPr>
          <p:cNvSpPr>
            <a:spLocks noGrp="1"/>
          </p:cNvSpPr>
          <p:nvPr>
            <p:ph type="body" idx="1"/>
          </p:nvPr>
        </p:nvSpPr>
        <p:spPr/>
        <p:txBody>
          <a:bodyPr/>
          <a:lstStyle/>
          <a:p>
            <a:endParaRPr lang="nl-NL" sz="1200" b="0" i="0" kern="1200" dirty="0">
              <a:solidFill>
                <a:schemeClr val="tx1"/>
              </a:solidFill>
              <a:effectLst/>
              <a:latin typeface="+mn-lt"/>
              <a:ea typeface="+mn-ea"/>
              <a:cs typeface="+mn-cs"/>
            </a:endParaRPr>
          </a:p>
        </p:txBody>
      </p:sp>
      <p:sp>
        <p:nvSpPr>
          <p:cNvPr id="4" name="Tijdelijke aanduiding voor dianummer 3">
            <a:extLst>
              <a:ext uri="{FF2B5EF4-FFF2-40B4-BE49-F238E27FC236}">
                <a16:creationId xmlns:a16="http://schemas.microsoft.com/office/drawing/2014/main" id="{74CB130C-909C-434B-6E8D-C7EA35F80A35}"/>
              </a:ext>
            </a:extLst>
          </p:cNvPr>
          <p:cNvSpPr>
            <a:spLocks noGrp="1"/>
          </p:cNvSpPr>
          <p:nvPr>
            <p:ph type="sldNum" sz="quarter" idx="5"/>
          </p:nvPr>
        </p:nvSpPr>
        <p:spPr/>
        <p:txBody>
          <a:bodyPr/>
          <a:lstStyle/>
          <a:p>
            <a:fld id="{11B76DE4-D675-834A-A8C5-F6A601043E90}" type="slidenum">
              <a:rPr lang="nl-NL" smtClean="0"/>
              <a:t>7</a:t>
            </a:fld>
            <a:endParaRPr lang="nl-NL"/>
          </a:p>
        </p:txBody>
      </p:sp>
    </p:spTree>
    <p:extLst>
      <p:ext uri="{BB962C8B-B14F-4D97-AF65-F5344CB8AC3E}">
        <p14:creationId xmlns:p14="http://schemas.microsoft.com/office/powerpoint/2010/main" val="39141686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DD24D-F395-C408-C4B5-72A905F0DFA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CB3B627-D7B3-8066-0C47-CC7D912C9CE2}"/>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B16A9E19-B640-856D-E233-0328BAFD7210}"/>
              </a:ext>
            </a:extLst>
          </p:cNvPr>
          <p:cNvSpPr>
            <a:spLocks noGrp="1"/>
          </p:cNvSpPr>
          <p:nvPr>
            <p:ph type="body" idx="1"/>
          </p:nvPr>
        </p:nvSpPr>
        <p:spPr/>
        <p:txBody>
          <a:bodyPr/>
          <a:lstStyle/>
          <a:p>
            <a:r>
              <a:rPr lang="nl-NL" dirty="0" err="1"/>
              <a:t>https</a:t>
            </a:r>
            <a:r>
              <a:rPr lang="nl-NL" dirty="0"/>
              <a:t>://</a:t>
            </a:r>
            <a:r>
              <a:rPr lang="nl-NL" dirty="0" err="1"/>
              <a:t>learn.sparkfun.com</a:t>
            </a:r>
            <a:r>
              <a:rPr lang="nl-NL" dirty="0"/>
              <a:t>/</a:t>
            </a:r>
            <a:r>
              <a:rPr lang="nl-NL" dirty="0" err="1"/>
              <a:t>tutorials</a:t>
            </a:r>
            <a:r>
              <a:rPr lang="nl-NL" dirty="0"/>
              <a:t>/</a:t>
            </a:r>
            <a:r>
              <a:rPr lang="nl-NL" dirty="0" err="1"/>
              <a:t>pulse-width-modulation</a:t>
            </a:r>
            <a:r>
              <a:rPr lang="nl-NL" dirty="0"/>
              <a:t>/</a:t>
            </a:r>
            <a:r>
              <a:rPr lang="nl-NL" dirty="0" err="1"/>
              <a:t>all</a:t>
            </a:r>
            <a:endParaRPr lang="nl-NL" dirty="0"/>
          </a:p>
          <a:p>
            <a:endParaRPr lang="nl-NL" sz="1200" b="0" i="0" kern="1200" dirty="0">
              <a:solidFill>
                <a:schemeClr val="tx1"/>
              </a:solidFill>
              <a:effectLst/>
              <a:latin typeface="+mn-lt"/>
              <a:ea typeface="+mn-ea"/>
              <a:cs typeface="+mn-cs"/>
            </a:endParaRPr>
          </a:p>
        </p:txBody>
      </p:sp>
      <p:sp>
        <p:nvSpPr>
          <p:cNvPr id="4" name="Tijdelijke aanduiding voor dianummer 3">
            <a:extLst>
              <a:ext uri="{FF2B5EF4-FFF2-40B4-BE49-F238E27FC236}">
                <a16:creationId xmlns:a16="http://schemas.microsoft.com/office/drawing/2014/main" id="{4608CC3C-6F16-61B0-1753-6051A40C7F77}"/>
              </a:ext>
            </a:extLst>
          </p:cNvPr>
          <p:cNvSpPr>
            <a:spLocks noGrp="1"/>
          </p:cNvSpPr>
          <p:nvPr>
            <p:ph type="sldNum" sz="quarter" idx="5"/>
          </p:nvPr>
        </p:nvSpPr>
        <p:spPr/>
        <p:txBody>
          <a:bodyPr/>
          <a:lstStyle/>
          <a:p>
            <a:fld id="{11B76DE4-D675-834A-A8C5-F6A601043E90}" type="slidenum">
              <a:rPr lang="nl-NL" smtClean="0"/>
              <a:t>8</a:t>
            </a:fld>
            <a:endParaRPr lang="nl-NL"/>
          </a:p>
        </p:txBody>
      </p:sp>
    </p:spTree>
    <p:extLst>
      <p:ext uri="{BB962C8B-B14F-4D97-AF65-F5344CB8AC3E}">
        <p14:creationId xmlns:p14="http://schemas.microsoft.com/office/powerpoint/2010/main" val="3574801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EE3ED-C625-D485-B12A-4627693C89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493813A3-15E4-4A82-0C37-C78C974B19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47A6E590-4365-084E-8D86-237438F0C828}"/>
              </a:ext>
            </a:extLst>
          </p:cNvPr>
          <p:cNvSpPr>
            <a:spLocks noGrp="1"/>
          </p:cNvSpPr>
          <p:nvPr>
            <p:ph type="dt" sz="half" idx="10"/>
          </p:nvPr>
        </p:nvSpPr>
        <p:spPr/>
        <p:txBody>
          <a:bodyPr/>
          <a:lstStyle/>
          <a:p>
            <a:fld id="{3A7CBCB4-1EFE-4E3B-9C8A-BCC4F06648F3}" type="datetimeFigureOut">
              <a:rPr lang="en-NL" smtClean="0"/>
              <a:t>4/12/26</a:t>
            </a:fld>
            <a:endParaRPr lang="en-NL"/>
          </a:p>
        </p:txBody>
      </p:sp>
      <p:sp>
        <p:nvSpPr>
          <p:cNvPr id="5" name="Footer Placeholder 4">
            <a:extLst>
              <a:ext uri="{FF2B5EF4-FFF2-40B4-BE49-F238E27FC236}">
                <a16:creationId xmlns:a16="http://schemas.microsoft.com/office/drawing/2014/main" id="{52CEEB0B-35A5-1988-FE4A-A0DDB8F70D1B}"/>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87DD50D-9B8A-2C13-F773-603CE7251461}"/>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690383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86F7C-FF25-D565-9C9E-71E7FFCE17C5}"/>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BE41D068-0531-E34C-38C3-83FAF0DA15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308655D2-4934-C937-BAAB-C507B90CFE2A}"/>
              </a:ext>
            </a:extLst>
          </p:cNvPr>
          <p:cNvSpPr>
            <a:spLocks noGrp="1"/>
          </p:cNvSpPr>
          <p:nvPr>
            <p:ph type="dt" sz="half" idx="10"/>
          </p:nvPr>
        </p:nvSpPr>
        <p:spPr/>
        <p:txBody>
          <a:bodyPr/>
          <a:lstStyle/>
          <a:p>
            <a:fld id="{3A7CBCB4-1EFE-4E3B-9C8A-BCC4F06648F3}" type="datetimeFigureOut">
              <a:rPr lang="en-NL" smtClean="0"/>
              <a:t>4/12/26</a:t>
            </a:fld>
            <a:endParaRPr lang="en-NL"/>
          </a:p>
        </p:txBody>
      </p:sp>
      <p:sp>
        <p:nvSpPr>
          <p:cNvPr id="5" name="Footer Placeholder 4">
            <a:extLst>
              <a:ext uri="{FF2B5EF4-FFF2-40B4-BE49-F238E27FC236}">
                <a16:creationId xmlns:a16="http://schemas.microsoft.com/office/drawing/2014/main" id="{52428325-A2C4-4220-01EB-BC3F1E7E0693}"/>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31813D7-0838-4B74-3000-7D335E87AEB1}"/>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2436853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E0702-102A-8C84-9AD5-3A72F1DDF1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DF76D655-302F-C236-C59A-709D593517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61EB2C-D550-E4F3-658E-5337580C4F97}"/>
              </a:ext>
            </a:extLst>
          </p:cNvPr>
          <p:cNvSpPr>
            <a:spLocks noGrp="1"/>
          </p:cNvSpPr>
          <p:nvPr>
            <p:ph type="dt" sz="half" idx="10"/>
          </p:nvPr>
        </p:nvSpPr>
        <p:spPr/>
        <p:txBody>
          <a:bodyPr/>
          <a:lstStyle/>
          <a:p>
            <a:fld id="{3A7CBCB4-1EFE-4E3B-9C8A-BCC4F06648F3}" type="datetimeFigureOut">
              <a:rPr lang="en-NL" smtClean="0"/>
              <a:t>4/12/26</a:t>
            </a:fld>
            <a:endParaRPr lang="en-NL"/>
          </a:p>
        </p:txBody>
      </p:sp>
      <p:sp>
        <p:nvSpPr>
          <p:cNvPr id="5" name="Footer Placeholder 4">
            <a:extLst>
              <a:ext uri="{FF2B5EF4-FFF2-40B4-BE49-F238E27FC236}">
                <a16:creationId xmlns:a16="http://schemas.microsoft.com/office/drawing/2014/main" id="{8C68534A-5961-C126-E417-E32FD9F59FD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8B5550C-E667-BD50-8810-F4FAF3573483}"/>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793876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7B925-681D-3003-D861-780F50E289B2}"/>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A044C58C-E09E-4A4A-101C-68C0FDCDEA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D8E2F83C-E752-5EA9-A489-7E22923587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2498F4C9-91AB-3447-5327-4A59F3AC494C}"/>
              </a:ext>
            </a:extLst>
          </p:cNvPr>
          <p:cNvSpPr>
            <a:spLocks noGrp="1"/>
          </p:cNvSpPr>
          <p:nvPr>
            <p:ph type="dt" sz="half" idx="10"/>
          </p:nvPr>
        </p:nvSpPr>
        <p:spPr/>
        <p:txBody>
          <a:bodyPr/>
          <a:lstStyle/>
          <a:p>
            <a:fld id="{3A7CBCB4-1EFE-4E3B-9C8A-BCC4F06648F3}" type="datetimeFigureOut">
              <a:rPr lang="en-NL" smtClean="0"/>
              <a:t>4/12/26</a:t>
            </a:fld>
            <a:endParaRPr lang="en-NL"/>
          </a:p>
        </p:txBody>
      </p:sp>
      <p:sp>
        <p:nvSpPr>
          <p:cNvPr id="6" name="Footer Placeholder 5">
            <a:extLst>
              <a:ext uri="{FF2B5EF4-FFF2-40B4-BE49-F238E27FC236}">
                <a16:creationId xmlns:a16="http://schemas.microsoft.com/office/drawing/2014/main" id="{21C51336-E949-27D1-45C9-22E0C4D7DB5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A613E751-F369-6119-5558-BD23C9E94457}"/>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2376588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7C6AA-E30B-6FE4-743C-C23ACD6D5B54}"/>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76029350-9138-8D3E-2399-3B022D47AF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DD5964-5452-1FF6-8DFF-F388B8AFBA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D6284646-B8ED-6B3F-FB14-419108A296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632628-4D42-6BE0-59BC-E7BD228EF9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F5E5A1A5-CFE0-868C-12AE-E3C8D4FFDF7A}"/>
              </a:ext>
            </a:extLst>
          </p:cNvPr>
          <p:cNvSpPr>
            <a:spLocks noGrp="1"/>
          </p:cNvSpPr>
          <p:nvPr>
            <p:ph type="dt" sz="half" idx="10"/>
          </p:nvPr>
        </p:nvSpPr>
        <p:spPr/>
        <p:txBody>
          <a:bodyPr/>
          <a:lstStyle/>
          <a:p>
            <a:fld id="{3A7CBCB4-1EFE-4E3B-9C8A-BCC4F06648F3}" type="datetimeFigureOut">
              <a:rPr lang="en-NL" smtClean="0"/>
              <a:t>4/12/26</a:t>
            </a:fld>
            <a:endParaRPr lang="en-NL"/>
          </a:p>
        </p:txBody>
      </p:sp>
      <p:sp>
        <p:nvSpPr>
          <p:cNvPr id="8" name="Footer Placeholder 7">
            <a:extLst>
              <a:ext uri="{FF2B5EF4-FFF2-40B4-BE49-F238E27FC236}">
                <a16:creationId xmlns:a16="http://schemas.microsoft.com/office/drawing/2014/main" id="{071C27F8-D91C-8DE8-B40E-49B4901BFF86}"/>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5AD76DA8-CF6D-9503-8DE4-DE01B8FF7CD5}"/>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1648695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DDF92-A536-4349-5088-087E39B5E162}"/>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E030E612-A177-8943-0797-D054F20A1857}"/>
              </a:ext>
            </a:extLst>
          </p:cNvPr>
          <p:cNvSpPr>
            <a:spLocks noGrp="1"/>
          </p:cNvSpPr>
          <p:nvPr>
            <p:ph type="dt" sz="half" idx="10"/>
          </p:nvPr>
        </p:nvSpPr>
        <p:spPr/>
        <p:txBody>
          <a:bodyPr/>
          <a:lstStyle/>
          <a:p>
            <a:fld id="{3A7CBCB4-1EFE-4E3B-9C8A-BCC4F06648F3}" type="datetimeFigureOut">
              <a:rPr lang="en-NL" smtClean="0"/>
              <a:t>4/12/26</a:t>
            </a:fld>
            <a:endParaRPr lang="en-NL"/>
          </a:p>
        </p:txBody>
      </p:sp>
      <p:sp>
        <p:nvSpPr>
          <p:cNvPr id="4" name="Footer Placeholder 3">
            <a:extLst>
              <a:ext uri="{FF2B5EF4-FFF2-40B4-BE49-F238E27FC236}">
                <a16:creationId xmlns:a16="http://schemas.microsoft.com/office/drawing/2014/main" id="{7E209C7C-4005-FD5F-933B-6EED46D51E41}"/>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B5DA187B-35A9-37EB-677C-6080EC2256EF}"/>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4065925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D918E3-B18C-8BF7-DCF5-AF18B2B229D7}"/>
              </a:ext>
            </a:extLst>
          </p:cNvPr>
          <p:cNvSpPr>
            <a:spLocks noGrp="1"/>
          </p:cNvSpPr>
          <p:nvPr>
            <p:ph type="dt" sz="half" idx="10"/>
          </p:nvPr>
        </p:nvSpPr>
        <p:spPr/>
        <p:txBody>
          <a:bodyPr/>
          <a:lstStyle/>
          <a:p>
            <a:fld id="{3A7CBCB4-1EFE-4E3B-9C8A-BCC4F06648F3}" type="datetimeFigureOut">
              <a:rPr lang="en-NL" smtClean="0"/>
              <a:t>4/12/26</a:t>
            </a:fld>
            <a:endParaRPr lang="en-NL"/>
          </a:p>
        </p:txBody>
      </p:sp>
      <p:sp>
        <p:nvSpPr>
          <p:cNvPr id="3" name="Footer Placeholder 2">
            <a:extLst>
              <a:ext uri="{FF2B5EF4-FFF2-40B4-BE49-F238E27FC236}">
                <a16:creationId xmlns:a16="http://schemas.microsoft.com/office/drawing/2014/main" id="{49C36FD0-7198-7E13-7D43-A75865FC0511}"/>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61048651-87A7-399D-AE83-B296B3F0A3B5}"/>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3102596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4BAD-0D16-257B-C318-6127B1262D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B919A3EE-69E9-1AA0-4BE0-B8DB1BDAAD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0B879FBA-CB35-8331-4179-26E6124963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55B652-6D8C-2693-5D51-1D994026BE8E}"/>
              </a:ext>
            </a:extLst>
          </p:cNvPr>
          <p:cNvSpPr>
            <a:spLocks noGrp="1"/>
          </p:cNvSpPr>
          <p:nvPr>
            <p:ph type="dt" sz="half" idx="10"/>
          </p:nvPr>
        </p:nvSpPr>
        <p:spPr/>
        <p:txBody>
          <a:bodyPr/>
          <a:lstStyle/>
          <a:p>
            <a:fld id="{3A7CBCB4-1EFE-4E3B-9C8A-BCC4F06648F3}" type="datetimeFigureOut">
              <a:rPr lang="en-NL" smtClean="0"/>
              <a:t>4/12/26</a:t>
            </a:fld>
            <a:endParaRPr lang="en-NL"/>
          </a:p>
        </p:txBody>
      </p:sp>
      <p:sp>
        <p:nvSpPr>
          <p:cNvPr id="6" name="Footer Placeholder 5">
            <a:extLst>
              <a:ext uri="{FF2B5EF4-FFF2-40B4-BE49-F238E27FC236}">
                <a16:creationId xmlns:a16="http://schemas.microsoft.com/office/drawing/2014/main" id="{1B0E7C48-8518-3489-E429-71C86730DBC3}"/>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5BA01891-7825-107C-26CF-6AE95EC7EC55}"/>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242181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453B2-43BF-E87F-E6C7-CC3C3C08C6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1B749BFD-D4F9-30A0-57A5-8F4501A249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2063AD1C-06E0-5910-D0D6-A250C32754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B1ED23-4DF4-B4D3-8BE8-8134798F1A6F}"/>
              </a:ext>
            </a:extLst>
          </p:cNvPr>
          <p:cNvSpPr>
            <a:spLocks noGrp="1"/>
          </p:cNvSpPr>
          <p:nvPr>
            <p:ph type="dt" sz="half" idx="10"/>
          </p:nvPr>
        </p:nvSpPr>
        <p:spPr/>
        <p:txBody>
          <a:bodyPr/>
          <a:lstStyle/>
          <a:p>
            <a:fld id="{3A7CBCB4-1EFE-4E3B-9C8A-BCC4F06648F3}" type="datetimeFigureOut">
              <a:rPr lang="en-NL" smtClean="0"/>
              <a:t>4/12/26</a:t>
            </a:fld>
            <a:endParaRPr lang="en-NL"/>
          </a:p>
        </p:txBody>
      </p:sp>
      <p:sp>
        <p:nvSpPr>
          <p:cNvPr id="6" name="Footer Placeholder 5">
            <a:extLst>
              <a:ext uri="{FF2B5EF4-FFF2-40B4-BE49-F238E27FC236}">
                <a16:creationId xmlns:a16="http://schemas.microsoft.com/office/drawing/2014/main" id="{FC2BE3F4-E9D9-572F-4E12-8A9B60C4D8BE}"/>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0E25B0C7-99F5-A05C-57DC-C3252AE892A8}"/>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2459097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C0D1A-88F0-F42E-F7EF-0F52C366833A}"/>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8F13A364-EC46-8102-8276-E565CC1F8D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9A2B9DEE-F57A-F098-D1DF-84036CFEF4A4}"/>
              </a:ext>
            </a:extLst>
          </p:cNvPr>
          <p:cNvSpPr>
            <a:spLocks noGrp="1"/>
          </p:cNvSpPr>
          <p:nvPr>
            <p:ph type="dt" sz="half" idx="10"/>
          </p:nvPr>
        </p:nvSpPr>
        <p:spPr/>
        <p:txBody>
          <a:bodyPr/>
          <a:lstStyle/>
          <a:p>
            <a:fld id="{3A7CBCB4-1EFE-4E3B-9C8A-BCC4F06648F3}" type="datetimeFigureOut">
              <a:rPr lang="en-NL" smtClean="0"/>
              <a:t>4/12/26</a:t>
            </a:fld>
            <a:endParaRPr lang="en-NL"/>
          </a:p>
        </p:txBody>
      </p:sp>
      <p:sp>
        <p:nvSpPr>
          <p:cNvPr id="5" name="Footer Placeholder 4">
            <a:extLst>
              <a:ext uri="{FF2B5EF4-FFF2-40B4-BE49-F238E27FC236}">
                <a16:creationId xmlns:a16="http://schemas.microsoft.com/office/drawing/2014/main" id="{0B3B0157-26F8-2329-17B6-5AC3C5C4A30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674E13EF-FE0B-5417-875C-AB7DC777FEAD}"/>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1110640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6C9933-15A1-3AA5-291A-DB28446138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2F5B1711-F16A-3EC8-A11F-6BC4D3FAD9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700FAD66-6A57-4C3F-2E66-BA393876838C}"/>
              </a:ext>
            </a:extLst>
          </p:cNvPr>
          <p:cNvSpPr>
            <a:spLocks noGrp="1"/>
          </p:cNvSpPr>
          <p:nvPr>
            <p:ph type="dt" sz="half" idx="10"/>
          </p:nvPr>
        </p:nvSpPr>
        <p:spPr/>
        <p:txBody>
          <a:bodyPr/>
          <a:lstStyle/>
          <a:p>
            <a:fld id="{3A7CBCB4-1EFE-4E3B-9C8A-BCC4F06648F3}" type="datetimeFigureOut">
              <a:rPr lang="en-NL" smtClean="0"/>
              <a:t>4/12/26</a:t>
            </a:fld>
            <a:endParaRPr lang="en-NL"/>
          </a:p>
        </p:txBody>
      </p:sp>
      <p:sp>
        <p:nvSpPr>
          <p:cNvPr id="5" name="Footer Placeholder 4">
            <a:extLst>
              <a:ext uri="{FF2B5EF4-FFF2-40B4-BE49-F238E27FC236}">
                <a16:creationId xmlns:a16="http://schemas.microsoft.com/office/drawing/2014/main" id="{6DB48BDB-FD44-CECE-749B-27D75C34095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3CAAFD5-EF11-A27E-75E3-FEA4EA05D2DB}"/>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507869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9C3377-B71D-78CE-558E-D0DABD0EE2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54635D7D-5602-B85D-E8A0-134A1070F2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71C6CB69-D146-73A4-EAFA-EA9EF2D68B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7CBCB4-1EFE-4E3B-9C8A-BCC4F06648F3}" type="datetimeFigureOut">
              <a:rPr lang="en-NL" smtClean="0"/>
              <a:t>4/12/26</a:t>
            </a:fld>
            <a:endParaRPr lang="en-NL"/>
          </a:p>
        </p:txBody>
      </p:sp>
      <p:sp>
        <p:nvSpPr>
          <p:cNvPr id="5" name="Footer Placeholder 4">
            <a:extLst>
              <a:ext uri="{FF2B5EF4-FFF2-40B4-BE49-F238E27FC236}">
                <a16:creationId xmlns:a16="http://schemas.microsoft.com/office/drawing/2014/main" id="{7E7AAAE3-7AA3-10C7-1B3B-5C558D00D0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9F09C6D9-8205-4BC5-6C03-C283B1E989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6345A7-8EB6-4FDF-A52B-7AB511DDD562}" type="slidenum">
              <a:rPr lang="en-NL" smtClean="0"/>
              <a:t>‹nr.›</a:t>
            </a:fld>
            <a:endParaRPr lang="en-NL"/>
          </a:p>
        </p:txBody>
      </p:sp>
    </p:spTree>
    <p:extLst>
      <p:ext uri="{BB962C8B-B14F-4D97-AF65-F5344CB8AC3E}">
        <p14:creationId xmlns:p14="http://schemas.microsoft.com/office/powerpoint/2010/main" val="4044365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learn.sparkfun.com/tutorials/pulse-width-modulation/al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F8705-CC52-EDA9-8709-8CEDE5E45DEF}"/>
              </a:ext>
            </a:extLst>
          </p:cNvPr>
          <p:cNvSpPr>
            <a:spLocks noGrp="1"/>
          </p:cNvSpPr>
          <p:nvPr>
            <p:ph type="ctrTitle"/>
          </p:nvPr>
        </p:nvSpPr>
        <p:spPr/>
        <p:txBody>
          <a:bodyPr>
            <a:normAutofit/>
          </a:bodyPr>
          <a:lstStyle/>
          <a:p>
            <a:pPr algn="l"/>
            <a:r>
              <a:rPr lang="en-US" dirty="0"/>
              <a:t>	</a:t>
            </a:r>
            <a:endParaRPr lang="en-NL" dirty="0"/>
          </a:p>
        </p:txBody>
      </p:sp>
      <p:sp>
        <p:nvSpPr>
          <p:cNvPr id="3" name="Subtitle 2">
            <a:extLst>
              <a:ext uri="{FF2B5EF4-FFF2-40B4-BE49-F238E27FC236}">
                <a16:creationId xmlns:a16="http://schemas.microsoft.com/office/drawing/2014/main" id="{4C725AE0-B86C-082B-7562-44B709DAB14C}"/>
              </a:ext>
            </a:extLst>
          </p:cNvPr>
          <p:cNvSpPr>
            <a:spLocks noGrp="1"/>
          </p:cNvSpPr>
          <p:nvPr>
            <p:ph type="subTitle" idx="1"/>
          </p:nvPr>
        </p:nvSpPr>
        <p:spPr/>
        <p:txBody>
          <a:bodyPr/>
          <a:lstStyle/>
          <a:p>
            <a:r>
              <a:rPr lang="en-US" dirty="0"/>
              <a:t>TI-S2 2526</a:t>
            </a:r>
            <a:endParaRPr lang="en-NL" dirty="0"/>
          </a:p>
        </p:txBody>
      </p:sp>
      <p:sp>
        <p:nvSpPr>
          <p:cNvPr id="9" name="Tekstvak 8">
            <a:extLst>
              <a:ext uri="{FF2B5EF4-FFF2-40B4-BE49-F238E27FC236}">
                <a16:creationId xmlns:a16="http://schemas.microsoft.com/office/drawing/2014/main" id="{6804C375-4FAC-A429-5882-B174397D2102}"/>
              </a:ext>
            </a:extLst>
          </p:cNvPr>
          <p:cNvSpPr txBox="1"/>
          <p:nvPr/>
        </p:nvSpPr>
        <p:spPr>
          <a:xfrm>
            <a:off x="534907" y="6043300"/>
            <a:ext cx="4397742" cy="369332"/>
          </a:xfrm>
          <a:prstGeom prst="rect">
            <a:avLst/>
          </a:prstGeom>
          <a:noFill/>
        </p:spPr>
        <p:txBody>
          <a:bodyPr wrap="none" rtlCol="0">
            <a:spAutoFit/>
          </a:bodyPr>
          <a:lstStyle/>
          <a:p>
            <a:r>
              <a:rPr lang="nl-NL" dirty="0"/>
              <a:t>Image: Source: </a:t>
            </a:r>
            <a:r>
              <a:rPr lang="nl-NL" dirty="0" err="1"/>
              <a:t>https</a:t>
            </a:r>
            <a:r>
              <a:rPr lang="nl-NL" dirty="0"/>
              <a:t>://</a:t>
            </a:r>
            <a:r>
              <a:rPr lang="nl-NL" dirty="0" err="1"/>
              <a:t>www.picotech.com</a:t>
            </a:r>
            <a:endParaRPr lang="nl-NL" dirty="0"/>
          </a:p>
        </p:txBody>
      </p:sp>
      <p:sp>
        <p:nvSpPr>
          <p:cNvPr id="10" name="Tekstvak 9">
            <a:extLst>
              <a:ext uri="{FF2B5EF4-FFF2-40B4-BE49-F238E27FC236}">
                <a16:creationId xmlns:a16="http://schemas.microsoft.com/office/drawing/2014/main" id="{083FE318-22E5-33AE-DCBB-2A02E17BA2A2}"/>
              </a:ext>
            </a:extLst>
          </p:cNvPr>
          <p:cNvSpPr txBox="1"/>
          <p:nvPr/>
        </p:nvSpPr>
        <p:spPr>
          <a:xfrm>
            <a:off x="3354519" y="1917555"/>
            <a:ext cx="6172908" cy="1323439"/>
          </a:xfrm>
          <a:prstGeom prst="rect">
            <a:avLst/>
          </a:prstGeom>
          <a:noFill/>
        </p:spPr>
        <p:txBody>
          <a:bodyPr wrap="none" rtlCol="0">
            <a:spAutoFit/>
          </a:bodyPr>
          <a:lstStyle/>
          <a:p>
            <a:r>
              <a:rPr lang="nl-NL" sz="4000" dirty="0"/>
              <a:t>Signaalonderzoek</a:t>
            </a:r>
            <a:br>
              <a:rPr lang="nl-NL" sz="4000" dirty="0"/>
            </a:br>
            <a:r>
              <a:rPr lang="nl-NL" sz="4000" dirty="0" err="1"/>
              <a:t>Arduino</a:t>
            </a:r>
            <a:r>
              <a:rPr lang="nl-NL" sz="4000" dirty="0"/>
              <a:t> </a:t>
            </a:r>
            <a:r>
              <a:rPr lang="nl-NL" sz="4000" dirty="0" err="1"/>
              <a:t>Uno</a:t>
            </a:r>
            <a:r>
              <a:rPr lang="nl-NL" sz="4000" dirty="0"/>
              <a:t> en </a:t>
            </a:r>
            <a:r>
              <a:rPr lang="nl-NL" sz="4000" dirty="0" err="1"/>
              <a:t>PicoScope</a:t>
            </a:r>
            <a:r>
              <a:rPr lang="nl-NL" sz="4000" dirty="0"/>
              <a:t> </a:t>
            </a:r>
          </a:p>
        </p:txBody>
      </p:sp>
      <p:pic>
        <p:nvPicPr>
          <p:cNvPr id="5" name="Afbeelding 4">
            <a:extLst>
              <a:ext uri="{FF2B5EF4-FFF2-40B4-BE49-F238E27FC236}">
                <a16:creationId xmlns:a16="http://schemas.microsoft.com/office/drawing/2014/main" id="{5DA13EF3-E9C9-99B2-FAED-BCA809F10FC0}"/>
              </a:ext>
            </a:extLst>
          </p:cNvPr>
          <p:cNvPicPr>
            <a:picLocks noChangeAspect="1"/>
          </p:cNvPicPr>
          <p:nvPr/>
        </p:nvPicPr>
        <p:blipFill>
          <a:blip r:embed="rId2"/>
          <a:stretch>
            <a:fillRect/>
          </a:stretch>
        </p:blipFill>
        <p:spPr>
          <a:xfrm>
            <a:off x="534907" y="3429000"/>
            <a:ext cx="3512437" cy="2634328"/>
          </a:xfrm>
          <a:prstGeom prst="rect">
            <a:avLst/>
          </a:prstGeom>
        </p:spPr>
      </p:pic>
    </p:spTree>
    <p:extLst>
      <p:ext uri="{BB962C8B-B14F-4D97-AF65-F5344CB8AC3E}">
        <p14:creationId xmlns:p14="http://schemas.microsoft.com/office/powerpoint/2010/main" val="2735233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8215A-7FB0-4EFA-3DE6-B0F79D1D4735}"/>
              </a:ext>
            </a:extLst>
          </p:cNvPr>
          <p:cNvSpPr>
            <a:spLocks noGrp="1"/>
          </p:cNvSpPr>
          <p:nvPr>
            <p:ph type="title"/>
          </p:nvPr>
        </p:nvSpPr>
        <p:spPr/>
        <p:txBody>
          <a:bodyPr/>
          <a:lstStyle/>
          <a:p>
            <a:r>
              <a:rPr lang="en-US" dirty="0"/>
              <a:t>Disclaimer</a:t>
            </a:r>
            <a:endParaRPr lang="en-NL" dirty="0"/>
          </a:p>
        </p:txBody>
      </p:sp>
      <p:sp>
        <p:nvSpPr>
          <p:cNvPr id="3" name="Text Placeholder 2">
            <a:extLst>
              <a:ext uri="{FF2B5EF4-FFF2-40B4-BE49-F238E27FC236}">
                <a16:creationId xmlns:a16="http://schemas.microsoft.com/office/drawing/2014/main" id="{9BF1A795-79BF-60CD-2CA2-A13398C39E05}"/>
              </a:ext>
            </a:extLst>
          </p:cNvPr>
          <p:cNvSpPr>
            <a:spLocks noGrp="1"/>
          </p:cNvSpPr>
          <p:nvPr>
            <p:ph type="body" idx="1"/>
          </p:nvPr>
        </p:nvSpPr>
        <p:spPr/>
        <p:txBody>
          <a:bodyPr/>
          <a:lstStyle/>
          <a:p>
            <a:r>
              <a:rPr lang="en-US" dirty="0"/>
              <a:t>Alle code in </a:t>
            </a:r>
            <a:r>
              <a:rPr lang="en-US" dirty="0" err="1"/>
              <a:t>deze</a:t>
            </a:r>
            <a:r>
              <a:rPr lang="en-US" dirty="0"/>
              <a:t> slides is wat we ‘slideware’ </a:t>
            </a:r>
            <a:r>
              <a:rPr lang="en-US" dirty="0" err="1"/>
              <a:t>noemen</a:t>
            </a:r>
            <a:r>
              <a:rPr lang="en-US" dirty="0"/>
              <a:t> – </a:t>
            </a:r>
            <a:r>
              <a:rPr lang="en-US" dirty="0" err="1"/>
              <a:t>handig</a:t>
            </a:r>
            <a:r>
              <a:rPr lang="en-US" dirty="0"/>
              <a:t> om </a:t>
            </a:r>
            <a:r>
              <a:rPr lang="en-US" dirty="0" err="1"/>
              <a:t>concepten</a:t>
            </a:r>
            <a:r>
              <a:rPr lang="en-US" dirty="0"/>
              <a:t> </a:t>
            </a:r>
            <a:r>
              <a:rPr lang="en-US" dirty="0" err="1"/>
              <a:t>uit</a:t>
            </a:r>
            <a:r>
              <a:rPr lang="en-US" dirty="0"/>
              <a:t> </a:t>
            </a:r>
            <a:r>
              <a:rPr lang="en-US" dirty="0" err="1"/>
              <a:t>te</a:t>
            </a:r>
            <a:r>
              <a:rPr lang="en-US" dirty="0"/>
              <a:t> </a:t>
            </a:r>
            <a:r>
              <a:rPr lang="en-US" dirty="0" err="1"/>
              <a:t>leggen</a:t>
            </a:r>
            <a:r>
              <a:rPr lang="en-US" dirty="0"/>
              <a:t>, maar </a:t>
            </a:r>
            <a:r>
              <a:rPr lang="en-US" dirty="0" err="1"/>
              <a:t>niet</a:t>
            </a:r>
            <a:r>
              <a:rPr lang="en-US" dirty="0"/>
              <a:t> </a:t>
            </a:r>
            <a:r>
              <a:rPr lang="en-US" dirty="0" err="1"/>
              <a:t>altijd</a:t>
            </a:r>
            <a:r>
              <a:rPr lang="en-US" dirty="0"/>
              <a:t> </a:t>
            </a:r>
            <a:r>
              <a:rPr lang="en-US" dirty="0" err="1"/>
              <a:t>praktisch</a:t>
            </a:r>
            <a:r>
              <a:rPr lang="en-US" dirty="0"/>
              <a:t> in het </a:t>
            </a:r>
            <a:r>
              <a:rPr lang="en-US" dirty="0" err="1"/>
              <a:t>echte</a:t>
            </a:r>
            <a:r>
              <a:rPr lang="en-US" dirty="0"/>
              <a:t> </a:t>
            </a:r>
            <a:r>
              <a:rPr lang="en-US" dirty="0" err="1"/>
              <a:t>leven</a:t>
            </a:r>
            <a:r>
              <a:rPr lang="en-US" dirty="0"/>
              <a:t>. Op GitHub </a:t>
            </a:r>
            <a:r>
              <a:rPr lang="en-US" dirty="0" err="1"/>
              <a:t>vinden</a:t>
            </a:r>
            <a:r>
              <a:rPr lang="en-US" dirty="0"/>
              <a:t> </a:t>
            </a:r>
            <a:r>
              <a:rPr lang="en-US" dirty="0" err="1"/>
              <a:t>jullie</a:t>
            </a:r>
            <a:r>
              <a:rPr lang="en-US" dirty="0"/>
              <a:t> </a:t>
            </a:r>
            <a:r>
              <a:rPr lang="en-US" dirty="0" err="1"/>
              <a:t>relevantere</a:t>
            </a:r>
            <a:r>
              <a:rPr lang="en-US" dirty="0"/>
              <a:t> code </a:t>
            </a:r>
            <a:r>
              <a:rPr lang="en-US" dirty="0" err="1"/>
              <a:t>voorbeelden</a:t>
            </a:r>
            <a:r>
              <a:rPr lang="en-US" dirty="0"/>
              <a:t>, maar die </a:t>
            </a:r>
            <a:r>
              <a:rPr lang="en-US" dirty="0" err="1"/>
              <a:t>passen</a:t>
            </a:r>
            <a:r>
              <a:rPr lang="en-US" dirty="0"/>
              <a:t> (</a:t>
            </a:r>
            <a:r>
              <a:rPr lang="en-US" dirty="0" err="1"/>
              <a:t>vaak</a:t>
            </a:r>
            <a:r>
              <a:rPr lang="en-US" dirty="0"/>
              <a:t>) </a:t>
            </a:r>
            <a:r>
              <a:rPr lang="en-US" dirty="0" err="1"/>
              <a:t>niet</a:t>
            </a:r>
            <a:r>
              <a:rPr lang="en-US" dirty="0"/>
              <a:t> op slides.</a:t>
            </a:r>
            <a:endParaRPr lang="en-NL" dirty="0"/>
          </a:p>
        </p:txBody>
      </p:sp>
    </p:spTree>
    <p:extLst>
      <p:ext uri="{BB962C8B-B14F-4D97-AF65-F5344CB8AC3E}">
        <p14:creationId xmlns:p14="http://schemas.microsoft.com/office/powerpoint/2010/main" val="3314731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DF2E6-0DFE-CECE-1DE5-ADD5A832C2D7}"/>
              </a:ext>
            </a:extLst>
          </p:cNvPr>
          <p:cNvSpPr>
            <a:spLocks noGrp="1"/>
          </p:cNvSpPr>
          <p:nvPr>
            <p:ph type="title"/>
          </p:nvPr>
        </p:nvSpPr>
        <p:spPr/>
        <p:txBody>
          <a:bodyPr/>
          <a:lstStyle/>
          <a:p>
            <a:r>
              <a:rPr lang="en-US" dirty="0"/>
              <a:t>Planning</a:t>
            </a:r>
            <a:endParaRPr lang="en-NL" dirty="0"/>
          </a:p>
        </p:txBody>
      </p:sp>
      <p:sp>
        <p:nvSpPr>
          <p:cNvPr id="3" name="Content Placeholder 2">
            <a:extLst>
              <a:ext uri="{FF2B5EF4-FFF2-40B4-BE49-F238E27FC236}">
                <a16:creationId xmlns:a16="http://schemas.microsoft.com/office/drawing/2014/main" id="{98693B14-E801-8B4A-6E20-50F836DB6207}"/>
              </a:ext>
            </a:extLst>
          </p:cNvPr>
          <p:cNvSpPr>
            <a:spLocks noGrp="1"/>
          </p:cNvSpPr>
          <p:nvPr>
            <p:ph idx="1"/>
          </p:nvPr>
        </p:nvSpPr>
        <p:spPr/>
        <p:txBody>
          <a:bodyPr/>
          <a:lstStyle/>
          <a:p>
            <a:r>
              <a:rPr lang="en-US" dirty="0"/>
              <a:t>Korte </a:t>
            </a:r>
            <a:r>
              <a:rPr lang="en-US" dirty="0" err="1"/>
              <a:t>toelichting</a:t>
            </a:r>
            <a:r>
              <a:rPr lang="en-US" dirty="0"/>
              <a:t> over </a:t>
            </a:r>
            <a:r>
              <a:rPr lang="en-US" dirty="0" err="1"/>
              <a:t>Oscilloscoop</a:t>
            </a:r>
            <a:endParaRPr lang="en-US" dirty="0"/>
          </a:p>
          <a:p>
            <a:r>
              <a:rPr lang="en-US" dirty="0"/>
              <a:t>Aan de slag!</a:t>
            </a:r>
          </a:p>
          <a:p>
            <a:endParaRPr lang="en-US" dirty="0"/>
          </a:p>
        </p:txBody>
      </p:sp>
    </p:spTree>
    <p:extLst>
      <p:ext uri="{BB962C8B-B14F-4D97-AF65-F5344CB8AC3E}">
        <p14:creationId xmlns:p14="http://schemas.microsoft.com/office/powerpoint/2010/main" val="3464623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35AC6-37D7-F6F1-0BB7-5738EC11461F}"/>
              </a:ext>
            </a:extLst>
          </p:cNvPr>
          <p:cNvSpPr>
            <a:spLocks noGrp="1"/>
          </p:cNvSpPr>
          <p:nvPr>
            <p:ph type="title"/>
          </p:nvPr>
        </p:nvSpPr>
        <p:spPr/>
        <p:txBody>
          <a:bodyPr/>
          <a:lstStyle/>
          <a:p>
            <a:r>
              <a:rPr lang="nl-NL" dirty="0"/>
              <a:t>Meten is weten!</a:t>
            </a:r>
            <a:endParaRPr lang="en-NL" dirty="0"/>
          </a:p>
        </p:txBody>
      </p:sp>
      <p:sp>
        <p:nvSpPr>
          <p:cNvPr id="3" name="Content Placeholder 2">
            <a:extLst>
              <a:ext uri="{FF2B5EF4-FFF2-40B4-BE49-F238E27FC236}">
                <a16:creationId xmlns:a16="http://schemas.microsoft.com/office/drawing/2014/main" id="{123B5F5B-6FED-1F49-76A2-90C21CB229FB}"/>
              </a:ext>
            </a:extLst>
          </p:cNvPr>
          <p:cNvSpPr>
            <a:spLocks noGrp="1"/>
          </p:cNvSpPr>
          <p:nvPr>
            <p:ph idx="1"/>
          </p:nvPr>
        </p:nvSpPr>
        <p:spPr>
          <a:xfrm>
            <a:off x="838200" y="1825625"/>
            <a:ext cx="9984698" cy="4351338"/>
          </a:xfrm>
        </p:spPr>
        <p:txBody>
          <a:bodyPr>
            <a:normAutofit/>
          </a:bodyPr>
          <a:lstStyle/>
          <a:p>
            <a:pPr marL="0" indent="0">
              <a:buNone/>
            </a:pPr>
            <a:r>
              <a:rPr lang="nl-NL" dirty="0"/>
              <a:t>In de praktijk:</a:t>
            </a:r>
          </a:p>
          <a:p>
            <a:endParaRPr lang="nl-NL" dirty="0"/>
          </a:p>
          <a:p>
            <a:r>
              <a:rPr lang="nl-NL" dirty="0"/>
              <a:t>Staat er wel het juiste signaal op? Wat is de frequentie van het kloksignaal dat je gebruikt voor je microcontroller? Je stuurt data serieel naar je modem, maar het lijkt alsof deze niets ontvangt.</a:t>
            </a:r>
          </a:p>
        </p:txBody>
      </p:sp>
      <p:pic>
        <p:nvPicPr>
          <p:cNvPr id="4" name="Afbeelding 3">
            <a:extLst>
              <a:ext uri="{FF2B5EF4-FFF2-40B4-BE49-F238E27FC236}">
                <a16:creationId xmlns:a16="http://schemas.microsoft.com/office/drawing/2014/main" id="{B38ACABB-A7F2-240E-443F-AAC8F91A4FE5}"/>
              </a:ext>
            </a:extLst>
          </p:cNvPr>
          <p:cNvPicPr>
            <a:picLocks noChangeAspect="1"/>
          </p:cNvPicPr>
          <p:nvPr/>
        </p:nvPicPr>
        <p:blipFill>
          <a:blip r:embed="rId3"/>
          <a:stretch>
            <a:fillRect/>
          </a:stretch>
        </p:blipFill>
        <p:spPr>
          <a:xfrm>
            <a:off x="5711252" y="4270854"/>
            <a:ext cx="4879297" cy="2587146"/>
          </a:xfrm>
          <a:prstGeom prst="rect">
            <a:avLst/>
          </a:prstGeom>
        </p:spPr>
      </p:pic>
    </p:spTree>
    <p:extLst>
      <p:ext uri="{BB962C8B-B14F-4D97-AF65-F5344CB8AC3E}">
        <p14:creationId xmlns:p14="http://schemas.microsoft.com/office/powerpoint/2010/main" val="600601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E4285-9E74-A236-8DDA-513CB654D0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B05D05-EF81-FEEF-4D20-8556CD7A902E}"/>
              </a:ext>
            </a:extLst>
          </p:cNvPr>
          <p:cNvSpPr>
            <a:spLocks noGrp="1"/>
          </p:cNvSpPr>
          <p:nvPr>
            <p:ph type="title"/>
          </p:nvPr>
        </p:nvSpPr>
        <p:spPr/>
        <p:txBody>
          <a:bodyPr/>
          <a:lstStyle/>
          <a:p>
            <a:r>
              <a:rPr lang="en-US" dirty="0" err="1"/>
              <a:t>Begrippen</a:t>
            </a:r>
            <a:endParaRPr lang="en-NL" dirty="0"/>
          </a:p>
        </p:txBody>
      </p:sp>
      <p:pic>
        <p:nvPicPr>
          <p:cNvPr id="3" name="Afbeelding 2">
            <a:extLst>
              <a:ext uri="{FF2B5EF4-FFF2-40B4-BE49-F238E27FC236}">
                <a16:creationId xmlns:a16="http://schemas.microsoft.com/office/drawing/2014/main" id="{E13EB403-D4D3-1B0B-7EA8-DA9F3714C8F3}"/>
              </a:ext>
            </a:extLst>
          </p:cNvPr>
          <p:cNvPicPr>
            <a:picLocks noChangeAspect="1"/>
          </p:cNvPicPr>
          <p:nvPr/>
        </p:nvPicPr>
        <p:blipFill>
          <a:blip r:embed="rId3"/>
          <a:stretch>
            <a:fillRect/>
          </a:stretch>
        </p:blipFill>
        <p:spPr>
          <a:xfrm>
            <a:off x="3581400" y="1528997"/>
            <a:ext cx="7772400" cy="4788285"/>
          </a:xfrm>
          <a:prstGeom prst="rect">
            <a:avLst/>
          </a:prstGeom>
        </p:spPr>
      </p:pic>
    </p:spTree>
    <p:extLst>
      <p:ext uri="{BB962C8B-B14F-4D97-AF65-F5344CB8AC3E}">
        <p14:creationId xmlns:p14="http://schemas.microsoft.com/office/powerpoint/2010/main" val="2383492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E5A98-6E8E-F8F4-3445-5E096FEAB6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D9CD5-47C7-2725-C3A3-7732D7611E8B}"/>
              </a:ext>
            </a:extLst>
          </p:cNvPr>
          <p:cNvSpPr>
            <a:spLocks noGrp="1"/>
          </p:cNvSpPr>
          <p:nvPr>
            <p:ph type="title"/>
          </p:nvPr>
        </p:nvSpPr>
        <p:spPr/>
        <p:txBody>
          <a:bodyPr/>
          <a:lstStyle/>
          <a:p>
            <a:r>
              <a:rPr lang="en-US" dirty="0"/>
              <a:t>Meer </a:t>
            </a:r>
            <a:r>
              <a:rPr lang="en-US" dirty="0" err="1"/>
              <a:t>begrippen</a:t>
            </a:r>
            <a:endParaRPr lang="en-NL" dirty="0"/>
          </a:p>
        </p:txBody>
      </p:sp>
      <p:sp>
        <p:nvSpPr>
          <p:cNvPr id="6" name="Tijdelijke aanduiding voor inhoud 5">
            <a:extLst>
              <a:ext uri="{FF2B5EF4-FFF2-40B4-BE49-F238E27FC236}">
                <a16:creationId xmlns:a16="http://schemas.microsoft.com/office/drawing/2014/main" id="{C0FC305C-7111-C66A-8708-71A2EA0AEA9B}"/>
              </a:ext>
            </a:extLst>
          </p:cNvPr>
          <p:cNvSpPr>
            <a:spLocks noGrp="1"/>
          </p:cNvSpPr>
          <p:nvPr>
            <p:ph idx="1"/>
          </p:nvPr>
        </p:nvSpPr>
        <p:spPr/>
        <p:txBody>
          <a:bodyPr>
            <a:normAutofit fontScale="92500"/>
          </a:bodyPr>
          <a:lstStyle/>
          <a:p>
            <a:r>
              <a:rPr lang="nl-NL" b="1" dirty="0" err="1"/>
              <a:t>Vmax</a:t>
            </a:r>
            <a:r>
              <a:rPr lang="nl-NL" dirty="0"/>
              <a:t> De hoogste spanning die in de golf voorkomt. In </a:t>
            </a:r>
            <a:r>
              <a:rPr lang="nl-NL" dirty="0" err="1"/>
              <a:t>PicoScope</a:t>
            </a:r>
            <a:r>
              <a:rPr lang="nl-NL" dirty="0"/>
              <a:t> komt dit overeen met de meting Maximum </a:t>
            </a:r>
            <a:endParaRPr lang="nl-NL" b="1" dirty="0"/>
          </a:p>
          <a:p>
            <a:r>
              <a:rPr lang="nl-NL" b="1" dirty="0" err="1"/>
              <a:t>Vmin</a:t>
            </a:r>
            <a:r>
              <a:rPr lang="nl-NL" dirty="0"/>
              <a:t> De laagste spanning die in de golf voorkomt. In </a:t>
            </a:r>
            <a:r>
              <a:rPr lang="nl-NL" dirty="0" err="1"/>
              <a:t>PicoScope</a:t>
            </a:r>
            <a:r>
              <a:rPr lang="nl-NL" dirty="0"/>
              <a:t> is dit de meting Minimum.</a:t>
            </a:r>
          </a:p>
          <a:p>
            <a:r>
              <a:rPr lang="nl-NL" b="1" dirty="0" err="1"/>
              <a:t>Vpp</a:t>
            </a:r>
            <a:r>
              <a:rPr lang="nl-NL" dirty="0"/>
              <a:t> De piek-tot-piekspanning: het verschil tussen hoogste en laagste spanning. </a:t>
            </a:r>
            <a:r>
              <a:rPr lang="en-US" dirty="0" err="1"/>
              <a:t>Vpp</a:t>
            </a:r>
            <a:r>
              <a:rPr lang="en-US" dirty="0"/>
              <a:t> = Vmax - </a:t>
            </a:r>
            <a:r>
              <a:rPr lang="en-US" dirty="0" err="1"/>
              <a:t>Vmin</a:t>
            </a:r>
            <a:r>
              <a:rPr lang="en-US" dirty="0"/>
              <a:t>. In </a:t>
            </a:r>
            <a:r>
              <a:rPr lang="en-US" dirty="0" err="1"/>
              <a:t>PicoScope</a:t>
            </a:r>
            <a:r>
              <a:rPr lang="en-US" dirty="0"/>
              <a:t> </a:t>
            </a:r>
            <a:r>
              <a:rPr lang="en-US" dirty="0" err="1"/>
              <a:t>heet</a:t>
            </a:r>
            <a:r>
              <a:rPr lang="en-US" dirty="0"/>
              <a:t> </a:t>
            </a:r>
            <a:r>
              <a:rPr lang="en-US" dirty="0" err="1"/>
              <a:t>dit</a:t>
            </a:r>
            <a:r>
              <a:rPr lang="en-US" dirty="0"/>
              <a:t> Peak to Peak.</a:t>
            </a:r>
            <a:endParaRPr lang="nl-NL" dirty="0"/>
          </a:p>
          <a:p>
            <a:r>
              <a:rPr lang="nl-NL" b="1" dirty="0"/>
              <a:t>f</a:t>
            </a:r>
            <a:r>
              <a:rPr lang="nl-NL" dirty="0"/>
              <a:t> De frequentie: het aantal volledige perioden per seconde, uitgedrukt in hertz (Hz).</a:t>
            </a:r>
          </a:p>
          <a:p>
            <a:r>
              <a:rPr lang="nl-NL" b="1" dirty="0"/>
              <a:t>T</a:t>
            </a:r>
            <a:r>
              <a:rPr lang="nl-NL" dirty="0"/>
              <a:t> De periodetijd: de tijd van één volledige cyclus. De relatie is: f = 1 / T en dus T = 1 / f.</a:t>
            </a:r>
          </a:p>
          <a:p>
            <a:endParaRPr lang="nl-NL" dirty="0"/>
          </a:p>
        </p:txBody>
      </p:sp>
    </p:spTree>
    <p:extLst>
      <p:ext uri="{BB962C8B-B14F-4D97-AF65-F5344CB8AC3E}">
        <p14:creationId xmlns:p14="http://schemas.microsoft.com/office/powerpoint/2010/main" val="4168891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A45DA-A012-1577-A262-D62C6570E1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6862B-2DD2-4AA6-4D9C-5A1E4569060F}"/>
              </a:ext>
            </a:extLst>
          </p:cNvPr>
          <p:cNvSpPr>
            <a:spLocks noGrp="1"/>
          </p:cNvSpPr>
          <p:nvPr>
            <p:ph type="title"/>
          </p:nvPr>
        </p:nvSpPr>
        <p:spPr/>
        <p:txBody>
          <a:bodyPr/>
          <a:lstStyle/>
          <a:p>
            <a:r>
              <a:rPr lang="en-US" dirty="0" err="1"/>
              <a:t>Nog</a:t>
            </a:r>
            <a:r>
              <a:rPr lang="en-US" dirty="0"/>
              <a:t> </a:t>
            </a:r>
            <a:r>
              <a:rPr lang="en-US" dirty="0" err="1"/>
              <a:t>meer</a:t>
            </a:r>
            <a:r>
              <a:rPr lang="en-US" dirty="0"/>
              <a:t> </a:t>
            </a:r>
            <a:r>
              <a:rPr lang="en-US" dirty="0" err="1"/>
              <a:t>begrippen</a:t>
            </a:r>
            <a:endParaRPr lang="en-NL" dirty="0"/>
          </a:p>
        </p:txBody>
      </p:sp>
      <p:sp>
        <p:nvSpPr>
          <p:cNvPr id="6" name="Tijdelijke aanduiding voor inhoud 5">
            <a:extLst>
              <a:ext uri="{FF2B5EF4-FFF2-40B4-BE49-F238E27FC236}">
                <a16:creationId xmlns:a16="http://schemas.microsoft.com/office/drawing/2014/main" id="{2098B64C-CD6A-0C01-A565-33D113850717}"/>
              </a:ext>
            </a:extLst>
          </p:cNvPr>
          <p:cNvSpPr>
            <a:spLocks noGrp="1"/>
          </p:cNvSpPr>
          <p:nvPr>
            <p:ph idx="1"/>
          </p:nvPr>
        </p:nvSpPr>
        <p:spPr/>
        <p:txBody>
          <a:bodyPr>
            <a:normAutofit fontScale="92500" lnSpcReduction="20000"/>
          </a:bodyPr>
          <a:lstStyle/>
          <a:p>
            <a:r>
              <a:rPr lang="nl-NL" b="1" dirty="0"/>
              <a:t>DC-koppeling </a:t>
            </a:r>
            <a:r>
              <a:rPr lang="nl-NL" dirty="0"/>
              <a:t>Als je de offset wilt zien, moet je DC-koppeling gebruiken. Dan zie je zowel de wisselcomponent als de gelijkspanningscomponent tegelijk. AC-koppeling haalt juist de DC-component weg, zodat alleen de wisselcomponent rond 0 V zichtbaar blijft.</a:t>
            </a:r>
          </a:p>
          <a:p>
            <a:r>
              <a:rPr lang="nl-NL" dirty="0"/>
              <a:t>Voorbeeld: Stel dat jouw “sinus” tussen 0,5 V en 4,5 V loopt.</a:t>
            </a:r>
          </a:p>
          <a:p>
            <a:pPr marL="0" indent="0">
              <a:buNone/>
            </a:pPr>
            <a:r>
              <a:rPr lang="nl-NL" dirty="0"/>
              <a:t>Dan is:</a:t>
            </a:r>
          </a:p>
          <a:p>
            <a:pPr marL="0" indent="0">
              <a:buNone/>
            </a:pPr>
            <a:r>
              <a:rPr lang="nl-NL" dirty="0"/>
              <a:t>	</a:t>
            </a:r>
            <a:r>
              <a:rPr lang="nl-NL" dirty="0" err="1"/>
              <a:t>Vmax</a:t>
            </a:r>
            <a:r>
              <a:rPr lang="nl-NL" dirty="0"/>
              <a:t> = 4,5 V</a:t>
            </a:r>
          </a:p>
          <a:p>
            <a:pPr marL="0" indent="0">
              <a:buNone/>
            </a:pPr>
            <a:r>
              <a:rPr lang="nl-NL" dirty="0"/>
              <a:t>	</a:t>
            </a:r>
            <a:r>
              <a:rPr lang="nl-NL" dirty="0" err="1"/>
              <a:t>Vmin</a:t>
            </a:r>
            <a:r>
              <a:rPr lang="nl-NL" dirty="0"/>
              <a:t> = 0,5 V</a:t>
            </a:r>
          </a:p>
          <a:p>
            <a:pPr marL="0" indent="0">
              <a:buNone/>
            </a:pPr>
            <a:r>
              <a:rPr lang="nl-NL" dirty="0"/>
              <a:t>	</a:t>
            </a:r>
            <a:r>
              <a:rPr lang="nl-NL" dirty="0" err="1"/>
              <a:t>Vpp</a:t>
            </a:r>
            <a:r>
              <a:rPr lang="nl-NL" dirty="0"/>
              <a:t> = 4,0 V</a:t>
            </a:r>
          </a:p>
          <a:p>
            <a:pPr marL="0" indent="0">
              <a:buNone/>
            </a:pPr>
            <a:r>
              <a:rPr lang="nl-NL" dirty="0"/>
              <a:t>	gemiddelde waarde = 2,5 V</a:t>
            </a:r>
          </a:p>
          <a:p>
            <a:pPr marL="0" indent="0">
              <a:buNone/>
            </a:pPr>
            <a:r>
              <a:rPr lang="nl-NL" dirty="0"/>
              <a:t>Dan is 2,5 V de gelijkspanningscomponent of DC-offset.</a:t>
            </a:r>
          </a:p>
          <a:p>
            <a:pPr marL="0" indent="0">
              <a:buNone/>
            </a:pPr>
            <a:endParaRPr lang="nl-NL" dirty="0"/>
          </a:p>
        </p:txBody>
      </p:sp>
    </p:spTree>
    <p:extLst>
      <p:ext uri="{BB962C8B-B14F-4D97-AF65-F5344CB8AC3E}">
        <p14:creationId xmlns:p14="http://schemas.microsoft.com/office/powerpoint/2010/main" val="682607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C386C-FBDF-E9D4-769A-C066979DF0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747141-E41A-C116-7BDA-22BA2C119898}"/>
              </a:ext>
            </a:extLst>
          </p:cNvPr>
          <p:cNvSpPr>
            <a:spLocks noGrp="1"/>
          </p:cNvSpPr>
          <p:nvPr>
            <p:ph type="title"/>
          </p:nvPr>
        </p:nvSpPr>
        <p:spPr/>
        <p:txBody>
          <a:bodyPr/>
          <a:lstStyle/>
          <a:p>
            <a:r>
              <a:rPr lang="en-US" dirty="0"/>
              <a:t>Tot slot PWM</a:t>
            </a:r>
            <a:endParaRPr lang="en-NL" dirty="0"/>
          </a:p>
        </p:txBody>
      </p:sp>
      <p:sp>
        <p:nvSpPr>
          <p:cNvPr id="6" name="Tijdelijke aanduiding voor inhoud 5">
            <a:extLst>
              <a:ext uri="{FF2B5EF4-FFF2-40B4-BE49-F238E27FC236}">
                <a16:creationId xmlns:a16="http://schemas.microsoft.com/office/drawing/2014/main" id="{41CC85AA-7EE0-6914-728D-90EF8DA8CE6D}"/>
              </a:ext>
            </a:extLst>
          </p:cNvPr>
          <p:cNvSpPr>
            <a:spLocks noGrp="1"/>
          </p:cNvSpPr>
          <p:nvPr>
            <p:ph idx="1"/>
          </p:nvPr>
        </p:nvSpPr>
        <p:spPr>
          <a:xfrm>
            <a:off x="838200" y="1690688"/>
            <a:ext cx="10515600" cy="4351338"/>
          </a:xfrm>
        </p:spPr>
        <p:txBody>
          <a:bodyPr>
            <a:normAutofit/>
          </a:bodyPr>
          <a:lstStyle/>
          <a:p>
            <a:r>
              <a:rPr lang="nl-NL" b="1" dirty="0"/>
              <a:t>PWM</a:t>
            </a:r>
            <a:r>
              <a:rPr lang="nl-NL" dirty="0"/>
              <a:t> PWM staat voor </a:t>
            </a:r>
            <a:r>
              <a:rPr lang="nl-NL" dirty="0" err="1"/>
              <a:t>Pulse</a:t>
            </a:r>
            <a:r>
              <a:rPr lang="nl-NL" dirty="0"/>
              <a:t> </a:t>
            </a:r>
            <a:r>
              <a:rPr lang="nl-NL" dirty="0" err="1"/>
              <a:t>Width</a:t>
            </a:r>
            <a:r>
              <a:rPr lang="nl-NL" dirty="0"/>
              <a:t> </a:t>
            </a:r>
            <a:r>
              <a:rPr lang="nl-NL" dirty="0" err="1"/>
              <a:t>Modulation</a:t>
            </a:r>
            <a:r>
              <a:rPr lang="nl-NL" dirty="0"/>
              <a:t>. Je stuurt dan meestal een blokgolf uit met vaste amplitude, terwijl je de tijd dat het signaal hoog is verandert. Zo kun je bijvoorbeeld het gemiddelde vermogen of de gemiddelde spanning regelen. De </a:t>
            </a:r>
            <a:r>
              <a:rPr lang="nl-NL" dirty="0" err="1"/>
              <a:t>duty</a:t>
            </a:r>
            <a:r>
              <a:rPr lang="nl-NL" dirty="0"/>
              <a:t> </a:t>
            </a:r>
            <a:r>
              <a:rPr lang="nl-NL" dirty="0" err="1"/>
              <a:t>cycle</a:t>
            </a:r>
            <a:r>
              <a:rPr lang="nl-NL" dirty="0"/>
              <a:t> geeft aan welk deel van één periode het signaal hoog is.</a:t>
            </a:r>
          </a:p>
          <a:p>
            <a:r>
              <a:rPr lang="nl-NL" b="1" dirty="0" err="1"/>
              <a:t>Duty</a:t>
            </a:r>
            <a:r>
              <a:rPr lang="nl-NL" b="1" dirty="0"/>
              <a:t> </a:t>
            </a:r>
            <a:r>
              <a:rPr lang="nl-NL" b="1" dirty="0" err="1"/>
              <a:t>cycle</a:t>
            </a:r>
            <a:r>
              <a:rPr lang="nl-NL" dirty="0"/>
              <a:t> De </a:t>
            </a:r>
            <a:r>
              <a:rPr lang="nl-NL" dirty="0" err="1"/>
              <a:t>duty</a:t>
            </a:r>
            <a:r>
              <a:rPr lang="nl-NL" dirty="0"/>
              <a:t> </a:t>
            </a:r>
            <a:r>
              <a:rPr lang="nl-NL" dirty="0" err="1"/>
              <a:t>cycle</a:t>
            </a:r>
            <a:r>
              <a:rPr lang="nl-NL" dirty="0"/>
              <a:t> is dus het percentage van de periode dat het signaal hoog is. Voorbeeld: bij een periode van 10 ms en een hoogtijd van 2,5 ms is de </a:t>
            </a:r>
            <a:r>
              <a:rPr lang="nl-NL" dirty="0" err="1"/>
              <a:t>duty</a:t>
            </a:r>
            <a:r>
              <a:rPr lang="nl-NL" dirty="0"/>
              <a:t> </a:t>
            </a:r>
            <a:r>
              <a:rPr lang="nl-NL" dirty="0" err="1"/>
              <a:t>cycle</a:t>
            </a:r>
            <a:r>
              <a:rPr lang="nl-NL" dirty="0"/>
              <a:t> 25%. </a:t>
            </a:r>
          </a:p>
        </p:txBody>
      </p:sp>
      <p:pic>
        <p:nvPicPr>
          <p:cNvPr id="3" name="Afbeelding 2">
            <a:extLst>
              <a:ext uri="{FF2B5EF4-FFF2-40B4-BE49-F238E27FC236}">
                <a16:creationId xmlns:a16="http://schemas.microsoft.com/office/drawing/2014/main" id="{D9861858-3DE2-F71A-080D-B081F795E984}"/>
              </a:ext>
            </a:extLst>
          </p:cNvPr>
          <p:cNvPicPr>
            <a:picLocks noChangeAspect="1"/>
          </p:cNvPicPr>
          <p:nvPr/>
        </p:nvPicPr>
        <p:blipFill>
          <a:blip r:embed="rId3"/>
          <a:stretch>
            <a:fillRect/>
          </a:stretch>
        </p:blipFill>
        <p:spPr>
          <a:xfrm>
            <a:off x="8859186" y="4678872"/>
            <a:ext cx="2908092" cy="1994462"/>
          </a:xfrm>
          <a:prstGeom prst="rect">
            <a:avLst/>
          </a:prstGeom>
        </p:spPr>
      </p:pic>
      <p:sp>
        <p:nvSpPr>
          <p:cNvPr id="4" name="Tekstvak 3">
            <a:extLst>
              <a:ext uri="{FF2B5EF4-FFF2-40B4-BE49-F238E27FC236}">
                <a16:creationId xmlns:a16="http://schemas.microsoft.com/office/drawing/2014/main" id="{39222155-9DAF-CC30-F8C1-6EF911C75B99}"/>
              </a:ext>
            </a:extLst>
          </p:cNvPr>
          <p:cNvSpPr txBox="1"/>
          <p:nvPr/>
        </p:nvSpPr>
        <p:spPr>
          <a:xfrm>
            <a:off x="584617" y="5672694"/>
            <a:ext cx="8030212" cy="646331"/>
          </a:xfrm>
          <a:prstGeom prst="rect">
            <a:avLst/>
          </a:prstGeom>
          <a:noFill/>
        </p:spPr>
        <p:txBody>
          <a:bodyPr wrap="none" rtlCol="0">
            <a:spAutoFit/>
          </a:bodyPr>
          <a:lstStyle/>
          <a:p>
            <a:r>
              <a:rPr lang="nl-NL" dirty="0"/>
              <a:t>Image source: </a:t>
            </a:r>
            <a:r>
              <a:rPr lang="nl-NL" dirty="0">
                <a:hlinkClick r:id="rId4"/>
              </a:rPr>
              <a:t>https://learn.sparkfun.com/tutorials/pulse-width-modulation/all</a:t>
            </a:r>
            <a:endParaRPr lang="nl-NL" dirty="0"/>
          </a:p>
          <a:p>
            <a:endParaRPr lang="nl-NL" dirty="0"/>
          </a:p>
        </p:txBody>
      </p:sp>
    </p:spTree>
    <p:extLst>
      <p:ext uri="{BB962C8B-B14F-4D97-AF65-F5344CB8AC3E}">
        <p14:creationId xmlns:p14="http://schemas.microsoft.com/office/powerpoint/2010/main" val="1264121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6E016-5D62-B09E-AF3C-85136D836E48}"/>
              </a:ext>
            </a:extLst>
          </p:cNvPr>
          <p:cNvSpPr>
            <a:spLocks noGrp="1"/>
          </p:cNvSpPr>
          <p:nvPr>
            <p:ph type="title"/>
          </p:nvPr>
        </p:nvSpPr>
        <p:spPr/>
        <p:txBody>
          <a:bodyPr/>
          <a:lstStyle/>
          <a:p>
            <a:r>
              <a:rPr lang="en-US" dirty="0"/>
              <a:t>En dan nu.. Aan de slag!</a:t>
            </a:r>
            <a:endParaRPr lang="en-NL" dirty="0"/>
          </a:p>
        </p:txBody>
      </p:sp>
      <p:sp>
        <p:nvSpPr>
          <p:cNvPr id="3" name="Content Placeholder 2">
            <a:extLst>
              <a:ext uri="{FF2B5EF4-FFF2-40B4-BE49-F238E27FC236}">
                <a16:creationId xmlns:a16="http://schemas.microsoft.com/office/drawing/2014/main" id="{BDAE17AB-7DC7-DDDA-C33E-2F6219D15F37}"/>
              </a:ext>
            </a:extLst>
          </p:cNvPr>
          <p:cNvSpPr>
            <a:spLocks noGrp="1"/>
          </p:cNvSpPr>
          <p:nvPr>
            <p:ph idx="1"/>
          </p:nvPr>
        </p:nvSpPr>
        <p:spPr/>
        <p:txBody>
          <a:bodyPr/>
          <a:lstStyle/>
          <a:p>
            <a:r>
              <a:rPr lang="nl-NL" noProof="0" dirty="0"/>
              <a:t>Maak teams 2-3 studenten</a:t>
            </a:r>
          </a:p>
          <a:p>
            <a:r>
              <a:rPr lang="nl-NL" noProof="0" dirty="0"/>
              <a:t>Ga meten en vul het meetrapport in.</a:t>
            </a:r>
          </a:p>
        </p:txBody>
      </p:sp>
    </p:spTree>
    <p:extLst>
      <p:ext uri="{BB962C8B-B14F-4D97-AF65-F5344CB8AC3E}">
        <p14:creationId xmlns:p14="http://schemas.microsoft.com/office/powerpoint/2010/main" val="20670299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1005</TotalTime>
  <Words>480</Words>
  <Application>Microsoft Macintosh PowerPoint</Application>
  <PresentationFormat>Breedbeeld</PresentationFormat>
  <Paragraphs>42</Paragraphs>
  <Slides>9</Slides>
  <Notes>5</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9</vt:i4>
      </vt:variant>
    </vt:vector>
  </HeadingPairs>
  <TitlesOfParts>
    <vt:vector size="13" baseType="lpstr">
      <vt:lpstr>Aptos</vt:lpstr>
      <vt:lpstr>Aptos Display</vt:lpstr>
      <vt:lpstr>Arial</vt:lpstr>
      <vt:lpstr>Office Theme</vt:lpstr>
      <vt:lpstr> </vt:lpstr>
      <vt:lpstr>Disclaimer</vt:lpstr>
      <vt:lpstr>Planning</vt:lpstr>
      <vt:lpstr>Meten is weten!</vt:lpstr>
      <vt:lpstr>Begrippen</vt:lpstr>
      <vt:lpstr>Meer begrippen</vt:lpstr>
      <vt:lpstr>Nog meer begrippen</vt:lpstr>
      <vt:lpstr>Tot slot PWM</vt:lpstr>
      <vt:lpstr>En dan nu.. Aan de slag!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 Goris</dc:creator>
  <cp:lastModifiedBy>Harm Snippe</cp:lastModifiedBy>
  <cp:revision>33</cp:revision>
  <dcterms:created xsi:type="dcterms:W3CDTF">2026-02-25T08:05:27Z</dcterms:created>
  <dcterms:modified xsi:type="dcterms:W3CDTF">2026-04-12T14:19:20Z</dcterms:modified>
</cp:coreProperties>
</file>